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30" roundtripDataSignature="AMtx7mjafQQc2dWHsOqJuGVGEp0cB2iT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281211-06F3-400F-AAA1-5E05917E3A3B}">
  <a:tblStyle styleId="{4B281211-06F3-400F-AAA1-5E05917E3A3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Gulimch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d6f5f51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g38d6f5f512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Gulimch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d6f5f5127_0_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8d6f5f5127_0_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8d6f5f5127_0_8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8d6f5f5127_0_8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g38d6f5f5127_0_8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8d6f5f5127_0_8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8d6f5f5127_0_8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571500" y="1600200"/>
            <a:ext cx="8001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표" type="tbl">
  <p:cSld name="TAB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 rot="5400000">
            <a:off x="4791075" y="2238375"/>
            <a:ext cx="55626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 rot="5400000">
            <a:off x="714375" y="314325"/>
            <a:ext cx="556260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 rot="5400000">
            <a:off x="2362200" y="-190500"/>
            <a:ext cx="44196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5" name="Google Shape;45;p27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28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31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1" type="body"/>
          </p:nvPr>
        </p:nvSpPr>
        <p:spPr>
          <a:xfrm>
            <a:off x="571500" y="1600200"/>
            <a:ext cx="39243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66" name="Google Shape;66;p32"/>
          <p:cNvSpPr txBox="1"/>
          <p:nvPr>
            <p:ph idx="2" type="body"/>
          </p:nvPr>
        </p:nvSpPr>
        <p:spPr>
          <a:xfrm>
            <a:off x="4648200" y="1600200"/>
            <a:ext cx="39243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67" name="Google Shape;67;p32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1" name="Google Shape;71;p33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idx="11" type="ftr"/>
          </p:nvPr>
        </p:nvSpPr>
        <p:spPr>
          <a:xfrm>
            <a:off x="5715000" y="6248400"/>
            <a:ext cx="289560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66FF"/>
                </a:solidFill>
                <a:latin typeface="Dotumche"/>
                <a:ea typeface="Dotumche"/>
                <a:cs typeface="Dotumche"/>
                <a:sym typeface="Dotumch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cxnSp>
        <p:nvCxnSpPr>
          <p:cNvPr id="11" name="Google Shape;11;p22"/>
          <p:cNvCxnSpPr/>
          <p:nvPr/>
        </p:nvCxnSpPr>
        <p:spPr>
          <a:xfrm>
            <a:off x="539750" y="6600825"/>
            <a:ext cx="8331200" cy="0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22"/>
          <p:cNvCxnSpPr/>
          <p:nvPr/>
        </p:nvCxnSpPr>
        <p:spPr>
          <a:xfrm>
            <a:off x="533400" y="685800"/>
            <a:ext cx="304800" cy="0"/>
          </a:xfrm>
          <a:prstGeom prst="straightConnector1">
            <a:avLst/>
          </a:prstGeom>
          <a:noFill/>
          <a:ln cap="flat" cmpd="sng" w="25400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" name="Google Shape;13;p22"/>
          <p:cNvCxnSpPr/>
          <p:nvPr/>
        </p:nvCxnSpPr>
        <p:spPr>
          <a:xfrm>
            <a:off x="685800" y="533400"/>
            <a:ext cx="0" cy="609600"/>
          </a:xfrm>
          <a:prstGeom prst="straightConnector1">
            <a:avLst/>
          </a:prstGeom>
          <a:noFill/>
          <a:ln cap="flat" cmpd="sng" w="22225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2"/>
          <p:cNvSpPr txBox="1"/>
          <p:nvPr/>
        </p:nvSpPr>
        <p:spPr>
          <a:xfrm>
            <a:off x="0" y="1106487"/>
            <a:ext cx="9132887" cy="38100"/>
          </a:xfrm>
          <a:prstGeom prst="rect">
            <a:avLst/>
          </a:prstGeom>
          <a:gradFill>
            <a:gsLst>
              <a:gs pos="0">
                <a:srgbClr val="00007F"/>
              </a:gs>
              <a:gs pos="50000">
                <a:srgbClr val="0000B6"/>
              </a:gs>
              <a:gs pos="100000">
                <a:srgbClr val="00007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5" name="Google Shape;15;p22"/>
          <p:cNvSpPr txBox="1"/>
          <p:nvPr/>
        </p:nvSpPr>
        <p:spPr>
          <a:xfrm>
            <a:off x="0" y="1182687"/>
            <a:ext cx="9132887" cy="74612"/>
          </a:xfrm>
          <a:prstGeom prst="rect">
            <a:avLst/>
          </a:prstGeom>
          <a:gradFill>
            <a:gsLst>
              <a:gs pos="0">
                <a:srgbClr val="770D05"/>
              </a:gs>
              <a:gs pos="50000">
                <a:srgbClr val="E71909"/>
              </a:gs>
              <a:gs pos="100000">
                <a:srgbClr val="770D05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" name="Google Shape;16;p22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571500" y="1600200"/>
            <a:ext cx="8001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33CC"/>
              </a:buClr>
              <a:buSzPts val="3000"/>
              <a:buFont typeface="Times New Roman"/>
              <a:buChar char="•"/>
              <a:defRPr b="1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CC00"/>
              </a:buClr>
              <a:buSzPts val="2800"/>
              <a:buFont typeface="Noto Sans Symbols"/>
              <a:buChar char="•"/>
              <a:defRPr b="1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Noto Sans Symbols"/>
              <a:buChar char="•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•"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•"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•"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•"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•"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•"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cxnSp>
        <p:nvCxnSpPr>
          <p:cNvPr id="18" name="Google Shape;18;p22"/>
          <p:cNvCxnSpPr/>
          <p:nvPr/>
        </p:nvCxnSpPr>
        <p:spPr>
          <a:xfrm>
            <a:off x="609600" y="457200"/>
            <a:ext cx="0" cy="666750"/>
          </a:xfrm>
          <a:prstGeom prst="straightConnector1">
            <a:avLst/>
          </a:prstGeom>
          <a:noFill/>
          <a:ln cap="flat" cmpd="sng" w="222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" name="Google Shape;19;p22"/>
          <p:cNvCxnSpPr/>
          <p:nvPr/>
        </p:nvCxnSpPr>
        <p:spPr>
          <a:xfrm>
            <a:off x="457200" y="609600"/>
            <a:ext cx="304800" cy="0"/>
          </a:xfrm>
          <a:prstGeom prst="straightConnector1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d6f5f5127_0_0"/>
          <p:cNvSpPr txBox="1"/>
          <p:nvPr/>
        </p:nvSpPr>
        <p:spPr>
          <a:xfrm>
            <a:off x="142850" y="1589599"/>
            <a:ext cx="8787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프로그래밍을 위한 최소한의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기초 CS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computer science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전자계산기일반/디지털개론</a:t>
            </a:r>
            <a:endParaRPr/>
          </a:p>
        </p:txBody>
      </p:sp>
      <p:sp>
        <p:nvSpPr>
          <p:cNvPr id="83" name="Google Shape;83;p1"/>
          <p:cNvSpPr txBox="1"/>
          <p:nvPr>
            <p:ph idx="1" type="body"/>
          </p:nvPr>
        </p:nvSpPr>
        <p:spPr>
          <a:xfrm>
            <a:off x="571500" y="1428750"/>
            <a:ext cx="8001000" cy="478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Times New Roman"/>
              <a:buChar char="•"/>
            </a:pPr>
            <a:r>
              <a:rPr b="1" i="0" lang="en-US" sz="4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목차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컴퓨터 시스템의 특징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컴퓨터 시스템의 구성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기억장치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소프트웨어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자료의 표현과 연산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크기를 나타내는 단위</a:t>
            </a:r>
            <a:endParaRPr/>
          </a:p>
        </p:txBody>
      </p:sp>
      <p:graphicFrame>
        <p:nvGraphicFramePr>
          <p:cNvPr id="89" name="Google Shape;89;p2"/>
          <p:cNvGraphicFramePr/>
          <p:nvPr/>
        </p:nvGraphicFramePr>
        <p:xfrm>
          <a:off x="571500" y="157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{4B281211-06F3-400F-AAA1-5E05917E3A3B}</a:tableStyleId>
              </a:tblPr>
              <a:tblGrid>
                <a:gridCol w="2357425"/>
                <a:gridCol w="642925"/>
                <a:gridCol w="1000125"/>
                <a:gridCol w="2143125"/>
                <a:gridCol w="642925"/>
                <a:gridCol w="1428750"/>
              </a:tblGrid>
              <a:tr h="90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( 1,000 )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Kilo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(킬로)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(0.001)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Milli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(밀리)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2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(1,000,000)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Mega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(메가)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(0.000001)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(마이크로)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2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(1,000,000,000)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Giga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(기가)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-9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(0.000000001)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Nano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(나노)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2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(1,000,000,000,000)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Tera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(테라)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(0.000000000001)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Pico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(피코)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(1,000,000,000,000,000)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Peta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(페타)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baseline="3000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(0.000000000000001)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216D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C21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Femto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(펨토)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전자계산기의 개요</a:t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545000" y="1600200"/>
            <a:ext cx="83115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전자계산기(EDPS)의 개요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◆ 단순한 수치계산뿐만 아니라 수치계산, 자동제어, 자료처리, </a:t>
            </a:r>
            <a:r>
              <a:rPr lang="en-US" sz="2400"/>
              <a:t>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사무 관리, 경영, 과학, 기술 분야등 많은 양의 자료를 처리하고</a:t>
            </a:r>
            <a:r>
              <a:rPr lang="en-US" sz="2400"/>
              <a:t>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신속한 정보를 제공하는 장치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EDPS : Electronic Data Processing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Font typeface="Times New Roman"/>
              <a:buNone/>
            </a:pPr>
            <a:r>
              <a:rPr b="1" i="0" lang="en-US" sz="30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(전자 자료 처리 조직체)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◆ 특징 : 신속성, 정확성, 대용량성, 호환성, 자동성</a:t>
            </a:r>
            <a:r>
              <a:rPr lang="en-US" sz="2400"/>
              <a:t>,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범용성.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24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창조성은  없으며  한번에  하나씩  명령을 처리함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컴퓨터시스템의 특징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컴퓨터시스템의 구성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컴퓨터시스템의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71500" y="1428750"/>
            <a:ext cx="8001000" cy="478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컴퓨터 시스템의 구성요소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3대 구성요소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t/>
            </a:r>
            <a:endParaRPr b="1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5대 구성요소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643062" y="2487539"/>
            <a:ext cx="1571700" cy="5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입력장치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429000" y="2487539"/>
            <a:ext cx="2495700" cy="5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중앙처리장치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072187" y="2487539"/>
            <a:ext cx="1571700" cy="5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출력장치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3214687" y="2736776"/>
            <a:ext cx="2142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4"/>
          <p:cNvCxnSpPr/>
          <p:nvPr/>
        </p:nvCxnSpPr>
        <p:spPr>
          <a:xfrm>
            <a:off x="5924550" y="2736776"/>
            <a:ext cx="1476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4"/>
          <p:cNvSpPr/>
          <p:nvPr/>
        </p:nvSpPr>
        <p:spPr>
          <a:xfrm>
            <a:off x="1643062" y="3870872"/>
            <a:ext cx="1571700" cy="5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입력장치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429000" y="3870872"/>
            <a:ext cx="2495700" cy="5001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중앙처리장치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072187" y="3870872"/>
            <a:ext cx="1571700" cy="5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출력장치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4"/>
          <p:cNvCxnSpPr/>
          <p:nvPr/>
        </p:nvCxnSpPr>
        <p:spPr>
          <a:xfrm>
            <a:off x="3214687" y="4120109"/>
            <a:ext cx="2142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4"/>
          <p:cNvCxnSpPr/>
          <p:nvPr/>
        </p:nvCxnSpPr>
        <p:spPr>
          <a:xfrm>
            <a:off x="5924550" y="4120109"/>
            <a:ext cx="1476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>
            <a:off x="3429000" y="4585247"/>
            <a:ext cx="2495700" cy="5001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주기억장치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429000" y="5156747"/>
            <a:ext cx="2495700" cy="5001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제어장치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429000" y="5728247"/>
            <a:ext cx="2495700" cy="5001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연산장치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 rot="5400000">
            <a:off x="4568925" y="4478871"/>
            <a:ext cx="2142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중앙처리장치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컴퓨터시스템의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71500" y="1428750"/>
            <a:ext cx="8286750" cy="500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중앙처리장치(CPU)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주기억 장치 : 현재 실행중인 프로그램과 데이터를</a:t>
            </a:r>
            <a:endParaRPr b="1" i="0" sz="24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               기억하는 장치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- 램(RAM), 롬(ROM)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연산 장치 : 산술 및 논리 연산을 수행하는 장치</a:t>
            </a:r>
            <a:endParaRPr b="1" i="0" sz="24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     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Gulimche"/>
                <a:ea typeface="Gulimche"/>
                <a:cs typeface="Gulimche"/>
                <a:sym typeface="Gulimche"/>
              </a:rPr>
              <a:t>누산기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,가산기, 보수기, 상</a:t>
            </a:r>
            <a:r>
              <a:rPr b="1" lang="en-US" sz="240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태 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레지스터,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           어드레스 레지스터, 데이터 레지스터,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           기억레지스터로 구성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제어장치 : 각 장치에 필요한 동작을 지시, 제어             </a:t>
            </a:r>
            <a:endParaRPr b="1" i="0" sz="24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작업을 담당하는 장치로, 프로그램 카운터</a:t>
            </a:r>
            <a:endParaRPr b="1" i="0" sz="24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         명령어 레지스터, MAR, MBR,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Gulimche"/>
                <a:ea typeface="Gulimche"/>
                <a:cs typeface="Gulimche"/>
                <a:sym typeface="Gulimche"/>
              </a:rPr>
              <a:t>인터럽트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, </a:t>
            </a:r>
            <a:endParaRPr b="1" i="0" sz="24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lang="en-US" sz="2400">
                <a:solidFill>
                  <a:srgbClr val="FF0000"/>
                </a:solidFill>
                <a:latin typeface="Gulimche"/>
                <a:ea typeface="Gulimche"/>
                <a:cs typeface="Gulimche"/>
                <a:sym typeface="Gulimche"/>
              </a:rPr>
              <a:t>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Gulimche"/>
                <a:ea typeface="Gulimche"/>
                <a:cs typeface="Gulimche"/>
                <a:sym typeface="Gulimche"/>
              </a:rPr>
              <a:t>         명령어해독기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, 부호기로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기억장치의 구성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기억장치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363350" y="1428750"/>
            <a:ext cx="8566200" cy="5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기억장치의 역할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</a:t>
            </a:r>
            <a:r>
              <a:rPr b="1" i="0" lang="en-US" sz="23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◆ </a:t>
            </a:r>
            <a:r>
              <a:rPr b="1" i="0" lang="en-US" sz="23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프로그램과 데이터를 보관하고 있다가 필요할 때 </a:t>
            </a:r>
            <a:r>
              <a:rPr b="1" i="0" lang="en-US" sz="23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꺼내어 사용할 수 있도록 한다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  </a:t>
            </a:r>
            <a:r>
              <a:rPr b="1" i="0" lang="en-US" sz="20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Write</a:t>
            </a:r>
            <a:r>
              <a:rPr b="1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: 주기억장치(main memory 또는 main storage)에</a:t>
            </a:r>
            <a:endParaRPr b="1" i="0" sz="20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                데이터를 기억시키는 것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    </a:t>
            </a:r>
            <a:r>
              <a:rPr b="1" i="0" lang="en-US" sz="20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Read</a:t>
            </a:r>
            <a:r>
              <a:rPr b="1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: 주기억장치에 기억된 내용을 꺼내는 것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◆주기억 장치</a:t>
            </a:r>
            <a:r>
              <a:rPr b="0" i="0" lang="en-US" sz="2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: 실행될 프로그램과 데이터를 기억한다. </a:t>
            </a:r>
            <a:br>
              <a:rPr b="0" i="0" lang="en-US" sz="2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◆보조기억장치(auxiliary storage)</a:t>
            </a:r>
            <a:r>
              <a:rPr b="0" i="0" lang="en-US" sz="2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: 오랫동안 보관해야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할</a:t>
            </a:r>
            <a:endParaRPr b="0" i="0" sz="22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   프로그램과 데이터를 저장하는 역할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</a:t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      프로그램은 반드시 주기억장치에 기억되어야만 실행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571500" y="1428750"/>
            <a:ext cx="8358187" cy="507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소프트웨어의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11950" y="3857625"/>
            <a:ext cx="1216800" cy="5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643825" y="2411375"/>
            <a:ext cx="1473300" cy="642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시스템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643825" y="5143500"/>
            <a:ext cx="1473300" cy="642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응용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714750" y="1928812"/>
            <a:ext cx="1285875" cy="64293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제어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714788" y="3787012"/>
            <a:ext cx="1285800" cy="642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715000" y="1428750"/>
            <a:ext cx="2643187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감시프로그램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715000" y="2000250"/>
            <a:ext cx="2643187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작업관리프로그램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715000" y="2571750"/>
            <a:ext cx="2643187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데이터관리프로그램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715000" y="3286125"/>
            <a:ext cx="2643187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언어번역프로그램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715000" y="3857625"/>
            <a:ext cx="2643187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서비스프로그램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715000" y="4429125"/>
            <a:ext cx="2643187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문제처리프로그램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714750" y="5143500"/>
            <a:ext cx="3567300" cy="1357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문서작성- 워드프로세서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그래픽 – 포토샵, 일러스트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자료관리 – 데이터베이스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수치계산 - 스프레드시트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 rot="5400000">
            <a:off x="285724" y="4107700"/>
            <a:ext cx="2714700" cy="15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" name="Google Shape;153;p7"/>
          <p:cNvCxnSpPr/>
          <p:nvPr/>
        </p:nvCxnSpPr>
        <p:spPr>
          <a:xfrm flipH="1" rot="10800000">
            <a:off x="1428750" y="4071937"/>
            <a:ext cx="214312" cy="36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" name="Google Shape;154;p7"/>
          <p:cNvCxnSpPr/>
          <p:nvPr/>
        </p:nvCxnSpPr>
        <p:spPr>
          <a:xfrm rot="5400000">
            <a:off x="2786937" y="3177387"/>
            <a:ext cx="1857300" cy="15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" name="Google Shape;155;p7"/>
          <p:cNvCxnSpPr>
            <a:stCxn id="141" idx="3"/>
          </p:cNvCxnSpPr>
          <p:nvPr/>
        </p:nvCxnSpPr>
        <p:spPr>
          <a:xfrm flipH="1" rot="10800000">
            <a:off x="3117125" y="2714525"/>
            <a:ext cx="580200" cy="1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" name="Google Shape;156;p7"/>
          <p:cNvCxnSpPr/>
          <p:nvPr/>
        </p:nvCxnSpPr>
        <p:spPr>
          <a:xfrm>
            <a:off x="3143250" y="5465762"/>
            <a:ext cx="571500" cy="35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" name="Google Shape;157;p7"/>
          <p:cNvCxnSpPr/>
          <p:nvPr/>
        </p:nvCxnSpPr>
        <p:spPr>
          <a:xfrm rot="5400000">
            <a:off x="5144337" y="2250325"/>
            <a:ext cx="1143000" cy="15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" name="Google Shape;158;p7"/>
          <p:cNvCxnSpPr/>
          <p:nvPr/>
        </p:nvCxnSpPr>
        <p:spPr>
          <a:xfrm flipH="1" rot="10800000">
            <a:off x="5500687" y="2251075"/>
            <a:ext cx="214312" cy="34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" name="Google Shape;159;p7"/>
          <p:cNvCxnSpPr/>
          <p:nvPr/>
        </p:nvCxnSpPr>
        <p:spPr>
          <a:xfrm rot="5400000">
            <a:off x="5144337" y="4107700"/>
            <a:ext cx="1143000" cy="15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7"/>
          <p:cNvCxnSpPr/>
          <p:nvPr/>
        </p:nvCxnSpPr>
        <p:spPr>
          <a:xfrm rot="10800000">
            <a:off x="5500687" y="4071937"/>
            <a:ext cx="214312" cy="36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7"/>
          <p:cNvCxnSpPr/>
          <p:nvPr/>
        </p:nvCxnSpPr>
        <p:spPr>
          <a:xfrm>
            <a:off x="5000625" y="2251075"/>
            <a:ext cx="500062" cy="34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7"/>
          <p:cNvCxnSpPr/>
          <p:nvPr/>
        </p:nvCxnSpPr>
        <p:spPr>
          <a:xfrm flipH="1" rot="10800000">
            <a:off x="5000625" y="4071937"/>
            <a:ext cx="500062" cy="36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시스템 소프트웨어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571500" y="1428750"/>
            <a:ext cx="8358187" cy="507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◆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운영체제(</a:t>
            </a:r>
            <a:r>
              <a:rPr b="1" i="0" lang="en-US" sz="24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OS : Operating System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</a:t>
            </a: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- 컴퓨터 시스템에 관련된 모든 자원을 관리, 제어하여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효율성을 최대로 높여주는 프로그램의 집합체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운영체제의 목적 </a:t>
            </a: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: 이용가능도 향상, 응답시간 단축, </a:t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          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신뢰도 향상,처리능력 향상</a:t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언어 프로그램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571500" y="1428750"/>
            <a:ext cx="8358187" cy="507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프로그래밍 언어 [응용소프트웨어를 만드는 코드]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177" name="Google Shape;177;p9"/>
          <p:cNvGraphicFramePr/>
          <p:nvPr/>
        </p:nvGraphicFramePr>
        <p:xfrm>
          <a:off x="785812" y="1928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{4B281211-06F3-400F-AAA1-5E05917E3A3B}</a:tableStyleId>
              </a:tblPr>
              <a:tblGrid>
                <a:gridCol w="847725"/>
                <a:gridCol w="1438275"/>
                <a:gridCol w="5643550"/>
              </a:tblGrid>
              <a:tr h="2714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기계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중심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언어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(저급언어)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기계어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0과 1의 조합으로만 이루어진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어셈블리어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기계어를 기호와 1대1로 대응시켜 기호화한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 row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처리중심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언어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(고급)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(언어) 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컴파일러 언어 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 hMerge="1"/>
              </a:tr>
              <a:tr h="2714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FORTRAN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과학 기술 계산용으로 개발된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COBOL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사무 처리용으로 개발된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7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ALGOL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블록구조 프로그램의 효시로 PASCAL 과 C언어의 모체임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PL/1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포트란,코볼,알골 등의 장점을 합한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유닉스 운영체제 하에서 사용되는 시스템 프로그램 작성에 적합한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JAVA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웹 및 응용프로그램 작성에 많이 사용되는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RPG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각종 보고서를 쉽게 작성하는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인터프리터 언어 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 hMerge="1"/>
              </a:tr>
              <a:tr h="2714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BASIC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배우기 쉽고 간편한 대화형 언어. 교육용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JAVASCRI</a:t>
                      </a:r>
                      <a:r>
                        <a:rPr b="1" lang="en-US" sz="1200" u="none" cap="none" strike="noStrike"/>
                        <a:t>PT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웹 페이지(html, CSS)의 동작 및 액션을 제어하는데 사용하는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n-US" sz="1200" u="none" cap="none" strike="noStrike"/>
                        <a:t>PYTHON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웹서버개발, 인공지능개발, 데이터분석, 크롤러 개발에 사용하는 언어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PROLOG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제5세대 언어로 각광받는 인공지능용 언어 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1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9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언어 번역 프로그램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571500" y="1428750"/>
            <a:ext cx="8358187" cy="507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언어번역 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188" name="Google Shape;188;p10"/>
          <p:cNvGraphicFramePr/>
          <p:nvPr/>
        </p:nvGraphicFramePr>
        <p:xfrm>
          <a:off x="785812" y="2071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{4B281211-06F3-400F-AAA1-5E05917E3A3B}</a:tableStyleId>
              </a:tblPr>
              <a:tblGrid>
                <a:gridCol w="1500175"/>
                <a:gridCol w="657225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어셈블러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어셈블리어를 기계어로 번역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컴파일러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고급언어를 기계어로 번역(C, C++, C#, Java)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인터프리터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베이직 언어와 같이 한 줄씩 기계어로 번역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목적프로그램을 생산하지 않고 번역즉시 실행됨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(BASIC, Python, Ruby, Perl, PHP, Javascript)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251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프로그램 실행 과정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571500" y="1428750"/>
            <a:ext cx="8358300" cy="5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프로그램 실행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42937" y="2643187"/>
            <a:ext cx="1928812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Gulim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원시프로그램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3678237" y="2643187"/>
            <a:ext cx="1930400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Gulim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목적프로그램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715125" y="2643187"/>
            <a:ext cx="1928812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Gulim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실행프로그램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2643187" y="2813050"/>
            <a:ext cx="1000125" cy="142875"/>
          </a:xfrm>
          <a:custGeom>
            <a:rect b="b" l="l" r="r" t="t"/>
            <a:pathLst>
              <a:path extrusionOk="0" h="142875" w="1000125">
                <a:moveTo>
                  <a:pt x="0" y="35719"/>
                </a:moveTo>
                <a:lnTo>
                  <a:pt x="4465" y="35719"/>
                </a:lnTo>
                <a:lnTo>
                  <a:pt x="4465" y="107156"/>
                </a:lnTo>
                <a:lnTo>
                  <a:pt x="0" y="107156"/>
                </a:lnTo>
                <a:close/>
                <a:moveTo>
                  <a:pt x="8930" y="35719"/>
                </a:moveTo>
                <a:lnTo>
                  <a:pt x="17859" y="35719"/>
                </a:lnTo>
                <a:lnTo>
                  <a:pt x="17859" y="107156"/>
                </a:lnTo>
                <a:lnTo>
                  <a:pt x="8930" y="107156"/>
                </a:lnTo>
                <a:close/>
                <a:moveTo>
                  <a:pt x="22324" y="35719"/>
                </a:moveTo>
                <a:lnTo>
                  <a:pt x="928688" y="35719"/>
                </a:lnTo>
                <a:lnTo>
                  <a:pt x="928688" y="0"/>
                </a:lnTo>
                <a:lnTo>
                  <a:pt x="1000125" y="71438"/>
                </a:lnTo>
                <a:lnTo>
                  <a:pt x="928688" y="142875"/>
                </a:lnTo>
                <a:lnTo>
                  <a:pt x="928688" y="107156"/>
                </a:lnTo>
                <a:lnTo>
                  <a:pt x="22324" y="10715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670550" y="2786062"/>
            <a:ext cx="1000125" cy="142875"/>
          </a:xfrm>
          <a:custGeom>
            <a:rect b="b" l="l" r="r" t="t"/>
            <a:pathLst>
              <a:path extrusionOk="0" h="142875" w="1000125">
                <a:moveTo>
                  <a:pt x="0" y="35719"/>
                </a:moveTo>
                <a:lnTo>
                  <a:pt x="4465" y="35719"/>
                </a:lnTo>
                <a:lnTo>
                  <a:pt x="4465" y="107156"/>
                </a:lnTo>
                <a:lnTo>
                  <a:pt x="0" y="107156"/>
                </a:lnTo>
                <a:close/>
                <a:moveTo>
                  <a:pt x="8930" y="35719"/>
                </a:moveTo>
                <a:lnTo>
                  <a:pt x="17859" y="35719"/>
                </a:lnTo>
                <a:lnTo>
                  <a:pt x="17859" y="107156"/>
                </a:lnTo>
                <a:lnTo>
                  <a:pt x="8930" y="107156"/>
                </a:lnTo>
                <a:close/>
                <a:moveTo>
                  <a:pt x="22324" y="35719"/>
                </a:moveTo>
                <a:lnTo>
                  <a:pt x="928688" y="35719"/>
                </a:lnTo>
                <a:lnTo>
                  <a:pt x="928688" y="0"/>
                </a:lnTo>
                <a:lnTo>
                  <a:pt x="1000125" y="71438"/>
                </a:lnTo>
                <a:lnTo>
                  <a:pt x="928688" y="142875"/>
                </a:lnTo>
                <a:lnTo>
                  <a:pt x="928688" y="107156"/>
                </a:lnTo>
                <a:lnTo>
                  <a:pt x="22324" y="10715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2473325" y="3679825"/>
            <a:ext cx="1357312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000"/>
              <a:buFont typeface="Gulim"/>
              <a:buNone/>
            </a:pPr>
            <a:r>
              <a:rPr b="1" i="0" lang="en-US" sz="2000" u="none" cap="none" strike="noStrike">
                <a:solidFill>
                  <a:srgbClr val="FF33CC"/>
                </a:solidFill>
                <a:latin typeface="Gulim"/>
                <a:ea typeface="Gulim"/>
                <a:cs typeface="Gulim"/>
                <a:sym typeface="Gulim"/>
              </a:rPr>
              <a:t>컴파일러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715000" y="3679825"/>
            <a:ext cx="928687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000"/>
              <a:buFont typeface="Gulim"/>
              <a:buNone/>
            </a:pPr>
            <a:r>
              <a:rPr b="1" i="0" lang="en-US" sz="2000" u="none" cap="none" strike="noStrike">
                <a:solidFill>
                  <a:srgbClr val="FF33CC"/>
                </a:solidFill>
                <a:latin typeface="Gulim"/>
                <a:ea typeface="Gulim"/>
                <a:cs typeface="Gulim"/>
                <a:sym typeface="Gulim"/>
              </a:rPr>
              <a:t>링커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2928937" y="3071812"/>
            <a:ext cx="357187" cy="428625"/>
          </a:xfrm>
          <a:prstGeom prst="upDownArrow">
            <a:avLst>
              <a:gd fmla="val 50000" name="adj1"/>
              <a:gd fmla="val 9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000750" y="3071812"/>
            <a:ext cx="357187" cy="428625"/>
          </a:xfrm>
          <a:prstGeom prst="upDownArrow">
            <a:avLst>
              <a:gd fmla="val 50000" name="adj1"/>
              <a:gd fmla="val 9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2643187" y="2357437"/>
            <a:ext cx="1071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compile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5715000" y="2357437"/>
            <a:ext cx="1071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Linking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857625" y="4706937"/>
            <a:ext cx="1571625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Gulim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디버깅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1"/>
          <p:cNvCxnSpPr>
            <a:stCxn id="198" idx="2"/>
            <a:endCxn id="207" idx="3"/>
          </p:cNvCxnSpPr>
          <p:nvPr/>
        </p:nvCxnSpPr>
        <p:spPr>
          <a:xfrm rot="5400000">
            <a:off x="5647481" y="2924999"/>
            <a:ext cx="1813800" cy="2250300"/>
          </a:xfrm>
          <a:prstGeom prst="bentConnector2">
            <a:avLst/>
          </a:prstGeom>
          <a:noFill/>
          <a:ln cap="flat" cmpd="sng" w="4127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09" name="Google Shape;209;p11"/>
          <p:cNvCxnSpPr/>
          <p:nvPr/>
        </p:nvCxnSpPr>
        <p:spPr>
          <a:xfrm rot="10800000">
            <a:off x="1606425" y="3143275"/>
            <a:ext cx="2251200" cy="1812900"/>
          </a:xfrm>
          <a:prstGeom prst="bentConnector2">
            <a:avLst/>
          </a:prstGeom>
          <a:noFill/>
          <a:ln cap="flat" cmpd="sng" w="349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10" name="Google Shape;210;p11"/>
          <p:cNvCxnSpPr/>
          <p:nvPr/>
        </p:nvCxnSpPr>
        <p:spPr>
          <a:xfrm rot="5400000">
            <a:off x="3862387" y="3924300"/>
            <a:ext cx="1563687" cy="1587"/>
          </a:xfrm>
          <a:prstGeom prst="straightConnector1">
            <a:avLst/>
          </a:prstGeom>
          <a:noFill/>
          <a:ln cap="flat" cmpd="sng" w="349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프로그램의 생성</a:t>
            </a:r>
            <a:endParaRPr/>
          </a:p>
        </p:txBody>
      </p:sp>
      <p:sp>
        <p:nvSpPr>
          <p:cNvPr id="216" name="Google Shape;216;p12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571500" y="1428750"/>
            <a:ext cx="8286750" cy="500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프로그램의 생성과정의 용어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원시 프로그램(</a:t>
            </a:r>
            <a:r>
              <a:rPr b="1" i="0" lang="en-US" sz="24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Source Program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-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사용자가 프로그래밍 언어를 이용해 작성한 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목적 프로그램(</a:t>
            </a:r>
            <a:r>
              <a:rPr b="1" i="0" lang="en-US" sz="24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Object Program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-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원시 프로그램을 언어 번역 프로그램을 이용해 기계어로 번역한프로그램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실행 프로그램(</a:t>
            </a:r>
            <a:r>
              <a:rPr b="1" i="0" lang="en-US" sz="24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Active Program</a:t>
            </a: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-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로드(Load)되어 실행 가능한 상태에 있는 프로그램 </a:t>
            </a:r>
            <a:endParaRPr b="1" i="0" sz="20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프로그램의 생성</a:t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571500" y="1428750"/>
            <a:ext cx="8286750" cy="500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프로그램의 생성과정의 용어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che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링커 프로그램(</a:t>
            </a:r>
            <a:r>
              <a:rPr b="1" i="0" lang="en-US" sz="20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Linker Program</a:t>
            </a:r>
            <a:r>
              <a:rPr b="1" i="0" lang="en-US" sz="20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-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실행 가능한 프로그램을 만들기 위해 목적프로그램을 서로 연결시키는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che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디버깅 (</a:t>
            </a:r>
            <a:r>
              <a:rPr b="1" i="0" lang="en-US" sz="20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Debugging</a:t>
            </a:r>
            <a:r>
              <a:rPr b="1" i="0" lang="en-US" sz="20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ch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-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사용자 프로그램이나 시스템 프로그램 등의 소프트웨어 및 하드웨어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에서 존재하는 오류를 검출하여 수정하는 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ulim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che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로더(</a:t>
            </a:r>
            <a:r>
              <a:rPr b="1" i="0" lang="en-US" sz="20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Loader</a:t>
            </a:r>
            <a:r>
              <a:rPr b="1" i="0" lang="en-US" sz="20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che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-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디스크나 테이프에 저장된 목적 프로그램을 읽어서 주기억 장치에 올린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다음 실행시키는 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ulim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che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할당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che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-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프로그램의 실행을 위해서 메모리 내에 기억공간을 확보하는 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프로그램 실행 과정</a:t>
            </a:r>
            <a:endParaRPr/>
          </a:p>
        </p:txBody>
      </p:sp>
      <p:sp>
        <p:nvSpPr>
          <p:cNvPr id="236" name="Google Shape;236;p14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시스템소프트웨어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571500" y="1428750"/>
            <a:ext cx="8358187" cy="507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Java 언어 프로그램 실행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C8C93"/>
              </a:buClr>
              <a:buSzPts val="2400"/>
              <a:buFont typeface="Gulim"/>
              <a:buNone/>
            </a:pPr>
            <a:r>
              <a:rPr b="1" i="0" lang="en-US" sz="2400" u="none" cap="none" strike="noStrike">
                <a:solidFill>
                  <a:srgbClr val="3C8C93"/>
                </a:solidFill>
                <a:latin typeface="Gulim"/>
                <a:ea typeface="Gulim"/>
                <a:cs typeface="Gulim"/>
                <a:sym typeface="Gulim"/>
              </a:rPr>
              <a:t>   </a:t>
            </a:r>
            <a:r>
              <a:rPr b="1" i="0" lang="en-US" sz="1800" u="none" cap="none" strike="noStrike">
                <a:solidFill>
                  <a:srgbClr val="3C8C93"/>
                </a:solidFill>
                <a:latin typeface="Gulim"/>
                <a:ea typeface="Gulim"/>
                <a:cs typeface="Gulim"/>
                <a:sym typeface="Gulim"/>
              </a:rPr>
              <a:t>플랫폼에 독립적인 특성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1476375" y="3986212"/>
            <a:ext cx="1439862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Source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(.java)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3851275" y="3986212"/>
            <a:ext cx="1296987" cy="5000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Class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(.class)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6227762" y="2616200"/>
            <a:ext cx="1439862" cy="931862"/>
          </a:xfrm>
          <a:prstGeom prst="roundRect">
            <a:avLst>
              <a:gd fmla="val 16667" name="adj"/>
            </a:avLst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2949575" y="4203700"/>
            <a:ext cx="857250" cy="142875"/>
          </a:xfrm>
          <a:custGeom>
            <a:rect b="b" l="l" r="r" t="t"/>
            <a:pathLst>
              <a:path extrusionOk="0" h="142875" w="857250">
                <a:moveTo>
                  <a:pt x="0" y="35719"/>
                </a:moveTo>
                <a:lnTo>
                  <a:pt x="4465" y="35719"/>
                </a:lnTo>
                <a:lnTo>
                  <a:pt x="4465" y="107156"/>
                </a:lnTo>
                <a:lnTo>
                  <a:pt x="0" y="107156"/>
                </a:lnTo>
                <a:close/>
                <a:moveTo>
                  <a:pt x="8930" y="35719"/>
                </a:moveTo>
                <a:lnTo>
                  <a:pt x="17859" y="35719"/>
                </a:lnTo>
                <a:lnTo>
                  <a:pt x="17859" y="107156"/>
                </a:lnTo>
                <a:lnTo>
                  <a:pt x="8930" y="107156"/>
                </a:lnTo>
                <a:close/>
                <a:moveTo>
                  <a:pt x="22324" y="35719"/>
                </a:moveTo>
                <a:lnTo>
                  <a:pt x="785813" y="35719"/>
                </a:lnTo>
                <a:lnTo>
                  <a:pt x="785813" y="0"/>
                </a:lnTo>
                <a:lnTo>
                  <a:pt x="857250" y="71438"/>
                </a:lnTo>
                <a:lnTo>
                  <a:pt x="785813" y="142875"/>
                </a:lnTo>
                <a:lnTo>
                  <a:pt x="785813" y="107156"/>
                </a:lnTo>
                <a:lnTo>
                  <a:pt x="22324" y="10715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42" name="Google Shape;242;p14"/>
          <p:cNvSpPr/>
          <p:nvPr/>
        </p:nvSpPr>
        <p:spPr>
          <a:xfrm rot="-1260000">
            <a:off x="5197475" y="3454400"/>
            <a:ext cx="1331912" cy="158750"/>
          </a:xfrm>
          <a:custGeom>
            <a:rect b="b" l="l" r="r" t="t"/>
            <a:pathLst>
              <a:path extrusionOk="0" h="158750" w="1331913">
                <a:moveTo>
                  <a:pt x="0" y="39688"/>
                </a:moveTo>
                <a:lnTo>
                  <a:pt x="4961" y="39688"/>
                </a:lnTo>
                <a:lnTo>
                  <a:pt x="4961" y="119063"/>
                </a:lnTo>
                <a:lnTo>
                  <a:pt x="0" y="119063"/>
                </a:lnTo>
                <a:close/>
                <a:moveTo>
                  <a:pt x="9922" y="39688"/>
                </a:moveTo>
                <a:lnTo>
                  <a:pt x="19844" y="39688"/>
                </a:lnTo>
                <a:lnTo>
                  <a:pt x="19844" y="119063"/>
                </a:lnTo>
                <a:lnTo>
                  <a:pt x="9922" y="119063"/>
                </a:lnTo>
                <a:close/>
                <a:moveTo>
                  <a:pt x="24805" y="39688"/>
                </a:moveTo>
                <a:lnTo>
                  <a:pt x="1252538" y="39688"/>
                </a:lnTo>
                <a:lnTo>
                  <a:pt x="1252538" y="0"/>
                </a:lnTo>
                <a:lnTo>
                  <a:pt x="1331913" y="79375"/>
                </a:lnTo>
                <a:lnTo>
                  <a:pt x="1252538" y="158750"/>
                </a:lnTo>
                <a:lnTo>
                  <a:pt x="1252538" y="119063"/>
                </a:lnTo>
                <a:lnTo>
                  <a:pt x="24805" y="119063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2774950" y="4922837"/>
            <a:ext cx="1223962" cy="5937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1400"/>
              <a:buFont typeface="Gulim"/>
              <a:buNone/>
            </a:pPr>
            <a:r>
              <a:rPr b="1" i="0" lang="en-US" sz="1400" u="none" cap="none" strike="noStrike">
                <a:solidFill>
                  <a:srgbClr val="FF33CC"/>
                </a:solidFill>
                <a:latin typeface="Gulim"/>
                <a:ea typeface="Gulim"/>
                <a:cs typeface="Gulim"/>
                <a:sym typeface="Gulim"/>
              </a:rPr>
              <a:t>컴파일러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1400"/>
              <a:buFont typeface="Gulim"/>
              <a:buNone/>
            </a:pPr>
            <a:r>
              <a:rPr b="1" i="0" lang="en-US" sz="1400" u="none" cap="none" strike="noStrike">
                <a:solidFill>
                  <a:srgbClr val="FF33CC"/>
                </a:solidFill>
                <a:latin typeface="Gulim"/>
                <a:ea typeface="Gulim"/>
                <a:cs typeface="Gulim"/>
                <a:sym typeface="Gulim"/>
              </a:rPr>
              <a:t>(JDK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6516687" y="2471737"/>
            <a:ext cx="935037" cy="28733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Windows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3203575" y="4419600"/>
            <a:ext cx="357187" cy="428625"/>
          </a:xfrm>
          <a:prstGeom prst="upDownArrow">
            <a:avLst>
              <a:gd fmla="val 50000" name="adj1"/>
              <a:gd fmla="val 9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2913062" y="3919537"/>
            <a:ext cx="93503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compile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1619250" y="3554412"/>
            <a:ext cx="1071562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소스코드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3779837" y="3576637"/>
            <a:ext cx="12969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바이트코드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6156325" y="2060575"/>
            <a:ext cx="15113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6516687" y="2974975"/>
            <a:ext cx="863600" cy="5048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가상 머신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(JVM)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227762" y="3767137"/>
            <a:ext cx="1439862" cy="931862"/>
          </a:xfrm>
          <a:prstGeom prst="roundRect">
            <a:avLst>
              <a:gd fmla="val 16667" name="adj"/>
            </a:avLst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516687" y="3624262"/>
            <a:ext cx="935037" cy="28733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516687" y="4127500"/>
            <a:ext cx="863600" cy="5048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가상 머신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(JVM)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227762" y="4919662"/>
            <a:ext cx="1439862" cy="931862"/>
          </a:xfrm>
          <a:prstGeom prst="roundRect">
            <a:avLst>
              <a:gd fmla="val 16667" name="adj"/>
            </a:avLst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516687" y="4775200"/>
            <a:ext cx="935037" cy="2889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Mac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516687" y="5280025"/>
            <a:ext cx="863600" cy="50323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가상 머신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(JVM)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5292725" y="4198937"/>
            <a:ext cx="1150937" cy="142875"/>
          </a:xfrm>
          <a:custGeom>
            <a:rect b="b" l="l" r="r" t="t"/>
            <a:pathLst>
              <a:path extrusionOk="0" h="142875" w="1150938">
                <a:moveTo>
                  <a:pt x="0" y="35719"/>
                </a:moveTo>
                <a:lnTo>
                  <a:pt x="4465" y="35719"/>
                </a:lnTo>
                <a:lnTo>
                  <a:pt x="4465" y="107156"/>
                </a:lnTo>
                <a:lnTo>
                  <a:pt x="0" y="107156"/>
                </a:lnTo>
                <a:close/>
                <a:moveTo>
                  <a:pt x="8930" y="35719"/>
                </a:moveTo>
                <a:lnTo>
                  <a:pt x="17859" y="35719"/>
                </a:lnTo>
                <a:lnTo>
                  <a:pt x="17859" y="107156"/>
                </a:lnTo>
                <a:lnTo>
                  <a:pt x="8930" y="107156"/>
                </a:lnTo>
                <a:close/>
                <a:moveTo>
                  <a:pt x="22324" y="35719"/>
                </a:moveTo>
                <a:lnTo>
                  <a:pt x="1079501" y="35719"/>
                </a:lnTo>
                <a:lnTo>
                  <a:pt x="1079501" y="0"/>
                </a:lnTo>
                <a:lnTo>
                  <a:pt x="1150938" y="71438"/>
                </a:lnTo>
                <a:lnTo>
                  <a:pt x="1079501" y="142875"/>
                </a:lnTo>
                <a:lnTo>
                  <a:pt x="1079501" y="107156"/>
                </a:lnTo>
                <a:lnTo>
                  <a:pt x="22324" y="10715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58" name="Google Shape;258;p14"/>
          <p:cNvSpPr/>
          <p:nvPr/>
        </p:nvSpPr>
        <p:spPr>
          <a:xfrm rot="1680000">
            <a:off x="5089525" y="4989512"/>
            <a:ext cx="1485900" cy="130175"/>
          </a:xfrm>
          <a:custGeom>
            <a:rect b="b" l="l" r="r" t="t"/>
            <a:pathLst>
              <a:path extrusionOk="0" h="130175" w="1485900">
                <a:moveTo>
                  <a:pt x="0" y="32544"/>
                </a:moveTo>
                <a:lnTo>
                  <a:pt x="4068" y="32544"/>
                </a:lnTo>
                <a:lnTo>
                  <a:pt x="4068" y="97631"/>
                </a:lnTo>
                <a:lnTo>
                  <a:pt x="0" y="97631"/>
                </a:lnTo>
                <a:close/>
                <a:moveTo>
                  <a:pt x="8136" y="32544"/>
                </a:moveTo>
                <a:lnTo>
                  <a:pt x="16272" y="32544"/>
                </a:lnTo>
                <a:lnTo>
                  <a:pt x="16272" y="97631"/>
                </a:lnTo>
                <a:lnTo>
                  <a:pt x="8136" y="97631"/>
                </a:lnTo>
                <a:close/>
                <a:moveTo>
                  <a:pt x="20340" y="32544"/>
                </a:moveTo>
                <a:lnTo>
                  <a:pt x="1420813" y="32544"/>
                </a:lnTo>
                <a:lnTo>
                  <a:pt x="1420813" y="0"/>
                </a:lnTo>
                <a:lnTo>
                  <a:pt x="1485900" y="65088"/>
                </a:lnTo>
                <a:lnTo>
                  <a:pt x="1420813" y="130175"/>
                </a:lnTo>
                <a:lnTo>
                  <a:pt x="1420813" y="97631"/>
                </a:lnTo>
                <a:lnTo>
                  <a:pt x="20340" y="9763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5156200" y="3916362"/>
            <a:ext cx="11525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interpret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d6f5f5127_0_90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프로그램 실행 과정</a:t>
            </a:r>
            <a:endParaRPr/>
          </a:p>
        </p:txBody>
      </p:sp>
      <p:sp>
        <p:nvSpPr>
          <p:cNvPr id="265" name="Google Shape;265;g38d6f5f5127_0_90"/>
          <p:cNvSpPr txBox="1"/>
          <p:nvPr/>
        </p:nvSpPr>
        <p:spPr>
          <a:xfrm>
            <a:off x="7215187" y="785812"/>
            <a:ext cx="18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시스템소프트웨어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8d6f5f5127_0_90"/>
          <p:cNvSpPr txBox="1"/>
          <p:nvPr/>
        </p:nvSpPr>
        <p:spPr>
          <a:xfrm>
            <a:off x="571500" y="1428750"/>
            <a:ext cx="83583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Python 언어 프로그램 실행 과정 (인터프리터 언어)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C8C93"/>
              </a:buClr>
              <a:buSzPts val="2400"/>
              <a:buFont typeface="Gulim"/>
              <a:buNone/>
            </a:pPr>
            <a:r>
              <a:rPr b="1" i="0" lang="en-US" sz="2400" u="none" cap="none" strike="noStrike">
                <a:solidFill>
                  <a:srgbClr val="3C8C93"/>
                </a:solidFill>
                <a:latin typeface="Gulim"/>
                <a:ea typeface="Gulim"/>
                <a:cs typeface="Gulim"/>
                <a:sym typeface="Gulim"/>
              </a:rPr>
              <a:t>   </a:t>
            </a:r>
            <a:r>
              <a:rPr b="1" i="0" lang="en-US" sz="1800" u="none" cap="none" strike="noStrike">
                <a:solidFill>
                  <a:srgbClr val="3C8C93"/>
                </a:solidFill>
                <a:latin typeface="Gulim"/>
                <a:ea typeface="Gulim"/>
                <a:cs typeface="Gulim"/>
                <a:sym typeface="Gulim"/>
              </a:rPr>
              <a:t>실행할때 기계어로 한줄씩 번역하면서 실행하는 특성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67" name="Google Shape;267;g38d6f5f5127_0_90"/>
          <p:cNvSpPr/>
          <p:nvPr/>
        </p:nvSpPr>
        <p:spPr>
          <a:xfrm>
            <a:off x="1824583" y="3133498"/>
            <a:ext cx="1440000" cy="2241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Source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(.py)</a:t>
            </a:r>
            <a:endParaRPr b="1" i="0" sz="1600" u="none" cap="none" strike="noStrike">
              <a:solidFill>
                <a:srgbClr val="FF0000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a=10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print(a)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b= input()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g38d6f5f5127_0_90"/>
          <p:cNvSpPr/>
          <p:nvPr/>
        </p:nvSpPr>
        <p:spPr>
          <a:xfrm>
            <a:off x="6369928" y="3054466"/>
            <a:ext cx="1440000" cy="931800"/>
          </a:xfrm>
          <a:prstGeom prst="roundRect">
            <a:avLst>
              <a:gd fmla="val 16667" name="adj"/>
            </a:avLst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69" name="Google Shape;269;g38d6f5f5127_0_90"/>
          <p:cNvSpPr/>
          <p:nvPr/>
        </p:nvSpPr>
        <p:spPr>
          <a:xfrm rot="-1258544">
            <a:off x="5339731" y="3893263"/>
            <a:ext cx="1330155" cy="158541"/>
          </a:xfrm>
          <a:custGeom>
            <a:rect b="b" l="l" r="r" t="t"/>
            <a:pathLst>
              <a:path extrusionOk="0" h="158750" w="1331913">
                <a:moveTo>
                  <a:pt x="0" y="39688"/>
                </a:moveTo>
                <a:lnTo>
                  <a:pt x="4961" y="39688"/>
                </a:lnTo>
                <a:lnTo>
                  <a:pt x="4961" y="119063"/>
                </a:lnTo>
                <a:lnTo>
                  <a:pt x="0" y="119063"/>
                </a:lnTo>
                <a:close/>
                <a:moveTo>
                  <a:pt x="9922" y="39688"/>
                </a:moveTo>
                <a:lnTo>
                  <a:pt x="19844" y="39688"/>
                </a:lnTo>
                <a:lnTo>
                  <a:pt x="19844" y="119063"/>
                </a:lnTo>
                <a:lnTo>
                  <a:pt x="9922" y="119063"/>
                </a:lnTo>
                <a:close/>
                <a:moveTo>
                  <a:pt x="24805" y="39688"/>
                </a:moveTo>
                <a:lnTo>
                  <a:pt x="1252538" y="39688"/>
                </a:lnTo>
                <a:lnTo>
                  <a:pt x="1252538" y="0"/>
                </a:lnTo>
                <a:lnTo>
                  <a:pt x="1331913" y="79375"/>
                </a:lnTo>
                <a:lnTo>
                  <a:pt x="1252538" y="158750"/>
                </a:lnTo>
                <a:lnTo>
                  <a:pt x="1252538" y="119063"/>
                </a:lnTo>
                <a:lnTo>
                  <a:pt x="24805" y="119063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0" name="Google Shape;270;g38d6f5f5127_0_90"/>
          <p:cNvSpPr/>
          <p:nvPr/>
        </p:nvSpPr>
        <p:spPr>
          <a:xfrm>
            <a:off x="6658853" y="2910003"/>
            <a:ext cx="935100" cy="287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Windows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8d6f5f5127_0_90"/>
          <p:cNvSpPr txBox="1"/>
          <p:nvPr/>
        </p:nvSpPr>
        <p:spPr>
          <a:xfrm>
            <a:off x="1891763" y="2752048"/>
            <a:ext cx="10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소스코드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8d6f5f5127_0_90"/>
          <p:cNvSpPr txBox="1"/>
          <p:nvPr/>
        </p:nvSpPr>
        <p:spPr>
          <a:xfrm>
            <a:off x="4597286" y="2758764"/>
            <a:ext cx="151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8d6f5f5127_0_90"/>
          <p:cNvSpPr/>
          <p:nvPr/>
        </p:nvSpPr>
        <p:spPr>
          <a:xfrm>
            <a:off x="6658853" y="3413241"/>
            <a:ext cx="863700" cy="504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2진수</a:t>
            </a:r>
            <a:endParaRPr b="1" i="0" sz="1200" u="none" cap="none" strike="noStrike">
              <a:solidFill>
                <a:srgbClr val="FF0000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101010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8d6f5f5127_0_90"/>
          <p:cNvSpPr/>
          <p:nvPr/>
        </p:nvSpPr>
        <p:spPr>
          <a:xfrm>
            <a:off x="6369928" y="4205403"/>
            <a:ext cx="1440000" cy="931800"/>
          </a:xfrm>
          <a:prstGeom prst="roundRect">
            <a:avLst>
              <a:gd fmla="val 16667" name="adj"/>
            </a:avLst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5" name="Google Shape;275;g38d6f5f5127_0_90"/>
          <p:cNvSpPr/>
          <p:nvPr/>
        </p:nvSpPr>
        <p:spPr>
          <a:xfrm>
            <a:off x="6658853" y="4062528"/>
            <a:ext cx="935100" cy="287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8d6f5f5127_0_90"/>
          <p:cNvSpPr/>
          <p:nvPr/>
        </p:nvSpPr>
        <p:spPr>
          <a:xfrm>
            <a:off x="6658853" y="4565766"/>
            <a:ext cx="863700" cy="504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1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바이너리</a:t>
            </a:r>
            <a:endParaRPr b="1" i="0" sz="1100" u="none" cap="none" strike="noStrike">
              <a:solidFill>
                <a:srgbClr val="FF0000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1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110010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8d6f5f5127_0_90"/>
          <p:cNvSpPr/>
          <p:nvPr/>
        </p:nvSpPr>
        <p:spPr>
          <a:xfrm>
            <a:off x="6369928" y="5357928"/>
            <a:ext cx="1440000" cy="931800"/>
          </a:xfrm>
          <a:prstGeom prst="roundRect">
            <a:avLst>
              <a:gd fmla="val 16667" name="adj"/>
            </a:avLst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8" name="Google Shape;278;g38d6f5f5127_0_90"/>
          <p:cNvSpPr/>
          <p:nvPr/>
        </p:nvSpPr>
        <p:spPr>
          <a:xfrm>
            <a:off x="6658853" y="5213466"/>
            <a:ext cx="935100" cy="288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Mac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8d6f5f5127_0_90"/>
          <p:cNvSpPr/>
          <p:nvPr/>
        </p:nvSpPr>
        <p:spPr>
          <a:xfrm>
            <a:off x="6658853" y="5718291"/>
            <a:ext cx="863700" cy="503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기계어</a:t>
            </a:r>
            <a:endParaRPr b="1" i="0" sz="1200" u="none" cap="none" strike="noStrike">
              <a:solidFill>
                <a:srgbClr val="FF0000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Gulim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101010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8d6f5f5127_0_90"/>
          <p:cNvSpPr/>
          <p:nvPr/>
        </p:nvSpPr>
        <p:spPr>
          <a:xfrm flipH="1" rot="10800000">
            <a:off x="3906444" y="4365042"/>
            <a:ext cx="1150938" cy="67508"/>
          </a:xfrm>
          <a:custGeom>
            <a:rect b="b" l="l" r="r" t="t"/>
            <a:pathLst>
              <a:path extrusionOk="0" h="142875" w="1150938">
                <a:moveTo>
                  <a:pt x="0" y="35719"/>
                </a:moveTo>
                <a:lnTo>
                  <a:pt x="4465" y="35719"/>
                </a:lnTo>
                <a:lnTo>
                  <a:pt x="4465" y="107156"/>
                </a:lnTo>
                <a:lnTo>
                  <a:pt x="0" y="107156"/>
                </a:lnTo>
                <a:close/>
                <a:moveTo>
                  <a:pt x="8930" y="35719"/>
                </a:moveTo>
                <a:lnTo>
                  <a:pt x="17859" y="35719"/>
                </a:lnTo>
                <a:lnTo>
                  <a:pt x="17859" y="107156"/>
                </a:lnTo>
                <a:lnTo>
                  <a:pt x="8930" y="107156"/>
                </a:lnTo>
                <a:close/>
                <a:moveTo>
                  <a:pt x="22324" y="35719"/>
                </a:moveTo>
                <a:lnTo>
                  <a:pt x="1079501" y="35719"/>
                </a:lnTo>
                <a:lnTo>
                  <a:pt x="1079501" y="0"/>
                </a:lnTo>
                <a:lnTo>
                  <a:pt x="1150938" y="71438"/>
                </a:lnTo>
                <a:lnTo>
                  <a:pt x="1079501" y="142875"/>
                </a:lnTo>
                <a:lnTo>
                  <a:pt x="1079501" y="107156"/>
                </a:lnTo>
                <a:lnTo>
                  <a:pt x="22324" y="10715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1" name="Google Shape;281;g38d6f5f5127_0_90"/>
          <p:cNvSpPr/>
          <p:nvPr/>
        </p:nvSpPr>
        <p:spPr>
          <a:xfrm rot="1682327">
            <a:off x="5231433" y="5428151"/>
            <a:ext cx="1485682" cy="130156"/>
          </a:xfrm>
          <a:custGeom>
            <a:rect b="b" l="l" r="r" t="t"/>
            <a:pathLst>
              <a:path extrusionOk="0" h="130175" w="1485900">
                <a:moveTo>
                  <a:pt x="0" y="32544"/>
                </a:moveTo>
                <a:lnTo>
                  <a:pt x="4068" y="32544"/>
                </a:lnTo>
                <a:lnTo>
                  <a:pt x="4068" y="97631"/>
                </a:lnTo>
                <a:lnTo>
                  <a:pt x="0" y="97631"/>
                </a:lnTo>
                <a:close/>
                <a:moveTo>
                  <a:pt x="8136" y="32544"/>
                </a:moveTo>
                <a:lnTo>
                  <a:pt x="16272" y="32544"/>
                </a:lnTo>
                <a:lnTo>
                  <a:pt x="16272" y="97631"/>
                </a:lnTo>
                <a:lnTo>
                  <a:pt x="8136" y="97631"/>
                </a:lnTo>
                <a:close/>
                <a:moveTo>
                  <a:pt x="20340" y="32544"/>
                </a:moveTo>
                <a:lnTo>
                  <a:pt x="1420813" y="32544"/>
                </a:lnTo>
                <a:lnTo>
                  <a:pt x="1420813" y="0"/>
                </a:lnTo>
                <a:lnTo>
                  <a:pt x="1485900" y="65088"/>
                </a:lnTo>
                <a:lnTo>
                  <a:pt x="1420813" y="130175"/>
                </a:lnTo>
                <a:lnTo>
                  <a:pt x="1420813" y="97631"/>
                </a:lnTo>
                <a:lnTo>
                  <a:pt x="20340" y="9763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2" name="Google Shape;282;g38d6f5f5127_0_90"/>
          <p:cNvSpPr txBox="1"/>
          <p:nvPr/>
        </p:nvSpPr>
        <p:spPr>
          <a:xfrm>
            <a:off x="3905618" y="3797415"/>
            <a:ext cx="11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Gulim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interpret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8d6f5f5127_0_90"/>
          <p:cNvSpPr/>
          <p:nvPr/>
        </p:nvSpPr>
        <p:spPr>
          <a:xfrm flipH="1" rot="10800000">
            <a:off x="3922593" y="4593137"/>
            <a:ext cx="1150938" cy="67508"/>
          </a:xfrm>
          <a:custGeom>
            <a:rect b="b" l="l" r="r" t="t"/>
            <a:pathLst>
              <a:path extrusionOk="0" h="142875" w="1150938">
                <a:moveTo>
                  <a:pt x="0" y="35719"/>
                </a:moveTo>
                <a:lnTo>
                  <a:pt x="4465" y="35719"/>
                </a:lnTo>
                <a:lnTo>
                  <a:pt x="4465" y="107156"/>
                </a:lnTo>
                <a:lnTo>
                  <a:pt x="0" y="107156"/>
                </a:lnTo>
                <a:close/>
                <a:moveTo>
                  <a:pt x="8930" y="35719"/>
                </a:moveTo>
                <a:lnTo>
                  <a:pt x="17859" y="35719"/>
                </a:lnTo>
                <a:lnTo>
                  <a:pt x="17859" y="107156"/>
                </a:lnTo>
                <a:lnTo>
                  <a:pt x="8930" y="107156"/>
                </a:lnTo>
                <a:close/>
                <a:moveTo>
                  <a:pt x="22324" y="35719"/>
                </a:moveTo>
                <a:lnTo>
                  <a:pt x="1079501" y="35719"/>
                </a:lnTo>
                <a:lnTo>
                  <a:pt x="1079501" y="0"/>
                </a:lnTo>
                <a:lnTo>
                  <a:pt x="1150938" y="71438"/>
                </a:lnTo>
                <a:lnTo>
                  <a:pt x="1079501" y="142875"/>
                </a:lnTo>
                <a:lnTo>
                  <a:pt x="1079501" y="107156"/>
                </a:lnTo>
                <a:lnTo>
                  <a:pt x="22324" y="10715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4" name="Google Shape;284;g38d6f5f5127_0_90"/>
          <p:cNvSpPr/>
          <p:nvPr/>
        </p:nvSpPr>
        <p:spPr>
          <a:xfrm flipH="1" rot="10800000">
            <a:off x="3908463" y="4836371"/>
            <a:ext cx="1150938" cy="67508"/>
          </a:xfrm>
          <a:custGeom>
            <a:rect b="b" l="l" r="r" t="t"/>
            <a:pathLst>
              <a:path extrusionOk="0" h="142875" w="1150938">
                <a:moveTo>
                  <a:pt x="0" y="35719"/>
                </a:moveTo>
                <a:lnTo>
                  <a:pt x="4465" y="35719"/>
                </a:lnTo>
                <a:lnTo>
                  <a:pt x="4465" y="107156"/>
                </a:lnTo>
                <a:lnTo>
                  <a:pt x="0" y="107156"/>
                </a:lnTo>
                <a:close/>
                <a:moveTo>
                  <a:pt x="8930" y="35719"/>
                </a:moveTo>
                <a:lnTo>
                  <a:pt x="17859" y="35719"/>
                </a:lnTo>
                <a:lnTo>
                  <a:pt x="17859" y="107156"/>
                </a:lnTo>
                <a:lnTo>
                  <a:pt x="8930" y="107156"/>
                </a:lnTo>
                <a:close/>
                <a:moveTo>
                  <a:pt x="22324" y="35719"/>
                </a:moveTo>
                <a:lnTo>
                  <a:pt x="1079501" y="35719"/>
                </a:lnTo>
                <a:lnTo>
                  <a:pt x="1079501" y="0"/>
                </a:lnTo>
                <a:lnTo>
                  <a:pt x="1150938" y="71438"/>
                </a:lnTo>
                <a:lnTo>
                  <a:pt x="1079501" y="142875"/>
                </a:lnTo>
                <a:lnTo>
                  <a:pt x="1079501" y="107156"/>
                </a:lnTo>
                <a:lnTo>
                  <a:pt x="22324" y="10715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자료의 표현과 연산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603250" y="1600200"/>
            <a:ext cx="8001000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수의 체계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자료의 표현과 연산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2" name="Google Shape;292;p15"/>
          <p:cNvGraphicFramePr/>
          <p:nvPr/>
        </p:nvGraphicFramePr>
        <p:xfrm>
          <a:off x="785812" y="214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{4B281211-06F3-400F-AAA1-5E05917E3A3B}</a:tableStyleId>
              </a:tblPr>
              <a:tblGrid>
                <a:gridCol w="1928800"/>
                <a:gridCol w="1928800"/>
                <a:gridCol w="1928800"/>
                <a:gridCol w="1928800"/>
              </a:tblGrid>
              <a:tr h="2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10진수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2진수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8진수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16진수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postfiles11.naver.net/20100324_218/bara25_1269441958271W8iIO_jpg/2jinsu_bara25.jpg?type=w2" id="297" name="Google Shape;2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2428875"/>
            <a:ext cx="29527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postfiles4.naver.net/20100324_99/bara25_1269441958556Ih7UL_jpg/8jinsu_bara25.jpg?type=w2" id="298" name="Google Shape;2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1812" y="2571750"/>
            <a:ext cx="29527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postfiles4.naver.net/20100324_115/bara25_1269441958704mRYla_jpg/16jinsu_bara25.jpg?type=w2" id="299" name="Google Shape;29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75" y="2571750"/>
            <a:ext cx="295275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진법 변환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자료의 표현과 연산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603250" y="1600200"/>
            <a:ext cx="8001000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10진수 -&gt; 2진수/ 8진수/16진수 변환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2진수                          8진수                         16진수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24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(8)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              14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10100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진법 변환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자료의 표현과 연산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603250" y="1600200"/>
            <a:ext cx="8001000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2진수/ 8진수/16진수 -&gt; 10진수변환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2진수                                      10진수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10100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1*2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+ 0*2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+1*2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+ 0*2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+ 0*2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20 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t/>
            </a:r>
            <a:endParaRPr b="1" baseline="-2500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8진수                                      10진수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24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(8)                            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2*8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+ 4*8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20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16진수                                     10진수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14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(16)                                 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1*16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+ 4*16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20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2643187" y="3000375"/>
            <a:ext cx="500062" cy="285750"/>
          </a:xfrm>
          <a:prstGeom prst="notchedRightArrow">
            <a:avLst>
              <a:gd fmla="val 15429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2643187" y="4286250"/>
            <a:ext cx="1571625" cy="285750"/>
          </a:xfrm>
          <a:prstGeom prst="notchedRightArrow">
            <a:avLst>
              <a:gd fmla="val 19636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2643187" y="5500687"/>
            <a:ext cx="1571625" cy="287337"/>
          </a:xfrm>
          <a:prstGeom prst="notchedRightArrow">
            <a:avLst>
              <a:gd fmla="val 19621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진법 변환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자료의 표현과 연산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603250" y="1600200"/>
            <a:ext cx="8001000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2진수&lt;-&gt; 8진수&lt;-&gt;16진수  변환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Documents and Settings\교사PC\바탕 화면\진수변환.JPG" id="320" name="Google Shape;3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2" y="2357437"/>
            <a:ext cx="8237537" cy="292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 txBox="1"/>
          <p:nvPr>
            <p:ph type="title"/>
          </p:nvPr>
        </p:nvSpPr>
        <p:spPr>
          <a:xfrm>
            <a:off x="785812" y="457200"/>
            <a:ext cx="66436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컴퓨터의 자료(정보) 표현 단위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자료의 표현과 연산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357187" y="1428750"/>
            <a:ext cx="8572500" cy="321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정보의 최소 단위, 2진수 0 또는 1에 대응되는 한 단위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한 문자를 표현하기 위한 기본 단위(8bit), 자료의 최소 단위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CPU가 한번에 처리하는 정보의 단위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Field(Item)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하나의 단위로 취급되는 문자 및 단어들의 집합</a:t>
            </a:r>
            <a:endParaRPr b="1" i="0" sz="20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하나 이상의 항목들로 구성된 정보 표현의 기본 단위</a:t>
            </a:r>
            <a:endParaRPr b="1" i="0" sz="20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여러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레코드들의 모임 단위, 프로그램을 구성하는 기본단위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논리적으로 연관된 레코드나 파일의 모임</a:t>
            </a:r>
            <a:endParaRPr b="1" i="0" sz="20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pic>
        <p:nvPicPr>
          <p:cNvPr descr="C:\Users\alfo6\Downloads\다운로드.gif" id="328" name="Google Shape;3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625" y="4143375"/>
            <a:ext cx="51403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정보(2진수)의 크기단위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자료의 표현과 연산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5" name="Google Shape;335;p20"/>
          <p:cNvGraphicFramePr/>
          <p:nvPr/>
        </p:nvGraphicFramePr>
        <p:xfrm>
          <a:off x="571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{4B281211-06F3-400F-AAA1-5E05917E3A3B}</a:tableStyleId>
              </a:tblPr>
              <a:tblGrid>
                <a:gridCol w="1114575"/>
                <a:gridCol w="1910700"/>
                <a:gridCol w="700825"/>
                <a:gridCol w="3433500"/>
                <a:gridCol w="1055675"/>
              </a:tblGrid>
              <a:tr h="7143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단위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의미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용량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(K</a:t>
                      </a: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ilo Binary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Byte)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키비 바이트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2¹º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( 1024 ) Byte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1KB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(Me</a:t>
                      </a: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 Binary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Byte)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메비 바이트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2²º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( 1024*1024 ) Byte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1024KB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(Gi</a:t>
                      </a: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 Binary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Byte)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기비 바이트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2³º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( 1024*1024*1024 ) Byte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1024MB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(Te</a:t>
                      </a: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 Binary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Byte)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테비 바이트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2⁴º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( 1024*1024*1024*1024 ) Byte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1024GB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(Pe</a:t>
                      </a: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 Binary 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Byte)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페티 바이트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2⁵º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( 1024*1024*1024*1024*1024 ) Byte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1024TB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type="title"/>
          </p:nvPr>
        </p:nvSpPr>
        <p:spPr>
          <a:xfrm>
            <a:off x="1409700" y="457200"/>
            <a:ext cx="632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코드/ Code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571500" y="1236662"/>
            <a:ext cx="8286750" cy="543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 코드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6비트(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2개의 Zone bit와 4개의 digit bit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-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(64) 문자표현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2진화 10진 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EBCDIC 코드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8비트(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4개의 존 비트와 4개의 digit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-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(256)문자 표현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확장 2진화 10진 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ASCII 코드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7비트(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3개의 존 비트와 4개의 digit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(128) 문자표현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1bit(패리티비트)추가하면 8비트로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사용, 데이터통신용으로 이용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유니코드 </a:t>
            </a: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: 2바이트(</a:t>
            </a:r>
            <a:r>
              <a:rPr b="0" i="0" lang="en-US" sz="2400" u="none" cap="none" strike="noStrike">
                <a:solidFill>
                  <a:srgbClr val="0000FF"/>
                </a:solidFill>
                <a:latin typeface="Gulim"/>
                <a:ea typeface="Gulim"/>
                <a:cs typeface="Gulim"/>
                <a:sym typeface="Gulim"/>
              </a:rPr>
              <a:t>16비트</a:t>
            </a: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)- ASCII 코드 포함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-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2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16</a:t>
            </a:r>
            <a:r>
              <a:rPr b="0" i="0" lang="en-US" sz="2400" u="none" cap="none" strike="noStrik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(65,536) 문자표현</a:t>
            </a:r>
            <a:r>
              <a:rPr b="0" i="0" lang="en-US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, 전 세계 모든 문자표시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7215187" y="785812"/>
            <a:ext cx="18573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400"/>
              <a:buFont typeface="Gulim"/>
              <a:buNone/>
            </a:pPr>
            <a:r>
              <a:rPr b="0" i="0" lang="en-US" sz="1400" u="none" cap="none" strike="noStrike">
                <a:solidFill>
                  <a:srgbClr val="0066FF"/>
                </a:solidFill>
                <a:latin typeface="Gulim"/>
                <a:ea typeface="Gulim"/>
                <a:cs typeface="Gulim"/>
                <a:sym typeface="Gulim"/>
              </a:rPr>
              <a:t>자료의 표현과 연산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지도안1">
  <a:themeElements>
    <a:clrScheme name="지도안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2002-10-21T06:38:05Z</dcterms:created>
  <dc:creator>YOON.YN</dc:creator>
</cp:coreProperties>
</file>