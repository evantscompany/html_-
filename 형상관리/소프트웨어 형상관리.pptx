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5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hBtdKHP6ucdYL3nmyaWEOb8r84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D7E966-BFF7-415F-BAD3-2AC00D80C725}">
  <a:tblStyle styleId="{60D7E966-BFF7-415F-BAD3-2AC00D80C725}" styleName="Table_0">
    <a:wholeTbl>
      <a:tcTxStyle b="off" i="off">
        <a:font>
          <a:latin typeface="Tw Cen MT"/>
          <a:ea typeface="Tw Cen MT"/>
          <a:cs typeface="Tw Cen M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EF2F7"/>
          </a:solidFill>
        </a:fill>
      </a:tcStyle>
    </a:wholeTbl>
    <a:band1H>
      <a:tcTxStyle/>
      <a:tcStyle>
        <a:fill>
          <a:solidFill>
            <a:srgbClr val="DCE5EE"/>
          </a:solidFill>
        </a:fill>
      </a:tcStyle>
    </a:band1H>
    <a:band2H>
      <a:tcTxStyle/>
    </a:band2H>
    <a:band1V>
      <a:tcTxStyle/>
      <a:tcStyle>
        <a:fill>
          <a:solidFill>
            <a:srgbClr val="DCE5EE"/>
          </a:solidFill>
        </a:fill>
      </a:tcStyle>
    </a:band1V>
    <a:band2V>
      <a:tcTxStyle/>
    </a:band2V>
    <a:la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6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603b34ab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603b34ab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showMasterSp="0" type="title">
  <p:cSld name="TITLE">
    <p:bg>
      <p:bgPr>
        <a:solidFill>
          <a:schemeClr val="dk2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1"/>
          <p:cNvSpPr/>
          <p:nvPr/>
        </p:nvSpPr>
        <p:spPr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" name="Google Shape;16;p11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" name="Google Shape;18;p11"/>
          <p:cNvSpPr txBox="1"/>
          <p:nvPr>
            <p:ph type="ctrTitle"/>
          </p:nvPr>
        </p:nvSpPr>
        <p:spPr>
          <a:xfrm>
            <a:off x="2362200" y="4038600"/>
            <a:ext cx="6477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wentieth Century"/>
              <a:buNone/>
              <a:defRPr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subTitle"/>
          </p:nvPr>
        </p:nvSpPr>
        <p:spPr>
          <a:xfrm>
            <a:off x="2362200" y="6050037"/>
            <a:ext cx="670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SzPts val="1560"/>
              <a:buNone/>
              <a:defRPr sz="2600">
                <a:solidFill>
                  <a:srgbClr val="FFFFFF"/>
                </a:solidFill>
              </a:defRPr>
            </a:lvl1pPr>
            <a:lvl2pPr lvl="1" algn="ctr">
              <a:spcBef>
                <a:spcPts val="550"/>
              </a:spcBef>
              <a:spcAft>
                <a:spcPts val="0"/>
              </a:spcAft>
              <a:buSzPts val="1260"/>
              <a:buNone/>
              <a:defRPr/>
            </a:lvl2pPr>
            <a:lvl3pPr lvl="2" algn="ctr">
              <a:spcBef>
                <a:spcPts val="500"/>
              </a:spcBef>
              <a:spcAft>
                <a:spcPts val="0"/>
              </a:spcAft>
              <a:buSzPts val="135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35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76200" y="6068699"/>
            <a:ext cx="2057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2085393" y="236538"/>
            <a:ext cx="586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001000" y="228600"/>
            <a:ext cx="838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1" type="ftr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12" type="sldNum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37" name="Google Shape;37;p12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showMasterSp="0" type="title">
  <p:cSld name="TITLE">
    <p:bg>
      <p:bgPr>
        <a:solidFill>
          <a:schemeClr val="dk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0" name="Google Shape;40;p10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1" name="Google Shape;41;p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2" name="Google Shape;42;p10"/>
          <p:cNvSpPr txBox="1"/>
          <p:nvPr>
            <p:ph type="ctrTitle"/>
          </p:nvPr>
        </p:nvSpPr>
        <p:spPr>
          <a:xfrm>
            <a:off x="2362200" y="4038600"/>
            <a:ext cx="6477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wentieth Century"/>
              <a:buNone/>
              <a:defRPr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" type="subTitle"/>
          </p:nvPr>
        </p:nvSpPr>
        <p:spPr>
          <a:xfrm>
            <a:off x="2362200" y="6050037"/>
            <a:ext cx="670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SzPts val="1560"/>
              <a:buNone/>
              <a:defRPr sz="2600">
                <a:solidFill>
                  <a:srgbClr val="FFFFFF"/>
                </a:solidFill>
              </a:defRPr>
            </a:lvl1pPr>
            <a:lvl2pPr lvl="1" algn="ctr">
              <a:spcBef>
                <a:spcPts val="550"/>
              </a:spcBef>
              <a:spcAft>
                <a:spcPts val="0"/>
              </a:spcAft>
              <a:buSzPts val="1260"/>
              <a:buNone/>
              <a:defRPr/>
            </a:lvl2pPr>
            <a:lvl3pPr lvl="2" algn="ctr">
              <a:spcBef>
                <a:spcPts val="500"/>
              </a:spcBef>
              <a:spcAft>
                <a:spcPts val="0"/>
              </a:spcAft>
              <a:buSzPts val="135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35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0" type="dt"/>
          </p:nvPr>
        </p:nvSpPr>
        <p:spPr>
          <a:xfrm>
            <a:off x="76200" y="6068699"/>
            <a:ext cx="2057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2085393" y="236538"/>
            <a:ext cx="586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001000" y="228600"/>
            <a:ext cx="838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algn="ctr">
              <a:spcBef>
                <a:spcPts val="0"/>
              </a:spcBef>
              <a:buNone/>
              <a:defRPr b="1" i="0" sz="1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showMasterSp="0" type="secHead">
  <p:cSld name="SECTION_HEADER">
    <p:bg>
      <p:bgPr>
        <a:blipFill rotWithShape="1">
          <a:blip r:embed="rId2">
            <a:alphaModFix/>
          </a:blip>
          <a:tile algn="tl" flip="none" tx="0" sx="100000" ty="0" sy="100000"/>
        </a:blip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/>
          <p:nvPr>
            <p:ph idx="1" type="body"/>
          </p:nvPr>
        </p:nvSpPr>
        <p:spPr>
          <a:xfrm>
            <a:off x="1371600" y="2743200"/>
            <a:ext cx="7123113" cy="167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680"/>
              <a:buNone/>
              <a:defRPr sz="28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550"/>
              </a:spcBef>
              <a:spcAft>
                <a:spcPts val="0"/>
              </a:spcAft>
              <a:buSzPts val="126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2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05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910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49" name="Google Shape;49;p13"/>
          <p:cNvSpPr/>
          <p:nvPr/>
        </p:nvSpPr>
        <p:spPr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0" name="Google Shape;50;p13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1" name="Google Shape;51;p13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1371600" y="1600200"/>
            <a:ext cx="7620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wentieth Century"/>
              <a:buNone/>
              <a:defRPr b="0" sz="4400" cap="none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0" y="1752600"/>
            <a:ext cx="1295400" cy="701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1" sz="2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algn="ctr">
              <a:spcBef>
                <a:spcPts val="0"/>
              </a:spcBef>
              <a:buNone/>
              <a:defRPr b="1" sz="2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algn="ctr">
              <a:spcBef>
                <a:spcPts val="0"/>
              </a:spcBef>
              <a:buNone/>
              <a:defRPr b="1" sz="2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algn="ctr">
              <a:spcBef>
                <a:spcPts val="0"/>
              </a:spcBef>
              <a:buNone/>
              <a:defRPr b="1" sz="2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algn="ctr">
              <a:spcBef>
                <a:spcPts val="0"/>
              </a:spcBef>
              <a:buNone/>
              <a:defRPr b="1" sz="2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algn="ctr">
              <a:spcBef>
                <a:spcPts val="0"/>
              </a:spcBef>
              <a:buNone/>
              <a:defRPr b="1" sz="2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algn="ctr">
              <a:spcBef>
                <a:spcPts val="0"/>
              </a:spcBef>
              <a:buNone/>
              <a:defRPr b="1" sz="2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algn="ctr">
              <a:spcBef>
                <a:spcPts val="0"/>
              </a:spcBef>
              <a:buNone/>
              <a:defRPr b="1" sz="2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algn="ctr">
              <a:spcBef>
                <a:spcPts val="0"/>
              </a:spcBef>
              <a:buNone/>
              <a:defRPr b="1" sz="2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09600" y="1589567"/>
            <a:ext cx="3886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2" type="body"/>
          </p:nvPr>
        </p:nvSpPr>
        <p:spPr>
          <a:xfrm>
            <a:off x="4844901" y="1589567"/>
            <a:ext cx="3886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62" name="Google Shape;62;p14"/>
          <p:cNvSpPr txBox="1"/>
          <p:nvPr>
            <p:ph idx="11" type="ftr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533400" y="273050"/>
            <a:ext cx="8153400" cy="869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609600" y="2438400"/>
            <a:ext cx="3886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2" type="body"/>
          </p:nvPr>
        </p:nvSpPr>
        <p:spPr>
          <a:xfrm>
            <a:off x="4800600" y="2438400"/>
            <a:ext cx="3886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69" name="Google Shape;69;p15"/>
          <p:cNvSpPr txBox="1"/>
          <p:nvPr>
            <p:ph idx="11" type="ftr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3" type="body"/>
          </p:nvPr>
        </p:nvSpPr>
        <p:spPr>
          <a:xfrm>
            <a:off x="609600" y="1752600"/>
            <a:ext cx="3886200" cy="6400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200"/>
              <a:buFont typeface="Twentieth Century"/>
              <a:buNone/>
              <a:defRPr b="1" sz="2000">
                <a:solidFill>
                  <a:srgbClr val="FFFFFF"/>
                </a:solidFill>
              </a:defRPr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4" type="body"/>
          </p:nvPr>
        </p:nvSpPr>
        <p:spPr>
          <a:xfrm>
            <a:off x="4800600" y="1752600"/>
            <a:ext cx="3886200" cy="6400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200"/>
              <a:buFont typeface="Twentieth Century"/>
              <a:buNone/>
              <a:defRPr b="1" sz="2000">
                <a:solidFill>
                  <a:srgbClr val="FFFFFF"/>
                </a:solidFill>
              </a:defRPr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1" type="ftr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showMasterSp="0" type="blank">
  <p:cSld name="BLANK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0" y="6248400"/>
            <a:ext cx="533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 b="1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algn="ctr">
              <a:spcBef>
                <a:spcPts val="0"/>
              </a:spcBef>
              <a:buNone/>
              <a:defRPr b="1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algn="ctr">
              <a:spcBef>
                <a:spcPts val="0"/>
              </a:spcBef>
              <a:buNone/>
              <a:defRPr b="1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algn="ctr">
              <a:spcBef>
                <a:spcPts val="0"/>
              </a:spcBef>
              <a:buNone/>
              <a:defRPr b="1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algn="ctr">
              <a:spcBef>
                <a:spcPts val="0"/>
              </a:spcBef>
              <a:buNone/>
              <a:defRPr b="1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algn="ctr">
              <a:spcBef>
                <a:spcPts val="0"/>
              </a:spcBef>
              <a:buNone/>
              <a:defRPr b="1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algn="ctr">
              <a:spcBef>
                <a:spcPts val="0"/>
              </a:spcBef>
              <a:buNone/>
              <a:defRPr b="1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algn="ctr">
              <a:spcBef>
                <a:spcPts val="0"/>
              </a:spcBef>
              <a:buNone/>
              <a:defRPr b="1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algn="ctr">
              <a:spcBef>
                <a:spcPts val="0"/>
              </a:spcBef>
              <a:buNone/>
              <a:defRPr b="1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09600" y="273050"/>
            <a:ext cx="8077200" cy="869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  <a:defRPr b="0"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1" type="ftr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algn="ctr">
              <a:spcBef>
                <a:spcPts val="0"/>
              </a:spcBef>
              <a:buNone/>
              <a:defRPr b="1" sz="14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609600" y="1752600"/>
            <a:ext cx="1600200" cy="4343400"/>
          </a:xfrm>
          <a:prstGeom prst="rect">
            <a:avLst/>
          </a:prstGeom>
          <a:solidFill>
            <a:schemeClr val="accent2"/>
          </a:solidFill>
          <a:ln cap="sq" cmpd="dbl" w="508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91425" lIns="137150" spcFirstLastPara="1" rIns="137150" wrap="square" tIns="182875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080"/>
              <a:buNone/>
              <a:def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840"/>
              <a:buNone/>
              <a:defRPr sz="1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750"/>
              <a:buNone/>
              <a:defRPr sz="1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675"/>
              <a:buNone/>
              <a:defRPr sz="9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585"/>
              <a:buNone/>
              <a:defRPr sz="9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2" type="body"/>
          </p:nvPr>
        </p:nvSpPr>
        <p:spPr>
          <a:xfrm>
            <a:off x="2362200" y="1752600"/>
            <a:ext cx="64008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showMasterSp="0" type="picTx">
  <p:cSld name="PICTURE_WITH_CAPTION_TEXT">
    <p:bg>
      <p:bgPr>
        <a:blipFill rotWithShape="1">
          <a:blip r:embed="rId2">
            <a:alphaModFix/>
          </a:blip>
          <a:tile algn="tl" flip="none" tx="0" sx="100000" ty="0" sy="100000"/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1600200" y="54864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020"/>
              <a:buFont typeface="Twentieth Century"/>
              <a:buNone/>
              <a:defRPr sz="1700"/>
            </a:lvl1pPr>
            <a:lvl2pPr indent="-228600" lvl="1" marL="914400" algn="l">
              <a:spcBef>
                <a:spcPts val="550"/>
              </a:spcBef>
              <a:spcAft>
                <a:spcPts val="0"/>
              </a:spcAft>
              <a:buSzPts val="840"/>
              <a:buFont typeface="Twentieth Century"/>
              <a:buNone/>
              <a:defRPr sz="12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750"/>
              <a:buFont typeface="Twentieth Century"/>
              <a:buNone/>
              <a:defRPr sz="10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675"/>
              <a:buFont typeface="Twentieth Century"/>
              <a:buNone/>
              <a:defRPr sz="9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585"/>
              <a:buFont typeface="Twentieth Century"/>
              <a:buNone/>
              <a:defRPr sz="9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90" name="Google Shape;90;p19"/>
          <p:cNvSpPr/>
          <p:nvPr/>
        </p:nvSpPr>
        <p:spPr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1" name="Google Shape;91;p19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2" name="Google Shape;92;p1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3" name="Google Shape;93;p19"/>
          <p:cNvSpPr txBox="1"/>
          <p:nvPr>
            <p:ph type="title"/>
          </p:nvPr>
        </p:nvSpPr>
        <p:spPr>
          <a:xfrm>
            <a:off x="1600200" y="4648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wentieth Century"/>
              <a:buNone/>
              <a:defRPr b="0" sz="28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/>
          <p:nvPr/>
        </p:nvSpPr>
        <p:spPr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5" name="Google Shape;95;p19"/>
          <p:cNvSpPr txBox="1"/>
          <p:nvPr>
            <p:ph idx="10" type="dt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9"/>
          <p:cNvSpPr txBox="1"/>
          <p:nvPr>
            <p:ph idx="12" type="sldNum"/>
          </p:nvPr>
        </p:nvSpPr>
        <p:spPr>
          <a:xfrm>
            <a:off x="0" y="4667249"/>
            <a:ext cx="1447800" cy="663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97" name="Google Shape;97;p19"/>
          <p:cNvSpPr txBox="1"/>
          <p:nvPr>
            <p:ph idx="11" type="ftr"/>
          </p:nvPr>
        </p:nvSpPr>
        <p:spPr>
          <a:xfrm>
            <a:off x="1600200" y="6248206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9"/>
          <p:cNvSpPr/>
          <p:nvPr>
            <p:ph idx="2" type="pic"/>
          </p:nvPr>
        </p:nvSpPr>
        <p:spPr>
          <a:xfrm>
            <a:off x="1560576" y="0"/>
            <a:ext cx="7583424" cy="4568952"/>
          </a:xfrm>
          <a:prstGeom prst="rect">
            <a:avLst/>
          </a:prstGeom>
          <a:solidFill>
            <a:srgbClr val="DCE5EE"/>
          </a:solidFill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 rot="5400000">
            <a:off x="2426208" y="-213360"/>
            <a:ext cx="4526280" cy="81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102" name="Google Shape;102;p20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0"/>
          <p:cNvSpPr txBox="1"/>
          <p:nvPr>
            <p:ph idx="11" type="ftr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showMasterSp="0" type="vertTitleAndTx">
  <p:cSld name="VERTICAL_TITLE_AND_VERTICAL_TEXT"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 rot="5400000">
            <a:off x="4823619" y="2339182"/>
            <a:ext cx="551656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 rot="5400000">
            <a:off x="480218" y="586582"/>
            <a:ext cx="5516564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indent="-308610" lvl="1" marL="91440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indent="-314325" lvl="2" marL="1371600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indent="-302895" lvl="4" marL="2286000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108" name="Google Shape;108;p21"/>
          <p:cNvSpPr txBox="1"/>
          <p:nvPr>
            <p:ph idx="10" type="dt"/>
          </p:nvPr>
        </p:nvSpPr>
        <p:spPr>
          <a:xfrm>
            <a:off x="6553200" y="6248402"/>
            <a:ext cx="2209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1" type="ftr"/>
          </p:nvPr>
        </p:nvSpPr>
        <p:spPr>
          <a:xfrm>
            <a:off x="457201" y="6248207"/>
            <a:ext cx="55734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1"/>
          <p:cNvSpPr/>
          <p:nvPr/>
        </p:nvSpPr>
        <p:spPr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1" name="Google Shape;111;p21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2" name="Google Shape;112;p21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3" name="Google Shape;113;p21"/>
          <p:cNvSpPr txBox="1"/>
          <p:nvPr>
            <p:ph idx="12" type="sldNum"/>
          </p:nvPr>
        </p:nvSpPr>
        <p:spPr>
          <a:xfrm rot="5400000">
            <a:off x="5989638" y="14446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wentieth Century"/>
              <a:buNone/>
              <a:defRPr b="0" i="0" sz="4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9090" lvl="0" marL="457200" marR="0" rtl="0" algn="l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740"/>
              <a:buFont typeface="Noto Sans Symbols"/>
              <a:buChar char="◻"/>
              <a:defRPr b="0" i="0" sz="29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4169" lvl="1" marL="914400" marR="0" rtl="0" algn="l"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🞑"/>
              <a:defRPr b="0" i="0" sz="2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38137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25"/>
              <a:buFont typeface="Noto Sans Symbols"/>
              <a:buChar char="■"/>
              <a:defRPr b="0" i="0" sz="23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238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Noto Sans Symbols"/>
              <a:buChar char="■"/>
              <a:defRPr b="0" i="0" sz="2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11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0" name="Google Shape;10;p9"/>
          <p:cNvSpPr/>
          <p:nvPr/>
        </p:nvSpPr>
        <p:spPr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" name="Google Shape;11;p9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2" name="Google Shape;12;p9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" name="Google Shape;13;p9"/>
          <p:cNvSpPr txBox="1"/>
          <p:nvPr>
            <p:ph idx="12" type="sldNum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  <a:defRPr b="0" i="0" sz="4400" u="none" cap="none" strike="noStrik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" name="Google Shape;25;p8"/>
          <p:cNvSpPr txBox="1"/>
          <p:nvPr>
            <p:ph idx="1" type="body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9090" lvl="0" marL="457200" marR="0" rtl="0" algn="l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740"/>
              <a:buFont typeface="Noto Sans Symbols"/>
              <a:buChar char="◻"/>
              <a:defRPr b="0" i="0" sz="29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4169" lvl="1" marL="914400" marR="0" rtl="0" algn="l"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🞑"/>
              <a:defRPr b="0" i="0" sz="2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38137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25"/>
              <a:buFont typeface="Noto Sans Symbols"/>
              <a:buChar char="■"/>
              <a:defRPr b="0" i="0" sz="23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238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11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26" name="Google Shape;26;p8"/>
          <p:cNvSpPr txBox="1"/>
          <p:nvPr>
            <p:ph idx="10" type="dt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27" name="Google Shape;27;p8"/>
          <p:cNvSpPr txBox="1"/>
          <p:nvPr>
            <p:ph idx="11" type="ftr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28" name="Google Shape;28;p8"/>
          <p:cNvSpPr/>
          <p:nvPr/>
        </p:nvSpPr>
        <p:spPr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9" name="Google Shape;29;p8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0" name="Google Shape;30;p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"/>
          <p:cNvSpPr txBox="1"/>
          <p:nvPr>
            <p:ph type="ctrTitle"/>
          </p:nvPr>
        </p:nvSpPr>
        <p:spPr>
          <a:xfrm>
            <a:off x="2362200" y="4038600"/>
            <a:ext cx="6477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wentieth Century"/>
              <a:buNone/>
            </a:pPr>
            <a:r>
              <a:rPr lang="ko-KR"/>
              <a:t>소프트웨어 형상관리</a:t>
            </a:r>
            <a:endParaRPr/>
          </a:p>
        </p:txBody>
      </p:sp>
      <p:sp>
        <p:nvSpPr>
          <p:cNvPr id="119" name="Google Shape;119;p1"/>
          <p:cNvSpPr txBox="1"/>
          <p:nvPr>
            <p:ph idx="1" type="subTitle"/>
          </p:nvPr>
        </p:nvSpPr>
        <p:spPr>
          <a:xfrm>
            <a:off x="2362200" y="6050037"/>
            <a:ext cx="670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560"/>
              <a:buNone/>
            </a:pPr>
            <a:r>
              <a:rPr lang="ko-KR"/>
              <a:t>Software Configuration Manager : SCM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ko-KR">
                <a:latin typeface="Arial"/>
                <a:ea typeface="Arial"/>
                <a:cs typeface="Arial"/>
                <a:sym typeface="Arial"/>
              </a:rPr>
              <a:t>SCM == 소스 버전 관리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 txBox="1"/>
          <p:nvPr>
            <p:ph idx="1" type="body"/>
          </p:nvPr>
        </p:nvSpPr>
        <p:spPr>
          <a:xfrm>
            <a:off x="612648" y="1600200"/>
            <a:ext cx="8153400" cy="4757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spcBef>
                <a:spcPts val="0"/>
              </a:spcBef>
              <a:spcAft>
                <a:spcPts val="0"/>
              </a:spcAft>
              <a:buSzPts val="1200"/>
              <a:buChar char="◻"/>
            </a:pPr>
            <a:r>
              <a:rPr lang="ko-KR" sz="2000">
                <a:latin typeface="Arial"/>
                <a:ea typeface="Arial"/>
                <a:cs typeface="Arial"/>
                <a:sym typeface="Arial"/>
              </a:rPr>
              <a:t>SW개발 및 유지보수 과정에서 발생하는 소스코드, 문서, 인터페이스 등 각종 결과물에 대해 형상을 만들고, 이들 형상에 대한 변경을 체계적으로 관리, 제어하기 위한 활동.</a:t>
            </a:r>
            <a:endParaRPr/>
          </a:p>
          <a:p>
            <a:pPr indent="-243840" lvl="0" marL="320040" rtl="0" algn="l">
              <a:spcBef>
                <a:spcPts val="7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200"/>
              <a:buChar char="◻"/>
            </a:pPr>
            <a:r>
              <a:rPr lang="ko-KR" sz="2000">
                <a:latin typeface="Arial"/>
                <a:ea typeface="Arial"/>
                <a:cs typeface="Arial"/>
                <a:sym typeface="Arial"/>
              </a:rPr>
              <a:t>단순히 말하자면 프로젝트를 진행하면서 생성하는 소스코드를 CVS나 SVN, 또는 GIT와 같은 버전 관리 시스템을 이용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43840" lvl="0" marL="320040" rtl="0" algn="l">
              <a:spcBef>
                <a:spcPts val="7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200"/>
              <a:buChar char="◻"/>
            </a:pPr>
            <a:r>
              <a:rPr lang="ko-KR" sz="2000">
                <a:latin typeface="Arial"/>
                <a:ea typeface="Arial"/>
                <a:cs typeface="Arial"/>
                <a:sym typeface="Arial"/>
              </a:rPr>
              <a:t>다수의 개발자가 프로젝트에서 동일한 기능을 동시에 개발한다고 할 때, 작성된 소스 코드와 변경사항을 확인하고, 수정하는 협업을 도와주는 시스템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43840" lvl="0" marL="320040" rtl="0" algn="l">
              <a:spcBef>
                <a:spcPts val="7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ko-KR">
                <a:latin typeface="Arial"/>
                <a:ea typeface="Arial"/>
                <a:cs typeface="Arial"/>
                <a:sym typeface="Arial"/>
              </a:rPr>
              <a:t>왜 버전 관리 시스템이 필요한가?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/>
          <p:cNvSpPr txBox="1"/>
          <p:nvPr>
            <p:ph idx="1" type="body"/>
          </p:nvPr>
        </p:nvSpPr>
        <p:spPr>
          <a:xfrm>
            <a:off x="612648" y="1600200"/>
            <a:ext cx="8153400" cy="1257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20059" lvl="0" marL="32004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ct val="60000"/>
              <a:buChar char="◻"/>
            </a:pPr>
            <a:r>
              <a:rPr b="1" lang="ko-KR" sz="2500">
                <a:latin typeface="Arial"/>
                <a:ea typeface="Arial"/>
                <a:cs typeface="Arial"/>
                <a:sym typeface="Arial"/>
              </a:rPr>
              <a:t>프로그램을 만들다 보면, 잘못 만들어서 다시 소스코드를 이전 상태로 되돌릴 필요도 있고, 변경된 이력을 확인할 필요가 있음. 그리고 여러 명의 개발자들이 동시에 같은 소스코드를 개발하면서 발생하는 충돌에 대한 처리도 필요함.</a:t>
            </a:r>
            <a:endParaRPr/>
          </a:p>
          <a:p>
            <a:pPr indent="-274815" lvl="0" marL="320040" rtl="0" algn="l">
              <a:spcBef>
                <a:spcPts val="700"/>
              </a:spcBef>
              <a:spcAft>
                <a:spcPts val="0"/>
              </a:spcAft>
              <a:buSzPct val="60000"/>
              <a:buNone/>
            </a:pPr>
            <a:r>
              <a:t/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-320059" lvl="0" marL="320040" rtl="0" algn="l">
              <a:spcBef>
                <a:spcPts val="700"/>
              </a:spcBef>
              <a:spcAft>
                <a:spcPts val="0"/>
              </a:spcAft>
              <a:buSzPct val="60000"/>
              <a:buChar char="◻"/>
            </a:pPr>
            <a:r>
              <a:rPr b="1" lang="ko-KR" sz="2500">
                <a:latin typeface="Arial"/>
                <a:ea typeface="Arial"/>
                <a:cs typeface="Arial"/>
                <a:sym typeface="Arial"/>
              </a:rPr>
              <a:t> 이러한 것을 하기 위해 필요한 것이 바로 버전 관리 시스템</a:t>
            </a:r>
            <a:endParaRPr/>
          </a:p>
          <a:p>
            <a:pPr indent="-283845" lvl="0" marL="320040" rtl="0" algn="l">
              <a:spcBef>
                <a:spcPts val="700"/>
              </a:spcBef>
              <a:spcAft>
                <a:spcPts val="0"/>
              </a:spcAft>
              <a:buSzPct val="60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descr="EMB00000aa0194a" id="133" name="Google Shape;13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7356" y="2857496"/>
            <a:ext cx="5400675" cy="368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ko-KR">
                <a:latin typeface="Arial"/>
                <a:ea typeface="Arial"/>
                <a:cs typeface="Arial"/>
                <a:sym typeface="Arial"/>
              </a:rPr>
              <a:t>버전 관리 시스템의 기본 개념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 txBox="1"/>
          <p:nvPr>
            <p:ph idx="1" type="body"/>
          </p:nvPr>
        </p:nvSpPr>
        <p:spPr>
          <a:xfrm>
            <a:off x="612648" y="1600200"/>
            <a:ext cx="8153400" cy="4757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spcBef>
                <a:spcPts val="0"/>
              </a:spcBef>
              <a:spcAft>
                <a:spcPts val="0"/>
              </a:spcAft>
              <a:buSzPts val="1200"/>
              <a:buChar char="◻"/>
            </a:pPr>
            <a:r>
              <a:rPr lang="ko-KR" sz="2000">
                <a:latin typeface="Arial"/>
                <a:ea typeface="Arial"/>
                <a:cs typeface="Arial"/>
                <a:sym typeface="Arial"/>
              </a:rPr>
              <a:t>협업하기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200"/>
              <a:buNone/>
            </a:pPr>
            <a:r>
              <a:rPr lang="ko-KR" sz="2000"/>
              <a:t>    </a:t>
            </a:r>
            <a:r>
              <a:rPr lang="ko-KR" sz="2000">
                <a:latin typeface="Twentieth Century"/>
                <a:ea typeface="Twentieth Century"/>
                <a:cs typeface="Twentieth Century"/>
                <a:sym typeface="Twentieth Century"/>
              </a:rPr>
              <a:t> 두 명 이상의 사람들이 똑같은 소스코드를 같은 시간에 편집해야 한다면?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200"/>
              <a:buNone/>
            </a:pPr>
            <a:r>
              <a:rPr lang="ko-KR" sz="2000"/>
              <a:t>    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-243840" lvl="0" marL="320040" rtl="0" algn="l">
              <a:spcBef>
                <a:spcPts val="7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aphicFrame>
        <p:nvGraphicFramePr>
          <p:cNvPr id="141" name="Google Shape;141;p4"/>
          <p:cNvGraphicFramePr/>
          <p:nvPr/>
        </p:nvGraphicFramePr>
        <p:xfrm>
          <a:off x="1071538" y="25003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{60D7E966-BFF7-415F-BAD3-2AC00D80C725}</a:tableStyleId>
              </a:tblPr>
              <a:tblGrid>
                <a:gridCol w="984500"/>
                <a:gridCol w="5016275"/>
              </a:tblGrid>
              <a:tr h="1149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대안 1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누가 수정을 할지 순서를 정한다. 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한 번에 한 사람만 작업을 할 수 있다. 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규칙을 어떻게 지킬 수 있도록 할 수 있을까?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993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대안 2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작업을 각자 한 후 차이점을 찾아 수정한다. 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차이점을 찾고 수정하기 위해 수많은 재 작업이 필요하다. 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재 작업 시 소스코드가 손실 될 수 있다.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ko-KR">
                <a:latin typeface="Arial"/>
                <a:ea typeface="Arial"/>
                <a:cs typeface="Arial"/>
                <a:sym typeface="Arial"/>
              </a:rPr>
              <a:t>해결책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 txBox="1"/>
          <p:nvPr>
            <p:ph idx="1" type="body"/>
          </p:nvPr>
        </p:nvSpPr>
        <p:spPr>
          <a:xfrm>
            <a:off x="612648" y="1600200"/>
            <a:ext cx="8153400" cy="2686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spcBef>
                <a:spcPts val="0"/>
              </a:spcBef>
              <a:spcAft>
                <a:spcPts val="0"/>
              </a:spcAft>
              <a:buSzPts val="1200"/>
              <a:buChar char="◻"/>
            </a:pPr>
            <a:r>
              <a:rPr lang="ko-KR" sz="2000">
                <a:latin typeface="Arial"/>
                <a:ea typeface="Arial"/>
                <a:cs typeface="Arial"/>
                <a:sym typeface="Arial"/>
              </a:rPr>
              <a:t>협업하기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200"/>
              <a:buNone/>
            </a:pPr>
            <a:r>
              <a:rPr lang="ko-KR" sz="2000"/>
              <a:t> 버전 관리 시스템은 개발자들이 동일한 소스 코드를 동시에 수정하거나 수정된 내용을 쉽게 공유할 수 있는 기능을 제공</a:t>
            </a:r>
            <a:endParaRPr sz="20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720"/>
              <a:buChar char="◻"/>
            </a:pPr>
            <a:r>
              <a:rPr lang="ko-KR" sz="1200">
                <a:latin typeface="Arial"/>
                <a:ea typeface="Arial"/>
                <a:cs typeface="Arial"/>
                <a:sym typeface="Arial"/>
              </a:rPr>
              <a:t>중앙 저장소(Repository)에 메인 소스 코드를 저장해 놓습니다. 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720"/>
              <a:buChar char="◻"/>
            </a:pPr>
            <a:r>
              <a:rPr lang="ko-KR" sz="1200">
                <a:latin typeface="Arial"/>
                <a:ea typeface="Arial"/>
                <a:cs typeface="Arial"/>
                <a:sym typeface="Arial"/>
              </a:rPr>
              <a:t>여러 명의 개발자들은 각자 로컬 PC에 중앙 저장소에 저장되어 있는 소스 코드를 작업 디렉토리(Working Copy)에 사본을 복사해 소스 코드를 수정합니다. 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720"/>
              <a:buChar char="◻"/>
            </a:pPr>
            <a:r>
              <a:rPr lang="ko-KR" sz="1200">
                <a:latin typeface="Arial"/>
                <a:ea typeface="Arial"/>
                <a:cs typeface="Arial"/>
                <a:sym typeface="Arial"/>
              </a:rPr>
              <a:t>개발자들이 소스 코드 수정을 끝낸 후, 소스 코드를 공유하기 위해서 중앙 저장소로 소스코드를 커밋(Commit) 합니다. 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720"/>
              <a:buChar char="◻"/>
            </a:pPr>
            <a:r>
              <a:rPr lang="ko-KR" sz="1200">
                <a:latin typeface="Arial"/>
                <a:ea typeface="Arial"/>
                <a:cs typeface="Arial"/>
                <a:sym typeface="Arial"/>
              </a:rPr>
              <a:t>다른 개발자는 변경된 내용을 확인 하기 위해서 중앙 저장소의 소스를 작업 디렉토리로 갱신(Update) 되도록 명령을 수행합니다. </a:t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descr="EMB00000aa0194c" id="151" name="Google Shape;15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6314" y="4143380"/>
            <a:ext cx="2928958" cy="237536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descr="EMB00000aa0194b" id="153" name="Google Shape;15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5852" y="4214818"/>
            <a:ext cx="2923746" cy="2328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aphicFrame>
        <p:nvGraphicFramePr>
          <p:cNvPr id="159" name="Google Shape;159;p6"/>
          <p:cNvGraphicFramePr/>
          <p:nvPr/>
        </p:nvGraphicFramePr>
        <p:xfrm>
          <a:off x="285720" y="17859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{60D7E966-BFF7-415F-BAD3-2AC00D80C725}</a:tableStyleId>
              </a:tblPr>
              <a:tblGrid>
                <a:gridCol w="2714650"/>
                <a:gridCol w="5929350"/>
              </a:tblGrid>
              <a:tr h="461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용어</a:t>
                      </a:r>
                      <a:endParaRPr b="1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설명</a:t>
                      </a:r>
                      <a:endParaRPr b="1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</a:tr>
              <a:tr h="461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중앙 저장소(Repository)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원본 소스를 저장하고 있는 저장소</a:t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</a:tr>
              <a:tr h="644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작업 디렉토리(Working Copy)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원본 저장소로부터 체크아웃을 통해 내려 받은 내 로컬 PC에 있는 작업 사본 디렉토리</a:t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</a:tr>
              <a:tr h="644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커밋(Commit)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작업 디렉토리에서 변경, 추가 및 삭제된 파일을 원본 저장소인 서버에 적용</a:t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</a:tr>
              <a:tr h="644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갱신(Update)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체크아웃을 받은 작업 디렉토리를 원본 저장소의 가장 최신 커밋된 버전까지 업데이트하는 명령어</a:t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</a:tr>
              <a:tr h="644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리비전(Revision)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소스 파일을 수정하여 커밋하게 되면 일정한 규칙에 의해 숫자가 증가. 저장소에 저장된 각각의 파일 버전</a:t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</a:tr>
              <a:tr h="644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되돌리기(Roll Back)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작업 디렉토리에 저장되어 있는 사본을 특정 리비전 또는 특정 시간으로 복원할 수 있도록 하는 명령어</a:t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ko-KR">
                <a:latin typeface="Arial"/>
                <a:ea typeface="Arial"/>
                <a:cs typeface="Arial"/>
                <a:sym typeface="Arial"/>
              </a:rPr>
              <a:t>소스 버전관리 도구 (VCS)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 txBox="1"/>
          <p:nvPr>
            <p:ph idx="1" type="body"/>
          </p:nvPr>
        </p:nvSpPr>
        <p:spPr>
          <a:xfrm>
            <a:off x="612648" y="1600200"/>
            <a:ext cx="8153400" cy="468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20040" lvl="0" marL="320040" rtl="0" algn="l">
              <a:spcBef>
                <a:spcPts val="0"/>
              </a:spcBef>
              <a:spcAft>
                <a:spcPts val="0"/>
              </a:spcAft>
              <a:buSzPts val="1680"/>
              <a:buChar char="◻"/>
            </a:pPr>
            <a:r>
              <a:rPr b="1" lang="ko-KR" sz="2800">
                <a:latin typeface="Arial"/>
                <a:ea typeface="Arial"/>
                <a:cs typeface="Arial"/>
                <a:sym typeface="Arial"/>
              </a:rPr>
              <a:t>CVS (Current Versions System)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200"/>
              <a:buNone/>
            </a:pPr>
            <a:r>
              <a:rPr lang="ko-KR" sz="2000">
                <a:latin typeface="Arial"/>
                <a:ea typeface="Arial"/>
                <a:cs typeface="Arial"/>
                <a:sym typeface="Arial"/>
              </a:rPr>
              <a:t>   - 중앙집중 저장방식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1" sz="2800">
              <a:latin typeface="Arial"/>
              <a:ea typeface="Arial"/>
              <a:cs typeface="Arial"/>
              <a:sym typeface="Arial"/>
            </a:endParaRPr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680"/>
              <a:buChar char="◻"/>
            </a:pPr>
            <a:r>
              <a:rPr b="1" lang="ko-KR" sz="2800">
                <a:latin typeface="Arial"/>
                <a:ea typeface="Arial"/>
                <a:cs typeface="Arial"/>
                <a:sym typeface="Arial"/>
              </a:rPr>
              <a:t>Subversion(SVN)</a:t>
            </a:r>
            <a:endParaRPr/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200"/>
              <a:buNone/>
            </a:pPr>
            <a:r>
              <a:rPr lang="ko-KR" sz="2000">
                <a:latin typeface="Arial"/>
                <a:ea typeface="Arial"/>
                <a:cs typeface="Arial"/>
                <a:sym typeface="Arial"/>
              </a:rPr>
              <a:t>   - 분산저장방식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1" sz="2800">
              <a:latin typeface="Arial"/>
              <a:ea typeface="Arial"/>
              <a:cs typeface="Arial"/>
              <a:sym typeface="Arial"/>
            </a:endParaRPr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680"/>
              <a:buChar char="◻"/>
            </a:pPr>
            <a:r>
              <a:rPr b="1" lang="ko-KR" sz="2800">
                <a:latin typeface="Arial"/>
                <a:ea typeface="Arial"/>
                <a:cs typeface="Arial"/>
                <a:sym typeface="Arial"/>
              </a:rPr>
              <a:t>Git</a:t>
            </a:r>
            <a:endParaRPr b="1" sz="2800">
              <a:latin typeface="Arial"/>
              <a:ea typeface="Arial"/>
              <a:cs typeface="Arial"/>
              <a:sym typeface="Arial"/>
            </a:endParaRPr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680"/>
              <a:buNone/>
            </a:pPr>
            <a:r>
              <a:rPr lang="ko-KR" sz="2800"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ko-KR" sz="2000">
                <a:latin typeface="Arial"/>
                <a:ea typeface="Arial"/>
                <a:cs typeface="Arial"/>
                <a:sym typeface="Arial"/>
              </a:rPr>
              <a:t>- 분산저장 및 관리방식 개선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1" sz="2800">
              <a:latin typeface="Arial"/>
              <a:ea typeface="Arial"/>
              <a:cs typeface="Arial"/>
              <a:sym typeface="Arial"/>
            </a:endParaRPr>
          </a:p>
          <a:p>
            <a:pPr indent="-320040" lvl="0" marL="320040" rtl="0" algn="l">
              <a:spcBef>
                <a:spcPts val="700"/>
              </a:spcBef>
              <a:spcAft>
                <a:spcPts val="0"/>
              </a:spcAft>
              <a:buSzPts val="1680"/>
              <a:buChar char="◻"/>
            </a:pPr>
            <a:r>
              <a:rPr b="1" lang="ko-KR" sz="2800">
                <a:latin typeface="Arial"/>
                <a:ea typeface="Arial"/>
                <a:cs typeface="Arial"/>
                <a:sym typeface="Arial"/>
              </a:rPr>
              <a:t>Mercurial</a:t>
            </a:r>
            <a:endParaRPr b="1" sz="2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603b34ab3_0_0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Git </a:t>
            </a:r>
            <a:r>
              <a:rPr lang="ko-KR"/>
              <a:t>창시자 - 리누스 </a:t>
            </a:r>
            <a:r>
              <a:rPr lang="ko-KR"/>
              <a:t>토르발스</a:t>
            </a:r>
            <a:endParaRPr/>
          </a:p>
        </p:txBody>
      </p:sp>
      <p:pic>
        <p:nvPicPr>
          <p:cNvPr id="171" name="Google Shape;171;g3a603b34ab3_0_0" title="linu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0000" y="1817150"/>
            <a:ext cx="6984000" cy="456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가을">
  <a:themeElements>
    <a:clrScheme name="가을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가을">
  <a:themeElements>
    <a:clrScheme name="가을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2017-08-02T03:14:29Z</dcterms:created>
  <dc:creator>Customer</dc:creator>
</cp:coreProperties>
</file>