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6858000" cx="9144000"/>
  <p:notesSz cx="6934200" cy="9220200"/>
  <p:embeddedFontLst>
    <p:embeddedFont>
      <p:font typeface="Century Schoolbook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904">
          <p15:clr>
            <a:srgbClr val="000000"/>
          </p15:clr>
        </p15:guide>
        <p15:guide id="2" pos="2184">
          <p15:clr>
            <a:srgbClr val="000000"/>
          </p15:clr>
        </p15:guide>
      </p15:notesGuideLst>
    </p:ext>
    <p:ext uri="GoogleSlidesCustomDataVersion2">
      <go:slidesCustomData xmlns:go="http://customooxmlschemas.google.com/" r:id="rId63" roundtripDataSignature="AMtx7mgECYtOxJOE9vZjqL9XsNqOLL0z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04" orient="horz"/>
        <p:guide pos="218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CenturySchoolbook-boldItalic.fntdata"/><Relationship Id="rId61" Type="http://schemas.openxmlformats.org/officeDocument/2006/relationships/font" Target="fonts/CenturySchoolbook-italic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CenturySchoolbook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CenturySchoolbook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b" bIns="46150" lIns="92300" spcFirstLastPara="1" rIns="92300" wrap="square" tIns="461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2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2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2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2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2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2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5eab6e381_0_279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a5eab6e381_0_279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7" name="Google Shape;287;p3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3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3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3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3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3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p3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5eab6e381_0_0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a5eab6e381_0_0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3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3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5eab6e381_0_95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a5eab6e381_0_95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4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1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41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2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42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5eab6e381_0_184:notes"/>
          <p:cNvSpPr txBox="1"/>
          <p:nvPr>
            <p:ph idx="1" type="body"/>
          </p:nvPr>
        </p:nvSpPr>
        <p:spPr>
          <a:xfrm>
            <a:off x="693420" y="4379595"/>
            <a:ext cx="5547300" cy="4149000"/>
          </a:xfrm>
          <a:prstGeom prst="rect">
            <a:avLst/>
          </a:prstGeom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a5eab6e381_0_184:notes"/>
          <p:cNvSpPr/>
          <p:nvPr>
            <p:ph idx="2" type="sldImg"/>
          </p:nvPr>
        </p:nvSpPr>
        <p:spPr>
          <a:xfrm>
            <a:off x="1733815" y="691515"/>
            <a:ext cx="3467400" cy="345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43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4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44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5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45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6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46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p47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8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48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9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4" name="Google Shape;444;p49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0:notes"/>
          <p:cNvSpPr txBox="1"/>
          <p:nvPr>
            <p:ph idx="1" type="body"/>
          </p:nvPr>
        </p:nvSpPr>
        <p:spPr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150" lIns="92300" spcFirstLastPara="1" rIns="92300" wrap="square" tIns="461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p50:notes"/>
          <p:cNvSpPr/>
          <p:nvPr>
            <p:ph idx="2" type="sldImg"/>
          </p:nvPr>
        </p:nvSpPr>
        <p:spPr>
          <a:xfrm>
            <a:off x="1162050" y="692150"/>
            <a:ext cx="4610100" cy="3457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3f1b741ae_0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3a3f1b741ae_0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3a3f1b741ae_0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3f1b741ae_0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3a3f1b741ae_0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3f1b741ae_0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3a3f1b741ae_0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3a3f1b741ae_0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3f1b741ae_0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3a3f1b741ae_0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3a3f1b741ae_0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3a3f1b741ae_0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a3f1b741ae_0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3a3f1b741ae_0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a3f1b741ae_0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3a3f1b741ae_0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3a3f1b741ae_0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a3f1b741ae_0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3a3f1b741ae_0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a3f1b741ae_0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3f1b741ae_0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3a3f1b741ae_0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3a3f1b741ae_0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3a3f1b741ae_0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3f1b741ae_0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3a3f1b741ae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3f1b741ae_0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3a3f1b741ae_0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3a3f1b741ae_0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3f1b741ae_0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3f1b741ae_0_45"/>
          <p:cNvSpPr txBox="1"/>
          <p:nvPr>
            <p:ph type="title"/>
          </p:nvPr>
        </p:nvSpPr>
        <p:spPr>
          <a:xfrm>
            <a:off x="1125538" y="381000"/>
            <a:ext cx="7789800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a3f1b741ae_0_45"/>
          <p:cNvSpPr txBox="1"/>
          <p:nvPr>
            <p:ph idx="1" type="body"/>
          </p:nvPr>
        </p:nvSpPr>
        <p:spPr>
          <a:xfrm>
            <a:off x="685800" y="1333500"/>
            <a:ext cx="82122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∙"/>
              <a:defRPr/>
            </a:lvl9pPr>
          </a:lstStyle>
          <a:p/>
        </p:txBody>
      </p:sp>
      <p:sp>
        <p:nvSpPr>
          <p:cNvPr id="57" name="Google Shape;57;g3a3f1b741ae_0_45"/>
          <p:cNvSpPr txBox="1"/>
          <p:nvPr>
            <p:ph idx="12" type="sldNum"/>
          </p:nvPr>
        </p:nvSpPr>
        <p:spPr>
          <a:xfrm>
            <a:off x="5884863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 1">
  <p:cSld name="제목만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5eab6e381_0_90"/>
          <p:cNvSpPr txBox="1"/>
          <p:nvPr>
            <p:ph type="title"/>
          </p:nvPr>
        </p:nvSpPr>
        <p:spPr>
          <a:xfrm>
            <a:off x="354329" y="136525"/>
            <a:ext cx="68184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g3a5eab6e381_0_90"/>
          <p:cNvSpPr txBox="1"/>
          <p:nvPr>
            <p:ph idx="10" type="dt"/>
          </p:nvPr>
        </p:nvSpPr>
        <p:spPr>
          <a:xfrm>
            <a:off x="6286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61" name="Google Shape;61;g3a5eab6e381_0_90"/>
          <p:cNvSpPr txBox="1"/>
          <p:nvPr>
            <p:ph idx="11" type="ftr"/>
          </p:nvPr>
        </p:nvSpPr>
        <p:spPr>
          <a:xfrm>
            <a:off x="3028950" y="6356350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a5eab6e381_0_90"/>
          <p:cNvSpPr txBox="1"/>
          <p:nvPr>
            <p:ph idx="12" type="sldNum"/>
          </p:nvPr>
        </p:nvSpPr>
        <p:spPr>
          <a:xfrm>
            <a:off x="6457950" y="635635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>
            <a:lvl1pPr indent="0" lvl="0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3f1b741ae_0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3a3f1b741ae_0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3a3f1b741ae_0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34.png"/><Relationship Id="rId5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1.png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Relationship Id="rId4" Type="http://schemas.openxmlformats.org/officeDocument/2006/relationships/image" Target="../media/image4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png"/><Relationship Id="rId4" Type="http://schemas.openxmlformats.org/officeDocument/2006/relationships/image" Target="../media/image4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6.png"/><Relationship Id="rId4" Type="http://schemas.openxmlformats.org/officeDocument/2006/relationships/image" Target="../media/image43.png"/><Relationship Id="rId5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/>
        </p:nvSpPr>
        <p:spPr>
          <a:xfrm>
            <a:off x="1495425" y="1622425"/>
            <a:ext cx="7124564" cy="1323439"/>
          </a:xfrm>
          <a:prstGeom prst="rect">
            <a:avLst/>
          </a:prstGeom>
          <a:solidFill>
            <a:srgbClr val="66CCFF"/>
          </a:solidFill>
          <a:ln>
            <a:noFill/>
          </a:ln>
          <a:effectLst>
            <a:outerShdw rotWithShape="0" algn="ctr" dir="2700000" dist="107763">
              <a:schemeClr val="lt2">
                <a:alpha val="49411"/>
              </a:scheme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CHAPTER 2. HTML 기본 요소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5" y="3605213"/>
            <a:ext cx="42481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이번 장의 목표</a:t>
            </a:r>
            <a:endParaRPr/>
          </a:p>
        </p:txBody>
      </p:sp>
      <p:pic>
        <p:nvPicPr>
          <p:cNvPr id="74" name="Google Shape;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" y="1528763"/>
            <a:ext cx="8820150" cy="4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텍스트 표시</a:t>
            </a:r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텍스트는 특별한 태그없이도 &lt;body&gt;...&lt;/body&gt; 안에서 표시할 수 있다.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하지만 단락을 생성하지 않으면 모든 텍스트가 연결되어서 하나의 긴 줄로 표시된다.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638175" y="3162301"/>
            <a:ext cx="8143875" cy="21907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안녕하세요?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텍스트는 body태그 안에 특별한 태그 없이 입력할 수 있지만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단락을 사용하지 않으면 전체가 연결되어서 한줄로 표시됩니다.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a3"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5104661"/>
            <a:ext cx="4467225" cy="1277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단락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88" name="Google Shape;88;p4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단락</a:t>
            </a: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(Paragraphs)</a:t>
            </a:r>
            <a:r>
              <a:rPr lang="en-US"/>
              <a:t>이란 하나하나의 짧은 이야기 토막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단락의 전후에 빈 줄이 추가된다.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 txBox="1"/>
          <p:nvPr/>
        </p:nvSpPr>
        <p:spPr>
          <a:xfrm>
            <a:off x="638175" y="3162300"/>
            <a:ext cx="8143875" cy="214312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이것이 하나의 단락입니다.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이것이 하나의 단락입니다.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이것이 하나의 단락입니다.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a8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2375" y="4648199"/>
            <a:ext cx="3834339" cy="146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&lt;br&gt; 태그 </a:t>
            </a:r>
            <a:endParaRPr/>
          </a:p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강제 줄바꿈 태그</a:t>
            </a:r>
            <a:endParaRPr/>
          </a:p>
        </p:txBody>
      </p:sp>
      <p:sp>
        <p:nvSpPr>
          <p:cNvPr id="97" name="Google Shape;97;p5"/>
          <p:cNvSpPr txBox="1"/>
          <p:nvPr/>
        </p:nvSpPr>
        <p:spPr>
          <a:xfrm>
            <a:off x="638175" y="3162300"/>
            <a:ext cx="8143875" cy="214312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여기는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br태그를 사용하여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줄을 바꾸었습니다.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af" id="98" name="Google Shape;9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334" y="4891088"/>
            <a:ext cx="3971716" cy="1328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텍스트 입력시 주의할 점</a:t>
            </a:r>
            <a:endParaRPr/>
          </a:p>
        </p:txBody>
      </p:sp>
      <p:sp>
        <p:nvSpPr>
          <p:cNvPr id="104" name="Google Shape;104;p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HTML 코드에서 엔터키를 눌러서 줄을 바꾸었다고 해서 웹 브라우저에서 줄이 바뀌는 것은 아니다.</a:t>
            </a:r>
            <a:endParaRPr/>
          </a:p>
        </p:txBody>
      </p:sp>
      <p:sp>
        <p:nvSpPr>
          <p:cNvPr id="105" name="Google Shape;105;p6"/>
          <p:cNvSpPr txBox="1"/>
          <p:nvPr/>
        </p:nvSpPr>
        <p:spPr>
          <a:xfrm>
            <a:off x="638175" y="2495550"/>
            <a:ext cx="8143875" cy="336232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아주 먼 옛날 바닷가 어느 왕국에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애나벨리라는 이름을 가진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한 소녀가 살고 있었지요.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그 소녀는 날 사랑했었지요.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b4" id="106" name="Google Shape;1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5000" y="3946329"/>
            <a:ext cx="4575175" cy="1742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&lt;pre&gt; 태그 </a:t>
            </a:r>
            <a:endParaRPr/>
          </a:p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프로그래머가 입력한 그대로 화면에 표시하는 태그</a:t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638175" y="2495550"/>
            <a:ext cx="8143875" cy="336232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pre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아주 먼 옛날 바닷가 어느 왕국에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애나벨리라는 이름을 가진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한 소녀가 살고 있었지요.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그 소녀는 날 사랑했었지요.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pre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ba"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4302124"/>
            <a:ext cx="4494997" cy="185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헤딩</a:t>
            </a:r>
            <a:endParaRPr/>
          </a:p>
        </p:txBody>
      </p:sp>
      <p:sp>
        <p:nvSpPr>
          <p:cNvPr id="120" name="Google Shape;120;p8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헤딩(heading): 웹 페이지의 머리기사(headline)</a:t>
            </a:r>
            <a:endParaRPr/>
          </a:p>
        </p:txBody>
      </p:sp>
      <p:sp>
        <p:nvSpPr>
          <p:cNvPr id="121" name="Google Shape;121;p8"/>
          <p:cNvSpPr txBox="1"/>
          <p:nvPr/>
        </p:nvSpPr>
        <p:spPr>
          <a:xfrm>
            <a:off x="638175" y="2495550"/>
            <a:ext cx="8143875" cy="336232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h1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이것이 heading 1 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h1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이것이 heading 2 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h3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이것이 heading 3 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h3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h4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이것이 heading 4 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h4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h5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이것이 heading 5 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h5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h6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이것이 heading 6 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h6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c0" id="122" name="Google Shape;1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5189" y="3599655"/>
            <a:ext cx="3796861" cy="2543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주석</a:t>
            </a:r>
            <a:endParaRPr/>
          </a:p>
        </p:txBody>
      </p:sp>
      <p:sp>
        <p:nvSpPr>
          <p:cNvPr id="128" name="Google Shape;128;p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주석(comment)은 코드를 설명하는 글</a:t>
            </a:r>
            <a:endParaRPr/>
          </a:p>
        </p:txBody>
      </p:sp>
      <p:sp>
        <p:nvSpPr>
          <p:cNvPr id="129" name="Google Shape;129;p9"/>
          <p:cNvSpPr txBox="1"/>
          <p:nvPr/>
        </p:nvSpPr>
        <p:spPr>
          <a:xfrm>
            <a:off x="638175" y="2495550"/>
            <a:ext cx="8143875" cy="275272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64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&lt;!--참고: 아래 링크는 나의 배너임 --&gt;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img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="http://www.company.com/pics/f.jpg"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="100"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="400"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64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&lt;!-- &lt;input type="text" size="12" /&gt; --&gt;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텍스트 서식</a:t>
            </a:r>
            <a:endParaRPr/>
          </a:p>
        </p:txBody>
      </p:sp>
      <p:pic>
        <p:nvPicPr>
          <p:cNvPr id="135" name="Google Shape;13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8813" y="1824038"/>
            <a:ext cx="5014912" cy="3017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텍스트 서식</a:t>
            </a:r>
            <a:endParaRPr/>
          </a:p>
        </p:txBody>
      </p:sp>
      <p:sp>
        <p:nvSpPr>
          <p:cNvPr id="141" name="Google Shape;141;p11"/>
          <p:cNvSpPr txBox="1"/>
          <p:nvPr/>
        </p:nvSpPr>
        <p:spPr>
          <a:xfrm>
            <a:off x="714375" y="1362075"/>
            <a:ext cx="8143875" cy="372427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 텍스트는 bold입니다.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strong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 텍스트는 strong입니다.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strong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 텍스트는 italic입니다.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em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 텍스트는 emphasized입니다.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em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code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 텍스트는 code입니다.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code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sub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subscript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sub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이고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sup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superscript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sup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cd" id="142" name="Google Shape;1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6312" y="4385467"/>
            <a:ext cx="4126216" cy="2091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수평선</a:t>
            </a:r>
            <a:endParaRPr/>
          </a:p>
        </p:txBody>
      </p:sp>
      <p:sp>
        <p:nvSpPr>
          <p:cNvPr id="148" name="Google Shape;148;p1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>
                <a:latin typeface="Century Schoolbook"/>
                <a:ea typeface="Century Schoolbook"/>
                <a:cs typeface="Century Schoolbook"/>
                <a:sym typeface="Century Schoolbook"/>
              </a:rPr>
              <a:t>&lt;hr&gt; 태그를 사용하면 수평선을 그릴 수 있다. </a:t>
            </a:r>
            <a:endParaRPr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714374" y="2200276"/>
            <a:ext cx="8143875" cy="23050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이것이 수평선입니다.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수평선이었습니다.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d3" id="150" name="Google Shape;1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6700" y="4210050"/>
            <a:ext cx="4587137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특수문자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‘&lt;’와 ‘&gt;’ 같은 문자를 화면에 표시하기 위하여 필요하다. </a:t>
            </a:r>
            <a:endParaRPr/>
          </a:p>
        </p:txBody>
      </p:sp>
      <p:pic>
        <p:nvPicPr>
          <p:cNvPr id="157" name="Google Shape;15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9775" y="2319337"/>
            <a:ext cx="4381500" cy="267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커피 전문점 웹 페이지</a:t>
            </a:r>
            <a:endParaRPr/>
          </a:p>
        </p:txBody>
      </p:sp>
      <p:pic>
        <p:nvPicPr>
          <p:cNvPr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1639" y="1809750"/>
            <a:ext cx="5643562" cy="3368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소스 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714374" y="1219200"/>
            <a:ext cx="8143875" cy="48958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Web Coffee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h1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Web 커피 메뉴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h1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아메리카노 5000원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에스프레소에 물을 추가한 것입니다.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카페오레 6000원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에스프레소에 우유를 넣은 커피입니다.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카푸치노 6000원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커피 위에 우유거품을 얹은 커피입니다.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리스트</a:t>
            </a:r>
            <a:endParaRPr/>
          </a:p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리스트: 항목들을 나열하는데 사용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번호있는 리스트: &lt;ol&gt;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번호없는 리스트: &lt;ul&gt;</a:t>
            </a:r>
            <a:endParaRPr/>
          </a:p>
          <a:p>
            <a:pPr indent="-158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76" name="Google Shape;1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87" y="3252788"/>
            <a:ext cx="8810625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번호없는 리스트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38175" y="2495551"/>
            <a:ext cx="8143875" cy="14668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ul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에스프레소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아메리카노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카페라떼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ul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df"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8711" y="3054748"/>
            <a:ext cx="3970291" cy="1815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번호있는 리스트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638175" y="2495551"/>
            <a:ext cx="8143875" cy="1466850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에스프레소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아메리카노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카페라떼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li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ol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e4" id="190" name="Google Shape;1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5565" y="3476626"/>
            <a:ext cx="3666485" cy="167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정의 리스트</a:t>
            </a:r>
            <a:endParaRPr/>
          </a:p>
        </p:txBody>
      </p:sp>
      <p:sp>
        <p:nvSpPr>
          <p:cNvPr id="196" name="Google Shape;196;p1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정의 리스트(definition list):</a:t>
            </a:r>
            <a:r>
              <a:rPr lang="en-US"/>
              <a:t> 항목들과 함께 항목들의 정의(설명)가 표시되는 리스트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8175" y="2495551"/>
            <a:ext cx="8143875" cy="2085974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에스프레소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- 커피의 기본, 커피의 원액이다.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아메리카노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- 에스프레소에 물을 넣은 것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카페라떼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- 커피에 우유를 섞은 것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e9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5525" y="3928268"/>
            <a:ext cx="4032790" cy="1843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링크</a:t>
            </a:r>
            <a:endParaRPr/>
          </a:p>
        </p:txBody>
      </p:sp>
      <p:sp>
        <p:nvSpPr>
          <p:cNvPr id="204" name="Google Shape;204;p20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b="1" lang="en-US"/>
              <a:t>하이퍼링크(또는 링크)</a:t>
            </a:r>
            <a:r>
              <a:rPr lang="en-US"/>
              <a:t>는 다른 문서로 점프할 수 있는 단어나 이미지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1" y="2152649"/>
            <a:ext cx="8314078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링크 예제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8175" y="2495551"/>
            <a:ext cx="8143875" cy="2905124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href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="http://www.google.com"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target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="_blank"&gt;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google.com 방문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target 속성이 "_blank"이므로 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링크는 새로운 탭에서 열립니다.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1f1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4105" y="1689894"/>
            <a:ext cx="3836232" cy="2135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0700b1f2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4763" y="4200525"/>
            <a:ext cx="3833987" cy="213598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6219825" y="2105025"/>
            <a:ext cx="866775" cy="2505075"/>
          </a:xfrm>
          <a:custGeom>
            <a:rect b="b" l="l" r="r" t="t"/>
            <a:pathLst>
              <a:path extrusionOk="0" h="2505075" w="866775">
                <a:moveTo>
                  <a:pt x="0" y="0"/>
                </a:moveTo>
                <a:cubicBezTo>
                  <a:pt x="16386" y="40966"/>
                  <a:pt x="24575" y="65261"/>
                  <a:pt x="47625" y="104775"/>
                </a:cubicBezTo>
                <a:cubicBezTo>
                  <a:pt x="59161" y="124551"/>
                  <a:pt x="73945" y="142292"/>
                  <a:pt x="85725" y="161925"/>
                </a:cubicBezTo>
                <a:cubicBezTo>
                  <a:pt x="347869" y="598832"/>
                  <a:pt x="80899" y="164202"/>
                  <a:pt x="247650" y="438150"/>
                </a:cubicBezTo>
                <a:cubicBezTo>
                  <a:pt x="414716" y="712615"/>
                  <a:pt x="228765" y="406029"/>
                  <a:pt x="409575" y="695325"/>
                </a:cubicBezTo>
                <a:cubicBezTo>
                  <a:pt x="487262" y="819625"/>
                  <a:pt x="445460" y="757308"/>
                  <a:pt x="514350" y="876300"/>
                </a:cubicBezTo>
                <a:cubicBezTo>
                  <a:pt x="532902" y="908344"/>
                  <a:pt x="554941" y="938432"/>
                  <a:pt x="571500" y="971550"/>
                </a:cubicBezTo>
                <a:cubicBezTo>
                  <a:pt x="584200" y="996950"/>
                  <a:pt x="597768" y="1021934"/>
                  <a:pt x="609600" y="1047750"/>
                </a:cubicBezTo>
                <a:cubicBezTo>
                  <a:pt x="632703" y="1098157"/>
                  <a:pt x="648765" y="1152007"/>
                  <a:pt x="676275" y="1200150"/>
                </a:cubicBezTo>
                <a:cubicBezTo>
                  <a:pt x="724942" y="1285317"/>
                  <a:pt x="702927" y="1243930"/>
                  <a:pt x="742950" y="1323975"/>
                </a:cubicBezTo>
                <a:cubicBezTo>
                  <a:pt x="762872" y="1443509"/>
                  <a:pt x="736827" y="1315130"/>
                  <a:pt x="781050" y="1447800"/>
                </a:cubicBezTo>
                <a:cubicBezTo>
                  <a:pt x="789329" y="1472638"/>
                  <a:pt x="791294" y="1499344"/>
                  <a:pt x="800100" y="1524000"/>
                </a:cubicBezTo>
                <a:cubicBezTo>
                  <a:pt x="807263" y="1544058"/>
                  <a:pt x="820025" y="1561687"/>
                  <a:pt x="828675" y="1581150"/>
                </a:cubicBezTo>
                <a:cubicBezTo>
                  <a:pt x="832753" y="1590325"/>
                  <a:pt x="835025" y="1600200"/>
                  <a:pt x="838200" y="1609725"/>
                </a:cubicBezTo>
                <a:cubicBezTo>
                  <a:pt x="841375" y="1635125"/>
                  <a:pt x="845178" y="1660454"/>
                  <a:pt x="847725" y="1685925"/>
                </a:cubicBezTo>
                <a:cubicBezTo>
                  <a:pt x="862942" y="1838097"/>
                  <a:pt x="847911" y="1753530"/>
                  <a:pt x="866775" y="1847850"/>
                </a:cubicBezTo>
                <a:cubicBezTo>
                  <a:pt x="856834" y="2454272"/>
                  <a:pt x="857250" y="2235174"/>
                  <a:pt x="857250" y="2505075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target 속성 </a:t>
            </a:r>
            <a:endParaRPr/>
          </a:p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target 속성은 각 링크가 클릭되었을 때, 새로운 페이지가 어디에 열리는 지를 지정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5425" y="2657475"/>
            <a:ext cx="634365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771525" y="1352551"/>
            <a:ext cx="8143875" cy="3267074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href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="http://www.google.com"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target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="_self"&gt;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google.com 방문1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href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="http://www.google.com"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target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="_blank"&gt;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google.com 방문2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203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6900" y="5306204"/>
            <a:ext cx="3255963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0700b204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6900" y="3304366"/>
            <a:ext cx="3238500" cy="134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0700b205" id="230" name="Google Shape;23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41598" y="4843461"/>
            <a:ext cx="2312989" cy="93503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/>
          <p:nvPr/>
        </p:nvSpPr>
        <p:spPr>
          <a:xfrm>
            <a:off x="3857625" y="3810000"/>
            <a:ext cx="4239799" cy="1628775"/>
          </a:xfrm>
          <a:custGeom>
            <a:rect b="b" l="l" r="r" t="t"/>
            <a:pathLst>
              <a:path extrusionOk="0" h="1628775" w="4239799">
                <a:moveTo>
                  <a:pt x="0" y="1628775"/>
                </a:moveTo>
                <a:cubicBezTo>
                  <a:pt x="25400" y="1619250"/>
                  <a:pt x="50465" y="1608778"/>
                  <a:pt x="76200" y="1600200"/>
                </a:cubicBezTo>
                <a:cubicBezTo>
                  <a:pt x="109386" y="1589138"/>
                  <a:pt x="136278" y="1588184"/>
                  <a:pt x="171450" y="1581150"/>
                </a:cubicBezTo>
                <a:cubicBezTo>
                  <a:pt x="200154" y="1575409"/>
                  <a:pt x="228348" y="1567187"/>
                  <a:pt x="257175" y="1562100"/>
                </a:cubicBezTo>
                <a:cubicBezTo>
                  <a:pt x="466531" y="1525155"/>
                  <a:pt x="134265" y="1608781"/>
                  <a:pt x="542925" y="1514475"/>
                </a:cubicBezTo>
                <a:cubicBezTo>
                  <a:pt x="651269" y="1489473"/>
                  <a:pt x="667032" y="1483795"/>
                  <a:pt x="771525" y="1466850"/>
                </a:cubicBezTo>
                <a:cubicBezTo>
                  <a:pt x="853969" y="1453481"/>
                  <a:pt x="938148" y="1449007"/>
                  <a:pt x="1019175" y="1428750"/>
                </a:cubicBezTo>
                <a:cubicBezTo>
                  <a:pt x="1268882" y="1366323"/>
                  <a:pt x="1003572" y="1430016"/>
                  <a:pt x="1238250" y="1381125"/>
                </a:cubicBezTo>
                <a:cubicBezTo>
                  <a:pt x="1279719" y="1372486"/>
                  <a:pt x="1320247" y="1359242"/>
                  <a:pt x="1362075" y="1352550"/>
                </a:cubicBezTo>
                <a:cubicBezTo>
                  <a:pt x="1399827" y="1346510"/>
                  <a:pt x="1438275" y="1346200"/>
                  <a:pt x="1476375" y="1343025"/>
                </a:cubicBezTo>
                <a:cubicBezTo>
                  <a:pt x="1508125" y="1327150"/>
                  <a:pt x="1538120" y="1307127"/>
                  <a:pt x="1571625" y="1295400"/>
                </a:cubicBezTo>
                <a:cubicBezTo>
                  <a:pt x="1602186" y="1284704"/>
                  <a:pt x="1635677" y="1285016"/>
                  <a:pt x="1666875" y="1276350"/>
                </a:cubicBezTo>
                <a:cubicBezTo>
                  <a:pt x="1693013" y="1269090"/>
                  <a:pt x="1717050" y="1255429"/>
                  <a:pt x="1743075" y="1247775"/>
                </a:cubicBezTo>
                <a:cubicBezTo>
                  <a:pt x="1771158" y="1239515"/>
                  <a:pt x="1801258" y="1238640"/>
                  <a:pt x="1828800" y="1228725"/>
                </a:cubicBezTo>
                <a:cubicBezTo>
                  <a:pt x="1880971" y="1209943"/>
                  <a:pt x="1927884" y="1177283"/>
                  <a:pt x="1981200" y="1162050"/>
                </a:cubicBezTo>
                <a:cubicBezTo>
                  <a:pt x="2003425" y="1155700"/>
                  <a:pt x="2025274" y="1147843"/>
                  <a:pt x="2047875" y="1143000"/>
                </a:cubicBezTo>
                <a:cubicBezTo>
                  <a:pt x="2221704" y="1105751"/>
                  <a:pt x="1990705" y="1169095"/>
                  <a:pt x="2200275" y="1114425"/>
                </a:cubicBezTo>
                <a:cubicBezTo>
                  <a:pt x="2549207" y="1023399"/>
                  <a:pt x="2136030" y="1127338"/>
                  <a:pt x="2447925" y="1038225"/>
                </a:cubicBezTo>
                <a:cubicBezTo>
                  <a:pt x="2498509" y="1023772"/>
                  <a:pt x="2523424" y="1017698"/>
                  <a:pt x="2571750" y="1000125"/>
                </a:cubicBezTo>
                <a:cubicBezTo>
                  <a:pt x="2587818" y="994282"/>
                  <a:pt x="2603751" y="988019"/>
                  <a:pt x="2619375" y="981075"/>
                </a:cubicBezTo>
                <a:cubicBezTo>
                  <a:pt x="2632350" y="975308"/>
                  <a:pt x="2644180" y="967011"/>
                  <a:pt x="2657475" y="962025"/>
                </a:cubicBezTo>
                <a:cubicBezTo>
                  <a:pt x="2669732" y="957428"/>
                  <a:pt x="2682875" y="955675"/>
                  <a:pt x="2695575" y="952500"/>
                </a:cubicBezTo>
                <a:cubicBezTo>
                  <a:pt x="2708275" y="942975"/>
                  <a:pt x="2719476" y="931025"/>
                  <a:pt x="2733675" y="923925"/>
                </a:cubicBezTo>
                <a:cubicBezTo>
                  <a:pt x="2751636" y="914945"/>
                  <a:pt x="2771954" y="911737"/>
                  <a:pt x="2790825" y="904875"/>
                </a:cubicBezTo>
                <a:cubicBezTo>
                  <a:pt x="2806893" y="899032"/>
                  <a:pt x="2822980" y="893105"/>
                  <a:pt x="2838450" y="885825"/>
                </a:cubicBezTo>
                <a:cubicBezTo>
                  <a:pt x="2876993" y="867687"/>
                  <a:pt x="2911792" y="840377"/>
                  <a:pt x="2952750" y="828675"/>
                </a:cubicBezTo>
                <a:cubicBezTo>
                  <a:pt x="3138440" y="775621"/>
                  <a:pt x="2907956" y="845903"/>
                  <a:pt x="3076575" y="781050"/>
                </a:cubicBezTo>
                <a:cubicBezTo>
                  <a:pt x="3098149" y="772752"/>
                  <a:pt x="3121322" y="769309"/>
                  <a:pt x="3143250" y="762000"/>
                </a:cubicBezTo>
                <a:cubicBezTo>
                  <a:pt x="3195388" y="744621"/>
                  <a:pt x="3194594" y="738662"/>
                  <a:pt x="3248025" y="714375"/>
                </a:cubicBezTo>
                <a:cubicBezTo>
                  <a:pt x="3263590" y="707300"/>
                  <a:pt x="3279775" y="701675"/>
                  <a:pt x="3295650" y="695325"/>
                </a:cubicBezTo>
                <a:cubicBezTo>
                  <a:pt x="3346242" y="644733"/>
                  <a:pt x="3299791" y="682665"/>
                  <a:pt x="3381375" y="647700"/>
                </a:cubicBezTo>
                <a:cubicBezTo>
                  <a:pt x="3508135" y="593374"/>
                  <a:pt x="3414530" y="631741"/>
                  <a:pt x="3495675" y="581025"/>
                </a:cubicBezTo>
                <a:cubicBezTo>
                  <a:pt x="3507716" y="573500"/>
                  <a:pt x="3522687" y="570845"/>
                  <a:pt x="3533775" y="561975"/>
                </a:cubicBezTo>
                <a:cubicBezTo>
                  <a:pt x="3554812" y="545145"/>
                  <a:pt x="3571875" y="523875"/>
                  <a:pt x="3590925" y="504825"/>
                </a:cubicBezTo>
                <a:cubicBezTo>
                  <a:pt x="3600450" y="495300"/>
                  <a:pt x="3606432" y="479517"/>
                  <a:pt x="3619500" y="476250"/>
                </a:cubicBezTo>
                <a:lnTo>
                  <a:pt x="3657600" y="466725"/>
                </a:lnTo>
                <a:cubicBezTo>
                  <a:pt x="3673825" y="455908"/>
                  <a:pt x="3712460" y="430915"/>
                  <a:pt x="3724275" y="419100"/>
                </a:cubicBezTo>
                <a:cubicBezTo>
                  <a:pt x="3787775" y="355600"/>
                  <a:pt x="3695700" y="422275"/>
                  <a:pt x="3771900" y="371475"/>
                </a:cubicBezTo>
                <a:cubicBezTo>
                  <a:pt x="3778250" y="358775"/>
                  <a:pt x="3781709" y="344156"/>
                  <a:pt x="3790950" y="333375"/>
                </a:cubicBezTo>
                <a:cubicBezTo>
                  <a:pt x="3800780" y="321906"/>
                  <a:pt x="3842831" y="296317"/>
                  <a:pt x="3857625" y="285750"/>
                </a:cubicBezTo>
                <a:cubicBezTo>
                  <a:pt x="3870543" y="276523"/>
                  <a:pt x="3882807" y="266402"/>
                  <a:pt x="3895725" y="257175"/>
                </a:cubicBezTo>
                <a:cubicBezTo>
                  <a:pt x="3905040" y="250521"/>
                  <a:pt x="3914985" y="244779"/>
                  <a:pt x="3924300" y="238125"/>
                </a:cubicBezTo>
                <a:cubicBezTo>
                  <a:pt x="3937218" y="228898"/>
                  <a:pt x="3948201" y="216650"/>
                  <a:pt x="3962400" y="209550"/>
                </a:cubicBezTo>
                <a:cubicBezTo>
                  <a:pt x="3974109" y="203696"/>
                  <a:pt x="3987800" y="203200"/>
                  <a:pt x="4000500" y="200025"/>
                </a:cubicBezTo>
                <a:cubicBezTo>
                  <a:pt x="4010025" y="190500"/>
                  <a:pt x="4021603" y="182658"/>
                  <a:pt x="4029075" y="171450"/>
                </a:cubicBezTo>
                <a:cubicBezTo>
                  <a:pt x="4034644" y="163096"/>
                  <a:pt x="4031500" y="149975"/>
                  <a:pt x="4038600" y="142875"/>
                </a:cubicBezTo>
                <a:cubicBezTo>
                  <a:pt x="4054789" y="126686"/>
                  <a:pt x="4076700" y="117475"/>
                  <a:pt x="4095750" y="104775"/>
                </a:cubicBezTo>
                <a:lnTo>
                  <a:pt x="4124325" y="85725"/>
                </a:lnTo>
                <a:cubicBezTo>
                  <a:pt x="4133850" y="79375"/>
                  <a:pt x="4144805" y="74770"/>
                  <a:pt x="4152900" y="66675"/>
                </a:cubicBezTo>
                <a:cubicBezTo>
                  <a:pt x="4162425" y="57150"/>
                  <a:pt x="4171127" y="46724"/>
                  <a:pt x="4181475" y="38100"/>
                </a:cubicBezTo>
                <a:cubicBezTo>
                  <a:pt x="4271401" y="-36838"/>
                  <a:pt x="4152708" y="66803"/>
                  <a:pt x="4238625" y="9525"/>
                </a:cubicBezTo>
                <a:cubicBezTo>
                  <a:pt x="4241267" y="7764"/>
                  <a:pt x="4238625" y="3175"/>
                  <a:pt x="4238625" y="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857625" y="5581650"/>
            <a:ext cx="1971675" cy="391304"/>
          </a:xfrm>
          <a:custGeom>
            <a:rect b="b" l="l" r="r" t="t"/>
            <a:pathLst>
              <a:path extrusionOk="0" h="391304" w="1971675">
                <a:moveTo>
                  <a:pt x="0" y="0"/>
                </a:moveTo>
                <a:cubicBezTo>
                  <a:pt x="203885" y="2755"/>
                  <a:pt x="566123" y="-7205"/>
                  <a:pt x="828675" y="19050"/>
                </a:cubicBezTo>
                <a:cubicBezTo>
                  <a:pt x="851014" y="21284"/>
                  <a:pt x="873125" y="25400"/>
                  <a:pt x="895350" y="28575"/>
                </a:cubicBezTo>
                <a:cubicBezTo>
                  <a:pt x="953641" y="48005"/>
                  <a:pt x="900115" y="32239"/>
                  <a:pt x="1000125" y="47625"/>
                </a:cubicBezTo>
                <a:cubicBezTo>
                  <a:pt x="1021403" y="50899"/>
                  <a:pt x="1063728" y="60354"/>
                  <a:pt x="1085850" y="66675"/>
                </a:cubicBezTo>
                <a:cubicBezTo>
                  <a:pt x="1181503" y="94004"/>
                  <a:pt x="1033418" y="55948"/>
                  <a:pt x="1152525" y="85725"/>
                </a:cubicBezTo>
                <a:cubicBezTo>
                  <a:pt x="1171575" y="98425"/>
                  <a:pt x="1187955" y="116585"/>
                  <a:pt x="1209675" y="123825"/>
                </a:cubicBezTo>
                <a:cubicBezTo>
                  <a:pt x="1238314" y="133371"/>
                  <a:pt x="1242206" y="131884"/>
                  <a:pt x="1266825" y="152400"/>
                </a:cubicBezTo>
                <a:cubicBezTo>
                  <a:pt x="1277173" y="161024"/>
                  <a:pt x="1285052" y="172351"/>
                  <a:pt x="1295400" y="180975"/>
                </a:cubicBezTo>
                <a:cubicBezTo>
                  <a:pt x="1320019" y="201491"/>
                  <a:pt x="1323911" y="200004"/>
                  <a:pt x="1352550" y="209550"/>
                </a:cubicBezTo>
                <a:cubicBezTo>
                  <a:pt x="1365250" y="219075"/>
                  <a:pt x="1378597" y="227794"/>
                  <a:pt x="1390650" y="238125"/>
                </a:cubicBezTo>
                <a:cubicBezTo>
                  <a:pt x="1400877" y="246891"/>
                  <a:pt x="1407529" y="260017"/>
                  <a:pt x="1419225" y="266700"/>
                </a:cubicBezTo>
                <a:cubicBezTo>
                  <a:pt x="1430591" y="273195"/>
                  <a:pt x="1444625" y="273050"/>
                  <a:pt x="1457325" y="276225"/>
                </a:cubicBezTo>
                <a:cubicBezTo>
                  <a:pt x="1466850" y="282575"/>
                  <a:pt x="1475439" y="290626"/>
                  <a:pt x="1485900" y="295275"/>
                </a:cubicBezTo>
                <a:cubicBezTo>
                  <a:pt x="1526644" y="313383"/>
                  <a:pt x="1542361" y="312767"/>
                  <a:pt x="1581150" y="323850"/>
                </a:cubicBezTo>
                <a:cubicBezTo>
                  <a:pt x="1590804" y="326608"/>
                  <a:pt x="1599847" y="331579"/>
                  <a:pt x="1609725" y="333375"/>
                </a:cubicBezTo>
                <a:cubicBezTo>
                  <a:pt x="1634910" y="337954"/>
                  <a:pt x="1660625" y="339008"/>
                  <a:pt x="1685925" y="342900"/>
                </a:cubicBezTo>
                <a:cubicBezTo>
                  <a:pt x="1701926" y="345362"/>
                  <a:pt x="1717503" y="350285"/>
                  <a:pt x="1733550" y="352425"/>
                </a:cubicBezTo>
                <a:cubicBezTo>
                  <a:pt x="1765178" y="356642"/>
                  <a:pt x="1797050" y="358775"/>
                  <a:pt x="1828800" y="361950"/>
                </a:cubicBezTo>
                <a:cubicBezTo>
                  <a:pt x="1843166" y="366739"/>
                  <a:pt x="1902457" y="388126"/>
                  <a:pt x="1924050" y="390525"/>
                </a:cubicBezTo>
                <a:cubicBezTo>
                  <a:pt x="1939828" y="392278"/>
                  <a:pt x="1955800" y="390525"/>
                  <a:pt x="1971675" y="390525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id 속성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771525" y="1352551"/>
            <a:ext cx="8143875" cy="3267074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href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="#section1"&gt;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참고 사항으로 가려면 여기를 클릭하세요.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Hello World!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Hello World!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Hello World!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="section1"&gt;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참고 사항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hr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/&gt;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동일한 페이지 안에서도 점프할 수 있습니다.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20d" id="239" name="Google Shape;23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882" y="4863306"/>
            <a:ext cx="3712094" cy="1470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B00000700b20e" id="240" name="Google Shape;2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5180" y="4863306"/>
            <a:ext cx="3712095" cy="147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이미지 </a:t>
            </a:r>
            <a:endParaRPr/>
          </a:p>
        </p:txBody>
      </p:sp>
      <p:sp>
        <p:nvSpPr>
          <p:cNvPr id="246" name="Google Shape;246;p2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&lt;img&gt; 태그 사용</a:t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2462541"/>
            <a:ext cx="7981950" cy="1704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</a:t>
            </a:r>
            <a:endParaRPr/>
          </a:p>
        </p:txBody>
      </p:sp>
      <p:sp>
        <p:nvSpPr>
          <p:cNvPr id="253" name="Google Shape;253;p26"/>
          <p:cNvSpPr txBox="1"/>
          <p:nvPr/>
        </p:nvSpPr>
        <p:spPr>
          <a:xfrm>
            <a:off x="771525" y="1352551"/>
            <a:ext cx="8143875" cy="2657474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설악산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img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="0"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="seolak.jpg"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alt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="설악산"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width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="300"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height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="230"&gt;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215" id="254" name="Google Shape;2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5250" y="3797300"/>
            <a:ext cx="3806825" cy="2496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이미지 처리 방법</a:t>
            </a:r>
            <a:endParaRPr/>
          </a:p>
        </p:txBody>
      </p:sp>
      <p:pic>
        <p:nvPicPr>
          <p:cNvPr id="260" name="Google Shape;2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1857375"/>
            <a:ext cx="771525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2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width와 height 속성</a:t>
            </a:r>
            <a:endParaRPr/>
          </a:p>
        </p:txBody>
      </p:sp>
      <p:pic>
        <p:nvPicPr>
          <p:cNvPr id="266" name="Google Shape;26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050" y="1346688"/>
            <a:ext cx="7810500" cy="14763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grpSp>
        <p:nvGrpSpPr>
          <p:cNvPr id="267" name="Google Shape;267;p28"/>
          <p:cNvGrpSpPr/>
          <p:nvPr/>
        </p:nvGrpSpPr>
        <p:grpSpPr>
          <a:xfrm>
            <a:off x="841017" y="3357543"/>
            <a:ext cx="6917618" cy="819200"/>
            <a:chOff x="6588959" y="3059207"/>
            <a:chExt cx="7043700" cy="639600"/>
          </a:xfrm>
        </p:grpSpPr>
        <p:sp>
          <p:nvSpPr>
            <p:cNvPr id="268" name="Google Shape;268;p28"/>
            <p:cNvSpPr/>
            <p:nvPr/>
          </p:nvSpPr>
          <p:spPr>
            <a:xfrm>
              <a:off x="6588959" y="3059207"/>
              <a:ext cx="7043700" cy="639600"/>
            </a:xfrm>
            <a:prstGeom prst="rect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69" name="Google Shape;269;p28"/>
            <p:cNvSpPr txBox="1"/>
            <p:nvPr/>
          </p:nvSpPr>
          <p:spPr>
            <a:xfrm>
              <a:off x="6698883" y="3123087"/>
              <a:ext cx="6933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이미지 크기 조정하기</a:t>
              </a:r>
              <a:endParaRPr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-285750" lvl="0" marL="28575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-US" sz="1400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width나 height 중 1개만 지정해도 나머지 속성은 자동으로 비율을 계산</a:t>
              </a:r>
              <a:endParaRPr sz="1400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270" name="Google Shape;27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023" y="4527548"/>
            <a:ext cx="7921525" cy="1730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alt 속성 </a:t>
            </a:r>
            <a:endParaRPr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브라우저가 어떤 이유로 이미지를 화면에 표시하지 못했을 경우에, 표시되는 대체 텍스트(alternate text)를 지정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2013" y="2286000"/>
            <a:ext cx="8129237" cy="33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5eab6e381_0_279"/>
          <p:cNvSpPr txBox="1"/>
          <p:nvPr>
            <p:ph type="title"/>
          </p:nvPr>
        </p:nvSpPr>
        <p:spPr>
          <a:xfrm>
            <a:off x="265747" y="136525"/>
            <a:ext cx="511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&lt;참고&gt; 웹 접근성과 대체 텍스트</a:t>
            </a:r>
            <a:endParaRPr/>
          </a:p>
        </p:txBody>
      </p:sp>
      <p:sp>
        <p:nvSpPr>
          <p:cNvPr id="283" name="Google Shape;283;g3a5eab6e381_0_279"/>
          <p:cNvSpPr txBox="1"/>
          <p:nvPr/>
        </p:nvSpPr>
        <p:spPr>
          <a:xfrm>
            <a:off x="607426" y="1087625"/>
            <a:ext cx="736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텍스트가 아닌 콘텐츠에는 대체 텍스트를 제공해야 한다 </a:t>
            </a:r>
            <a:endParaRPr b="1"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4" name="Google Shape;284;g3a5eab6e381_0_279"/>
          <p:cNvSpPr txBox="1"/>
          <p:nvPr/>
        </p:nvSpPr>
        <p:spPr>
          <a:xfrm>
            <a:off x="607423" y="1664551"/>
            <a:ext cx="71322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로고나 이벤트 내용을 이미지로 처리했을 때 대체 텍스트는 이미지 안에 포함된 내용을 모두 제공해야 한다.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아이콘이나 불릿 이미지처럼 화면을 꾸미는 용도로 삽입된 이미지는 대체 텍스트를 제공하지 않는다. </a:t>
            </a:r>
            <a:b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en-US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(alt 속성을 빼는 것이 아니라 alt=“”로 처리)</a:t>
            </a:r>
            <a:endParaRPr/>
          </a:p>
          <a:p>
            <a:pPr indent="-2095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이미지의 종류</a:t>
            </a:r>
            <a:endParaRPr/>
          </a:p>
        </p:txBody>
      </p:sp>
      <p:sp>
        <p:nvSpPr>
          <p:cNvPr id="290" name="Google Shape;290;p30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JPEG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실사사진과 같이 복잡하고 많은 색상으로 이루어진 이미지에 적합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손실 압축 방식을 사용한다.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PNG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클립 아트와 같이 적은 수의 색상을 가진 이미지에 적합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무손실 압축 방식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GIF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로고나 클립아트 형태의 이미지에 적합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256 색상만을 지원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∙"/>
            </a:pPr>
            <a:r>
              <a:rPr lang="en-US"/>
              <a:t>투명 배경과 애니메이션을 지원한다. 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커피 전문점 예제</a:t>
            </a:r>
            <a:endParaRPr/>
          </a:p>
        </p:txBody>
      </p:sp>
      <p:pic>
        <p:nvPicPr>
          <p:cNvPr descr="EMB00001a1c115e" id="296" name="Google Shape;29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8275" y="1409700"/>
            <a:ext cx="7172325" cy="4306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소스 </a:t>
            </a:r>
            <a:endParaRPr/>
          </a:p>
        </p:txBody>
      </p:sp>
      <p:sp>
        <p:nvSpPr>
          <p:cNvPr id="302" name="Google Shape;302;p32"/>
          <p:cNvSpPr txBox="1"/>
          <p:nvPr/>
        </p:nvSpPr>
        <p:spPr>
          <a:xfrm>
            <a:off x="771525" y="1143001"/>
            <a:ext cx="8143875" cy="5172074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Web Programming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title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head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h1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Welcome to Web Coffee!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h1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img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src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="coffee.gif"&gt;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하우스 로스팅 원두의 신선한 커피를 맛보고 싶다면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em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공인 1급 바리스타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em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가 최고급 원두만을 직접 엄선하여 사용합니다.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메뉴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h2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아메리카노,카페라떼,카푸치노,카페모카,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p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썸네일 예제</a:t>
            </a:r>
            <a:endParaRPr/>
          </a:p>
        </p:txBody>
      </p:sp>
      <p:pic>
        <p:nvPicPr>
          <p:cNvPr id="308" name="Google Shape;3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900" y="1414463"/>
            <a:ext cx="7562850" cy="42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thumnail.html</a:t>
            </a:r>
            <a:endParaRPr/>
          </a:p>
        </p:txBody>
      </p:sp>
      <p:sp>
        <p:nvSpPr>
          <p:cNvPr id="314" name="Google Shape;314;p34"/>
          <p:cNvSpPr txBox="1"/>
          <p:nvPr>
            <p:ph idx="1" type="body"/>
          </p:nvPr>
        </p:nvSpPr>
        <p:spPr>
          <a:xfrm>
            <a:off x="752475" y="1181099"/>
            <a:ext cx="8212138" cy="54197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&lt;!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DOCTYPE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200">
                <a:solidFill>
                  <a:srgbClr val="FF0000"/>
                </a:solidFill>
                <a:highlight>
                  <a:srgbClr val="FFFFFF"/>
                </a:highlight>
              </a:rPr>
              <a:t>html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head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title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NASA 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이미지들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title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head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h1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NASA가 제공하는 이미지들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h1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    미국의 NASA는 우주에 대한 고해상도 이미지들을 제공하고 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h2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Hubble Images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h2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    허블 망원경으로 촬영한 이미지로서 우주의 초기의 은하 모습을 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보여준다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   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a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</a:t>
            </a:r>
            <a:r>
              <a:rPr lang="en-US" sz="1200">
                <a:solidFill>
                  <a:srgbClr val="FF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href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="photo1.html"&gt;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Dotumche"/>
              <a:ea typeface="Dotumche"/>
              <a:cs typeface="Dotumche"/>
              <a:sym typeface="Dotumche"/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       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img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</a:t>
            </a:r>
            <a:r>
              <a:rPr lang="en-US" sz="1200">
                <a:solidFill>
                  <a:srgbClr val="FF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src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="thumbnails/PIA12110_hithumb.jpg"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</a:t>
            </a:r>
            <a:r>
              <a:rPr lang="en-US" sz="1200">
                <a:solidFill>
                  <a:srgbClr val="FF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alt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=""&gt;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Dotumche"/>
              <a:ea typeface="Dotumche"/>
              <a:cs typeface="Dotumche"/>
              <a:sym typeface="Dotumche"/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   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&lt;/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a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Dotumche"/>
              <a:ea typeface="Dotumche"/>
              <a:cs typeface="Dotumche"/>
              <a:sym typeface="Dotumche"/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   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a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</a:t>
            </a:r>
            <a:r>
              <a:rPr lang="en-US" sz="1200">
                <a:solidFill>
                  <a:srgbClr val="FF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href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="photo2.html"&gt;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Dotumche"/>
              <a:ea typeface="Dotumche"/>
              <a:cs typeface="Dotumche"/>
              <a:sym typeface="Dotumche"/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       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&lt;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img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</a:t>
            </a:r>
            <a:r>
              <a:rPr lang="en-US" sz="1200">
                <a:solidFill>
                  <a:srgbClr val="FF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src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="thumbnails/PIA03149_hithumb.jpg"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</a:t>
            </a:r>
            <a:r>
              <a:rPr lang="en-US" sz="1200">
                <a:solidFill>
                  <a:srgbClr val="FF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alt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=""&gt;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Dotumche"/>
              <a:ea typeface="Dotumche"/>
              <a:cs typeface="Dotumche"/>
              <a:sym typeface="Dotumche"/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    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&lt;/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a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  <a:latin typeface="Dotumche"/>
                <a:ea typeface="Dotumche"/>
                <a:cs typeface="Dotumche"/>
                <a:sym typeface="Dotumche"/>
              </a:rPr>
              <a:t>&gt;</a:t>
            </a: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2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2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2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photo1.html</a:t>
            </a:r>
            <a:endParaRPr/>
          </a:p>
        </p:txBody>
      </p:sp>
      <p:sp>
        <p:nvSpPr>
          <p:cNvPr id="320" name="Google Shape;320;p35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&lt;!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doctype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</a:rPr>
              <a:t>html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head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title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Deep Field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title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head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h1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Hubble Image #1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h1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img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</a:rPr>
              <a:t>src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="images/PIA03542_ip.jpg"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</a:rPr>
              <a:t>alt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="Deep Field"&gt;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photo2.html</a:t>
            </a:r>
            <a:endParaRPr/>
          </a:p>
        </p:txBody>
      </p:sp>
      <p:sp>
        <p:nvSpPr>
          <p:cNvPr id="326" name="Google Shape;326;p36"/>
          <p:cNvSpPr txBox="1"/>
          <p:nvPr>
            <p:ph idx="1" type="body"/>
          </p:nvPr>
        </p:nvSpPr>
        <p:spPr>
          <a:xfrm>
            <a:off x="685800" y="1333500"/>
            <a:ext cx="8212138" cy="4152900"/>
          </a:xfrm>
          <a:prstGeom prst="rect">
            <a:avLst/>
          </a:prstGeom>
          <a:solidFill>
            <a:srgbClr val="FEFBE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&lt;!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DOCTYPE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</a:rPr>
              <a:t>html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head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title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Deep Field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title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head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h1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Hubble Image #2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h1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img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</a:rPr>
              <a:t>src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="images/PIA03149_ip.jpg"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800">
                <a:solidFill>
                  <a:srgbClr val="FF0000"/>
                </a:solidFill>
                <a:highlight>
                  <a:srgbClr val="FFFFFF"/>
                </a:highlight>
              </a:rPr>
              <a:t>alt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="Deep Field"&gt;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8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8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5eab6e381_0_0"/>
          <p:cNvSpPr txBox="1"/>
          <p:nvPr>
            <p:ph type="title"/>
          </p:nvPr>
        </p:nvSpPr>
        <p:spPr>
          <a:xfrm>
            <a:off x="354329" y="136525"/>
            <a:ext cx="68184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표 만들기</a:t>
            </a:r>
            <a:endParaRPr/>
          </a:p>
        </p:txBody>
      </p:sp>
      <p:sp>
        <p:nvSpPr>
          <p:cNvPr id="332" name="Google Shape;332;g3a5eab6e381_0_0"/>
          <p:cNvSpPr txBox="1"/>
          <p:nvPr/>
        </p:nvSpPr>
        <p:spPr>
          <a:xfrm>
            <a:off x="489996" y="865389"/>
            <a:ext cx="2685600" cy="36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표의 구성 요소</a:t>
            </a:r>
            <a:endParaRPr/>
          </a:p>
        </p:txBody>
      </p:sp>
      <p:grpSp>
        <p:nvGrpSpPr>
          <p:cNvPr id="333" name="Google Shape;333;g3a5eab6e381_0_0"/>
          <p:cNvGrpSpPr/>
          <p:nvPr/>
        </p:nvGrpSpPr>
        <p:grpSpPr>
          <a:xfrm>
            <a:off x="489996" y="4607065"/>
            <a:ext cx="3825626" cy="1186335"/>
            <a:chOff x="6587521" y="4989819"/>
            <a:chExt cx="5100834" cy="1186335"/>
          </a:xfrm>
        </p:grpSpPr>
        <p:sp>
          <p:nvSpPr>
            <p:cNvPr id="334" name="Google Shape;334;g3a5eab6e381_0_0"/>
            <p:cNvSpPr/>
            <p:nvPr/>
          </p:nvSpPr>
          <p:spPr>
            <a:xfrm>
              <a:off x="6587521" y="5204454"/>
              <a:ext cx="5100600" cy="971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5" name="Google Shape;335;g3a5eab6e381_0_0"/>
            <p:cNvSpPr txBox="1"/>
            <p:nvPr/>
          </p:nvSpPr>
          <p:spPr>
            <a:xfrm>
              <a:off x="6838980" y="4989819"/>
              <a:ext cx="3875700" cy="36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표를 만드는 태그</a:t>
              </a:r>
              <a:endParaRPr/>
            </a:p>
          </p:txBody>
        </p:sp>
        <p:sp>
          <p:nvSpPr>
            <p:cNvPr id="336" name="Google Shape;336;g3a5eab6e381_0_0"/>
            <p:cNvSpPr txBox="1"/>
            <p:nvPr/>
          </p:nvSpPr>
          <p:spPr>
            <a:xfrm>
              <a:off x="6735655" y="5349048"/>
              <a:ext cx="4952700" cy="63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&lt;table&gt; </a:t>
              </a:r>
              <a:r>
                <a:rPr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표 전체, </a:t>
              </a:r>
              <a:r>
                <a:rPr b="1"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&lt;caption&gt; </a:t>
              </a:r>
              <a:r>
                <a:rPr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표 제목 , 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&lt;tr&gt; </a:t>
              </a:r>
              <a:r>
                <a:rPr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행, </a:t>
              </a:r>
              <a:r>
                <a:rPr b="1"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&lt;td&gt; </a:t>
              </a:r>
              <a:r>
                <a:rPr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 셀, </a:t>
              </a:r>
              <a:r>
                <a:rPr b="1"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&lt;th&gt; </a:t>
              </a:r>
              <a:r>
                <a:rPr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:</a:t>
              </a:r>
              <a:r>
                <a:rPr b="1"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en-US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제목 셀</a:t>
              </a:r>
              <a:endParaRPr/>
            </a:p>
          </p:txBody>
        </p:sp>
      </p:grpSp>
      <p:sp>
        <p:nvSpPr>
          <p:cNvPr id="337" name="Google Shape;337;g3a5eab6e381_0_0"/>
          <p:cNvSpPr txBox="1"/>
          <p:nvPr/>
        </p:nvSpPr>
        <p:spPr>
          <a:xfrm>
            <a:off x="4828469" y="1078489"/>
            <a:ext cx="3476700" cy="5575200"/>
          </a:xfrm>
          <a:prstGeom prst="rect">
            <a:avLst/>
          </a:prstGeom>
          <a:noFill/>
          <a:ln cap="flat" cmpd="sng" w="9525">
            <a:solidFill>
              <a:srgbClr val="9CC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&lt;table&gt;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&lt;caption&gt;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선물용과 가정용 상품 구성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&lt;/caption&gt;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&lt;th&gt;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용도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&lt;/th&gt;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&lt;th&gt;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중량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&lt;/th&gt;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&lt;th&gt;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갯수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&lt;/th&gt;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&lt;th&gt;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가격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&lt;/th&gt;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선물용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3kg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11~16과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35,000원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가정용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5kg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18~26과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47,000원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&lt;/table&gt;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g3a5eab6e38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996" y="1251435"/>
            <a:ext cx="3059095" cy="2269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테이블 </a:t>
            </a:r>
            <a:endParaRPr/>
          </a:p>
        </p:txBody>
      </p:sp>
      <p:sp>
        <p:nvSpPr>
          <p:cNvPr id="344" name="Google Shape;344;p37"/>
          <p:cNvSpPr txBox="1"/>
          <p:nvPr/>
        </p:nvSpPr>
        <p:spPr>
          <a:xfrm>
            <a:off x="1171575" y="1343024"/>
            <a:ext cx="2762250" cy="46196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table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="1"&gt;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홍길동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98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김철수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table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241" id="345" name="Google Shape;34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8624" y="2667000"/>
            <a:ext cx="4733827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테이블 헤더</a:t>
            </a:r>
            <a:endParaRPr/>
          </a:p>
        </p:txBody>
      </p:sp>
      <p:sp>
        <p:nvSpPr>
          <p:cNvPr id="351" name="Google Shape;351;p38"/>
          <p:cNvSpPr txBox="1"/>
          <p:nvPr/>
        </p:nvSpPr>
        <p:spPr>
          <a:xfrm>
            <a:off x="1171575" y="1343024"/>
            <a:ext cx="2762250" cy="46196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table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="1"&gt;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영화제목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연도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감독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평가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라이프 오브 파이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2013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이안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8.68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…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table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0700b23c" id="352" name="Google Shape;35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6425" y="2738436"/>
            <a:ext cx="4350103" cy="1509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5eab6e381_0_95"/>
          <p:cNvSpPr txBox="1"/>
          <p:nvPr>
            <p:ph type="title"/>
          </p:nvPr>
        </p:nvSpPr>
        <p:spPr>
          <a:xfrm>
            <a:off x="265747" y="136525"/>
            <a:ext cx="511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표 만들기</a:t>
            </a:r>
            <a:endParaRPr/>
          </a:p>
        </p:txBody>
      </p:sp>
      <p:sp>
        <p:nvSpPr>
          <p:cNvPr id="358" name="Google Shape;358;g3a5eab6e381_0_95"/>
          <p:cNvSpPr txBox="1"/>
          <p:nvPr/>
        </p:nvSpPr>
        <p:spPr>
          <a:xfrm>
            <a:off x="535577" y="1202997"/>
            <a:ext cx="40365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표를 추가한 후 웹 브라우저에서 확인해 보면 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표에 테두리도 없고, 셀과 셀이 너무 바짝 붙은 채 정보만 나열됨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텍스트, 스크린샷, 번호, 소프트웨어이(가) 표시된 사진&#10;&#10;자동 생성된 설명" id="359" name="Google Shape;359;g3a5eab6e381_0_95"/>
          <p:cNvPicPr preferRelativeResize="0"/>
          <p:nvPr/>
        </p:nvPicPr>
        <p:blipFill rotWithShape="1">
          <a:blip r:embed="rId3">
            <a:alphaModFix/>
          </a:blip>
          <a:srcRect b="13229" l="0" r="31801" t="61314"/>
          <a:stretch/>
        </p:blipFill>
        <p:spPr>
          <a:xfrm>
            <a:off x="5059238" y="1088843"/>
            <a:ext cx="2393123" cy="1446370"/>
          </a:xfrm>
          <a:prstGeom prst="rect">
            <a:avLst/>
          </a:prstGeom>
          <a:noFill/>
          <a:ln cap="flat" cmpd="sng" w="9525">
            <a:solidFill>
              <a:srgbClr val="4472C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0" name="Google Shape;360;g3a5eab6e381_0_95"/>
          <p:cNvSpPr/>
          <p:nvPr/>
        </p:nvSpPr>
        <p:spPr>
          <a:xfrm>
            <a:off x="1998617" y="1968137"/>
            <a:ext cx="483300" cy="287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1" name="Google Shape;361;g3a5eab6e381_0_95"/>
          <p:cNvSpPr txBox="1"/>
          <p:nvPr/>
        </p:nvSpPr>
        <p:spPr>
          <a:xfrm>
            <a:off x="535577" y="2424166"/>
            <a:ext cx="40365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보기 편한 표를 만들려면 CSS를 적용해야 함. 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코드를 &lt;/head&gt; 태그 앞에 추가하기</a:t>
            </a:r>
            <a:endParaRPr sz="1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2" name="Google Shape;362;g3a5eab6e381_0_95"/>
          <p:cNvSpPr/>
          <p:nvPr/>
        </p:nvSpPr>
        <p:spPr>
          <a:xfrm>
            <a:off x="535578" y="3291855"/>
            <a:ext cx="3180900" cy="2660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63475" spcFirstLastPara="1" rIns="6347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&lt;head&gt;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  …… 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B3B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&lt;style&gt;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b="0" i="0" lang="en-US" sz="1400" u="none" cap="none" strike="noStrike">
                <a:solidFill>
                  <a:srgbClr val="E50000"/>
                </a:solidFill>
                <a:latin typeface="Arial"/>
                <a:ea typeface="Arial"/>
                <a:cs typeface="Arial"/>
                <a:sym typeface="Arial"/>
              </a:rPr>
              <a:t>border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14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1px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0451A5"/>
                </a:solidFill>
                <a:latin typeface="Arial"/>
                <a:ea typeface="Arial"/>
                <a:cs typeface="Arial"/>
                <a:sym typeface="Arial"/>
              </a:rPr>
              <a:t>solid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0451A5"/>
                </a:solidFill>
                <a:latin typeface="Arial"/>
                <a:ea typeface="Arial"/>
                <a:cs typeface="Arial"/>
                <a:sym typeface="Arial"/>
              </a:rPr>
              <a:t>#ccc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  </a:t>
            </a:r>
            <a:r>
              <a:rPr b="0" i="0" lang="en-US" sz="1400" u="none" cap="none" strike="noStrike">
                <a:solidFill>
                  <a:srgbClr val="E50000"/>
                </a:solidFill>
                <a:latin typeface="Arial"/>
                <a:ea typeface="Arial"/>
                <a:cs typeface="Arial"/>
                <a:sym typeface="Arial"/>
              </a:rPr>
              <a:t>border-collapse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1400" u="none" cap="none" strike="noStrike">
                <a:solidFill>
                  <a:srgbClr val="0451A5"/>
                </a:solidFill>
                <a:latin typeface="Arial"/>
                <a:ea typeface="Arial"/>
                <a:cs typeface="Arial"/>
                <a:sym typeface="Arial"/>
              </a:rPr>
              <a:t>collapse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 </a:t>
            </a:r>
            <a:r>
              <a:rPr b="0" i="0" lang="en-US" sz="1400" u="none" cap="none" strike="noStrike">
                <a:solidFill>
                  <a:srgbClr val="E50000"/>
                </a:solidFill>
                <a:latin typeface="Arial"/>
                <a:ea typeface="Arial"/>
                <a:cs typeface="Arial"/>
                <a:sym typeface="Arial"/>
              </a:rPr>
              <a:t>padding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14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10px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400" u="none" cap="none" strike="noStrike">
                <a:solidFill>
                  <a:srgbClr val="098658"/>
                </a:solidFill>
                <a:latin typeface="Arial"/>
                <a:ea typeface="Arial"/>
                <a:cs typeface="Arial"/>
                <a:sym typeface="Arial"/>
              </a:rPr>
              <a:t>20px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}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b="0" i="0" lang="en-US" sz="1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&lt;/style&gt;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&lt;/head&gt;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3a5eab6e381_0_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52252" y="2917475"/>
            <a:ext cx="3858647" cy="2236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테이블 경계</a:t>
            </a:r>
            <a:endParaRPr/>
          </a:p>
        </p:txBody>
      </p:sp>
      <p:sp>
        <p:nvSpPr>
          <p:cNvPr id="369" name="Google Shape;369;p40"/>
          <p:cNvSpPr txBox="1"/>
          <p:nvPr/>
        </p:nvSpPr>
        <p:spPr>
          <a:xfrm>
            <a:off x="752475" y="1181099"/>
            <a:ext cx="2762250" cy="46196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&lt;!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DOCTYPE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table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="1"&gt;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홍길동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98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김철수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80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table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body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html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a1c118e" id="370" name="Google Shape;37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4963" y="2481261"/>
            <a:ext cx="4579919" cy="152876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0"/>
          <p:cNvSpPr/>
          <p:nvPr/>
        </p:nvSpPr>
        <p:spPr>
          <a:xfrm>
            <a:off x="876300" y="2000249"/>
            <a:ext cx="2181225" cy="200025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0"/>
          <p:cNvSpPr/>
          <p:nvPr/>
        </p:nvSpPr>
        <p:spPr>
          <a:xfrm>
            <a:off x="3048000" y="1976749"/>
            <a:ext cx="1362075" cy="1309376"/>
          </a:xfrm>
          <a:custGeom>
            <a:rect b="b" l="l" r="r" t="t"/>
            <a:pathLst>
              <a:path extrusionOk="0" h="1309376" w="1362075">
                <a:moveTo>
                  <a:pt x="0" y="128276"/>
                </a:moveTo>
                <a:cubicBezTo>
                  <a:pt x="254000" y="30645"/>
                  <a:pt x="508000" y="-66986"/>
                  <a:pt x="552450" y="61601"/>
                </a:cubicBezTo>
                <a:cubicBezTo>
                  <a:pt x="596900" y="190188"/>
                  <a:pt x="131763" y="691839"/>
                  <a:pt x="266700" y="899801"/>
                </a:cubicBezTo>
                <a:cubicBezTo>
                  <a:pt x="401637" y="1107763"/>
                  <a:pt x="881856" y="1208569"/>
                  <a:pt x="1362075" y="1309376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1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테이블 행, 열 병합</a:t>
            </a:r>
            <a:endParaRPr/>
          </a:p>
        </p:txBody>
      </p:sp>
      <p:sp>
        <p:nvSpPr>
          <p:cNvPr id="378" name="Google Shape;378;p41"/>
          <p:cNvSpPr txBox="1"/>
          <p:nvPr/>
        </p:nvSpPr>
        <p:spPr>
          <a:xfrm>
            <a:off x="238124" y="1323974"/>
            <a:ext cx="3305175" cy="4895851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table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="1"&gt;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1열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2열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3열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rowspan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="2"&gt;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1행 1열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1행 2열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1행 3열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2행 2열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2행 3열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colspan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="3"&gt;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3행 1열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td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table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a1c1195" id="379" name="Google Shape;37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1099" y="2774949"/>
            <a:ext cx="5312447" cy="165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1"/>
          <p:cNvSpPr/>
          <p:nvPr/>
        </p:nvSpPr>
        <p:spPr>
          <a:xfrm>
            <a:off x="3267075" y="3248025"/>
            <a:ext cx="666750" cy="438150"/>
          </a:xfrm>
          <a:custGeom>
            <a:rect b="b" l="l" r="r" t="t"/>
            <a:pathLst>
              <a:path extrusionOk="0" h="438150" w="666750">
                <a:moveTo>
                  <a:pt x="0" y="0"/>
                </a:moveTo>
                <a:cubicBezTo>
                  <a:pt x="88594" y="7383"/>
                  <a:pt x="90478" y="1358"/>
                  <a:pt x="152400" y="19050"/>
                </a:cubicBezTo>
                <a:cubicBezTo>
                  <a:pt x="162054" y="21808"/>
                  <a:pt x="171747" y="24620"/>
                  <a:pt x="180975" y="28575"/>
                </a:cubicBezTo>
                <a:cubicBezTo>
                  <a:pt x="297867" y="78672"/>
                  <a:pt x="151991" y="18846"/>
                  <a:pt x="247650" y="66675"/>
                </a:cubicBezTo>
                <a:cubicBezTo>
                  <a:pt x="256630" y="71165"/>
                  <a:pt x="266700" y="73025"/>
                  <a:pt x="276225" y="76200"/>
                </a:cubicBezTo>
                <a:cubicBezTo>
                  <a:pt x="330983" y="149211"/>
                  <a:pt x="277663" y="86924"/>
                  <a:pt x="333375" y="133350"/>
                </a:cubicBezTo>
                <a:cubicBezTo>
                  <a:pt x="406714" y="194466"/>
                  <a:pt x="319579" y="133677"/>
                  <a:pt x="390525" y="180975"/>
                </a:cubicBezTo>
                <a:cubicBezTo>
                  <a:pt x="441325" y="282575"/>
                  <a:pt x="371475" y="161925"/>
                  <a:pt x="447675" y="238125"/>
                </a:cubicBezTo>
                <a:cubicBezTo>
                  <a:pt x="454775" y="245225"/>
                  <a:pt x="450928" y="258860"/>
                  <a:pt x="457200" y="266700"/>
                </a:cubicBezTo>
                <a:cubicBezTo>
                  <a:pt x="464351" y="275639"/>
                  <a:pt x="476460" y="279096"/>
                  <a:pt x="485775" y="285750"/>
                </a:cubicBezTo>
                <a:cubicBezTo>
                  <a:pt x="498693" y="294977"/>
                  <a:pt x="512650" y="303100"/>
                  <a:pt x="523875" y="314325"/>
                </a:cubicBezTo>
                <a:cubicBezTo>
                  <a:pt x="531970" y="322420"/>
                  <a:pt x="535596" y="334106"/>
                  <a:pt x="542925" y="342900"/>
                </a:cubicBezTo>
                <a:cubicBezTo>
                  <a:pt x="551549" y="353248"/>
                  <a:pt x="562876" y="361127"/>
                  <a:pt x="571500" y="371475"/>
                </a:cubicBezTo>
                <a:cubicBezTo>
                  <a:pt x="578829" y="380269"/>
                  <a:pt x="581611" y="392899"/>
                  <a:pt x="590550" y="400050"/>
                </a:cubicBezTo>
                <a:cubicBezTo>
                  <a:pt x="598390" y="406322"/>
                  <a:pt x="610145" y="405085"/>
                  <a:pt x="619125" y="409575"/>
                </a:cubicBezTo>
                <a:cubicBezTo>
                  <a:pt x="629364" y="414695"/>
                  <a:pt x="637884" y="422735"/>
                  <a:pt x="647700" y="428625"/>
                </a:cubicBezTo>
                <a:cubicBezTo>
                  <a:pt x="653788" y="432278"/>
                  <a:pt x="660400" y="434975"/>
                  <a:pt x="666750" y="43815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1"/>
          <p:cNvSpPr/>
          <p:nvPr/>
        </p:nvSpPr>
        <p:spPr>
          <a:xfrm>
            <a:off x="3095625" y="4295775"/>
            <a:ext cx="904875" cy="1314450"/>
          </a:xfrm>
          <a:custGeom>
            <a:rect b="b" l="l" r="r" t="t"/>
            <a:pathLst>
              <a:path extrusionOk="0" h="1314450" w="904875">
                <a:moveTo>
                  <a:pt x="0" y="1314450"/>
                </a:moveTo>
                <a:cubicBezTo>
                  <a:pt x="15875" y="1311275"/>
                  <a:pt x="32266" y="1310045"/>
                  <a:pt x="47625" y="1304925"/>
                </a:cubicBezTo>
                <a:cubicBezTo>
                  <a:pt x="61095" y="1300435"/>
                  <a:pt x="73549" y="1293180"/>
                  <a:pt x="85725" y="1285875"/>
                </a:cubicBezTo>
                <a:cubicBezTo>
                  <a:pt x="113285" y="1269339"/>
                  <a:pt x="150689" y="1246881"/>
                  <a:pt x="171450" y="1219200"/>
                </a:cubicBezTo>
                <a:cubicBezTo>
                  <a:pt x="182558" y="1204389"/>
                  <a:pt x="190086" y="1187194"/>
                  <a:pt x="200025" y="1171575"/>
                </a:cubicBezTo>
                <a:cubicBezTo>
                  <a:pt x="212317" y="1152259"/>
                  <a:pt x="227886" y="1134903"/>
                  <a:pt x="238125" y="1114425"/>
                </a:cubicBezTo>
                <a:cubicBezTo>
                  <a:pt x="250825" y="1089025"/>
                  <a:pt x="253507" y="1055264"/>
                  <a:pt x="276225" y="1038225"/>
                </a:cubicBezTo>
                <a:lnTo>
                  <a:pt x="314325" y="1009650"/>
                </a:lnTo>
                <a:cubicBezTo>
                  <a:pt x="336973" y="941706"/>
                  <a:pt x="304859" y="1023849"/>
                  <a:pt x="352425" y="952500"/>
                </a:cubicBezTo>
                <a:cubicBezTo>
                  <a:pt x="357994" y="944146"/>
                  <a:pt x="357460" y="932905"/>
                  <a:pt x="361950" y="923925"/>
                </a:cubicBezTo>
                <a:cubicBezTo>
                  <a:pt x="367070" y="913686"/>
                  <a:pt x="374650" y="904875"/>
                  <a:pt x="381000" y="895350"/>
                </a:cubicBezTo>
                <a:cubicBezTo>
                  <a:pt x="384175" y="882650"/>
                  <a:pt x="383018" y="867974"/>
                  <a:pt x="390525" y="857250"/>
                </a:cubicBezTo>
                <a:cubicBezTo>
                  <a:pt x="405975" y="835179"/>
                  <a:pt x="447675" y="800100"/>
                  <a:pt x="447675" y="800100"/>
                </a:cubicBezTo>
                <a:cubicBezTo>
                  <a:pt x="466778" y="742792"/>
                  <a:pt x="442966" y="800029"/>
                  <a:pt x="485775" y="742950"/>
                </a:cubicBezTo>
                <a:cubicBezTo>
                  <a:pt x="496883" y="728139"/>
                  <a:pt x="505359" y="711509"/>
                  <a:pt x="514350" y="695325"/>
                </a:cubicBezTo>
                <a:cubicBezTo>
                  <a:pt x="540081" y="649009"/>
                  <a:pt x="527361" y="670155"/>
                  <a:pt x="542925" y="628650"/>
                </a:cubicBezTo>
                <a:cubicBezTo>
                  <a:pt x="548928" y="612641"/>
                  <a:pt x="556568" y="597245"/>
                  <a:pt x="561975" y="581025"/>
                </a:cubicBezTo>
                <a:cubicBezTo>
                  <a:pt x="566115" y="568606"/>
                  <a:pt x="564238" y="553817"/>
                  <a:pt x="571500" y="542925"/>
                </a:cubicBezTo>
                <a:cubicBezTo>
                  <a:pt x="577850" y="533400"/>
                  <a:pt x="590550" y="530225"/>
                  <a:pt x="600075" y="523875"/>
                </a:cubicBezTo>
                <a:cubicBezTo>
                  <a:pt x="619207" y="495177"/>
                  <a:pt x="623673" y="491037"/>
                  <a:pt x="638175" y="457200"/>
                </a:cubicBezTo>
                <a:cubicBezTo>
                  <a:pt x="642130" y="447972"/>
                  <a:pt x="642824" y="437402"/>
                  <a:pt x="647700" y="428625"/>
                </a:cubicBezTo>
                <a:cubicBezTo>
                  <a:pt x="658819" y="408611"/>
                  <a:pt x="678560" y="393195"/>
                  <a:pt x="685800" y="371475"/>
                </a:cubicBezTo>
                <a:cubicBezTo>
                  <a:pt x="709741" y="299651"/>
                  <a:pt x="677446" y="388183"/>
                  <a:pt x="714375" y="314325"/>
                </a:cubicBezTo>
                <a:cubicBezTo>
                  <a:pt x="718865" y="305345"/>
                  <a:pt x="720375" y="295151"/>
                  <a:pt x="723900" y="285750"/>
                </a:cubicBezTo>
                <a:cubicBezTo>
                  <a:pt x="729903" y="269741"/>
                  <a:pt x="735304" y="253418"/>
                  <a:pt x="742950" y="238125"/>
                </a:cubicBezTo>
                <a:cubicBezTo>
                  <a:pt x="748070" y="227886"/>
                  <a:pt x="756880" y="219789"/>
                  <a:pt x="762000" y="209550"/>
                </a:cubicBezTo>
                <a:cubicBezTo>
                  <a:pt x="766490" y="200570"/>
                  <a:pt x="767035" y="189955"/>
                  <a:pt x="771525" y="180975"/>
                </a:cubicBezTo>
                <a:cubicBezTo>
                  <a:pt x="776645" y="170736"/>
                  <a:pt x="785455" y="162639"/>
                  <a:pt x="790575" y="152400"/>
                </a:cubicBezTo>
                <a:cubicBezTo>
                  <a:pt x="795065" y="143420"/>
                  <a:pt x="794531" y="132179"/>
                  <a:pt x="800100" y="123825"/>
                </a:cubicBezTo>
                <a:cubicBezTo>
                  <a:pt x="807572" y="112617"/>
                  <a:pt x="820051" y="105598"/>
                  <a:pt x="828675" y="95250"/>
                </a:cubicBezTo>
                <a:cubicBezTo>
                  <a:pt x="836004" y="86456"/>
                  <a:pt x="840396" y="75469"/>
                  <a:pt x="847725" y="66675"/>
                </a:cubicBezTo>
                <a:cubicBezTo>
                  <a:pt x="856349" y="56327"/>
                  <a:pt x="867676" y="48448"/>
                  <a:pt x="876300" y="38100"/>
                </a:cubicBezTo>
                <a:cubicBezTo>
                  <a:pt x="930152" y="-26522"/>
                  <a:pt x="874582" y="30293"/>
                  <a:pt x="904875" y="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1"/>
          <p:cNvSpPr/>
          <p:nvPr/>
        </p:nvSpPr>
        <p:spPr>
          <a:xfrm>
            <a:off x="3829050" y="3467100"/>
            <a:ext cx="647700" cy="581025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1"/>
          <p:cNvSpPr/>
          <p:nvPr/>
        </p:nvSpPr>
        <p:spPr>
          <a:xfrm>
            <a:off x="3829049" y="4048126"/>
            <a:ext cx="2028825" cy="24765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7700" y="4525477"/>
            <a:ext cx="3473638" cy="1029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7700" y="5699866"/>
            <a:ext cx="3517711" cy="1051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2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테이블 캡션</a:t>
            </a:r>
            <a:endParaRPr/>
          </a:p>
        </p:txBody>
      </p:sp>
      <p:sp>
        <p:nvSpPr>
          <p:cNvPr id="391" name="Google Shape;391;p42"/>
          <p:cNvSpPr txBox="1"/>
          <p:nvPr/>
        </p:nvSpPr>
        <p:spPr>
          <a:xfrm>
            <a:off x="238124" y="1323975"/>
            <a:ext cx="3305175" cy="332422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table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1400" u="none" cap="none" strike="noStrike">
                <a:solidFill>
                  <a:srgbClr val="FF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border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="1"&gt;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caption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최근에 본 영화들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caption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영화제목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연도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감독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평가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th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    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tr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rgbClr val="000000"/>
              </a:solidFill>
              <a:highlight>
                <a:srgbClr val="FFFFFF"/>
              </a:highlight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&lt;/</a:t>
            </a:r>
            <a:r>
              <a:rPr b="0" i="0" lang="en-US" sz="1400" u="none" cap="none" strike="noStrike">
                <a:solidFill>
                  <a:srgbClr val="800000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table</a:t>
            </a:r>
            <a:r>
              <a:rPr b="0" i="0" lang="en-US" sz="1400" u="none" cap="none" strike="noStrike">
                <a:solidFill>
                  <a:srgbClr val="0000FF"/>
                </a:solidFill>
                <a:highlight>
                  <a:srgbClr val="FFFFFF"/>
                </a:highlight>
                <a:latin typeface="Century Schoolbook"/>
                <a:ea typeface="Century Schoolbook"/>
                <a:cs typeface="Century Schoolbook"/>
                <a:sym typeface="Century Schoolbook"/>
              </a:rPr>
              <a:t>&gt;</a:t>
            </a:r>
            <a:endParaRPr b="0" i="0" sz="1400" u="none" cap="none" strike="noStrik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EMB00001a1c119b" id="392" name="Google Shape;39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1264" y="2686845"/>
            <a:ext cx="5021262" cy="1639764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2"/>
          <p:cNvSpPr/>
          <p:nvPr/>
        </p:nvSpPr>
        <p:spPr>
          <a:xfrm>
            <a:off x="2438400" y="1962150"/>
            <a:ext cx="2190750" cy="1367429"/>
          </a:xfrm>
          <a:custGeom>
            <a:rect b="b" l="l" r="r" t="t"/>
            <a:pathLst>
              <a:path extrusionOk="0" h="1367429" w="2190750">
                <a:moveTo>
                  <a:pt x="0" y="0"/>
                </a:moveTo>
                <a:cubicBezTo>
                  <a:pt x="22225" y="15875"/>
                  <a:pt x="43083" y="33863"/>
                  <a:pt x="66675" y="47625"/>
                </a:cubicBezTo>
                <a:cubicBezTo>
                  <a:pt x="81444" y="56240"/>
                  <a:pt x="99007" y="59029"/>
                  <a:pt x="114300" y="66675"/>
                </a:cubicBezTo>
                <a:cubicBezTo>
                  <a:pt x="130859" y="74954"/>
                  <a:pt x="145563" y="86588"/>
                  <a:pt x="161925" y="95250"/>
                </a:cubicBezTo>
                <a:cubicBezTo>
                  <a:pt x="199572" y="115181"/>
                  <a:pt x="239240" y="131266"/>
                  <a:pt x="276225" y="152400"/>
                </a:cubicBezTo>
                <a:cubicBezTo>
                  <a:pt x="327420" y="181654"/>
                  <a:pt x="407311" y="228942"/>
                  <a:pt x="457200" y="247650"/>
                </a:cubicBezTo>
                <a:cubicBezTo>
                  <a:pt x="583973" y="295190"/>
                  <a:pt x="487455" y="253762"/>
                  <a:pt x="581025" y="304800"/>
                </a:cubicBezTo>
                <a:cubicBezTo>
                  <a:pt x="599723" y="314999"/>
                  <a:pt x="620454" y="321561"/>
                  <a:pt x="638175" y="333375"/>
                </a:cubicBezTo>
                <a:cubicBezTo>
                  <a:pt x="649383" y="340847"/>
                  <a:pt x="655974" y="353868"/>
                  <a:pt x="666750" y="361950"/>
                </a:cubicBezTo>
                <a:cubicBezTo>
                  <a:pt x="685339" y="375891"/>
                  <a:pt x="722995" y="392946"/>
                  <a:pt x="742950" y="409575"/>
                </a:cubicBezTo>
                <a:cubicBezTo>
                  <a:pt x="753298" y="418199"/>
                  <a:pt x="762000" y="428625"/>
                  <a:pt x="771525" y="438150"/>
                </a:cubicBezTo>
                <a:cubicBezTo>
                  <a:pt x="800658" y="525550"/>
                  <a:pt x="751960" y="389495"/>
                  <a:pt x="809625" y="504825"/>
                </a:cubicBezTo>
                <a:cubicBezTo>
                  <a:pt x="815479" y="516534"/>
                  <a:pt x="814553" y="530668"/>
                  <a:pt x="819150" y="542925"/>
                </a:cubicBezTo>
                <a:cubicBezTo>
                  <a:pt x="844198" y="609721"/>
                  <a:pt x="829615" y="554330"/>
                  <a:pt x="857250" y="609600"/>
                </a:cubicBezTo>
                <a:cubicBezTo>
                  <a:pt x="896685" y="688470"/>
                  <a:pt x="831230" y="584858"/>
                  <a:pt x="885825" y="666750"/>
                </a:cubicBezTo>
                <a:cubicBezTo>
                  <a:pt x="905649" y="746044"/>
                  <a:pt x="881511" y="667646"/>
                  <a:pt x="914400" y="733425"/>
                </a:cubicBezTo>
                <a:cubicBezTo>
                  <a:pt x="918890" y="742405"/>
                  <a:pt x="919435" y="753020"/>
                  <a:pt x="923925" y="762000"/>
                </a:cubicBezTo>
                <a:cubicBezTo>
                  <a:pt x="929045" y="772239"/>
                  <a:pt x="937855" y="780336"/>
                  <a:pt x="942975" y="790575"/>
                </a:cubicBezTo>
                <a:cubicBezTo>
                  <a:pt x="947465" y="799555"/>
                  <a:pt x="948422" y="809975"/>
                  <a:pt x="952500" y="819150"/>
                </a:cubicBezTo>
                <a:cubicBezTo>
                  <a:pt x="961150" y="838613"/>
                  <a:pt x="973165" y="856525"/>
                  <a:pt x="981075" y="876300"/>
                </a:cubicBezTo>
                <a:cubicBezTo>
                  <a:pt x="987261" y="891765"/>
                  <a:pt x="990889" y="926812"/>
                  <a:pt x="1000125" y="942975"/>
                </a:cubicBezTo>
                <a:cubicBezTo>
                  <a:pt x="1016417" y="971486"/>
                  <a:pt x="1034755" y="987130"/>
                  <a:pt x="1057275" y="1009650"/>
                </a:cubicBezTo>
                <a:cubicBezTo>
                  <a:pt x="1060450" y="1019175"/>
                  <a:pt x="1060528" y="1030385"/>
                  <a:pt x="1066800" y="1038225"/>
                </a:cubicBezTo>
                <a:cubicBezTo>
                  <a:pt x="1182274" y="1182567"/>
                  <a:pt x="1092498" y="1062126"/>
                  <a:pt x="1162050" y="1123950"/>
                </a:cubicBezTo>
                <a:cubicBezTo>
                  <a:pt x="1182186" y="1141848"/>
                  <a:pt x="1193642" y="1172581"/>
                  <a:pt x="1219200" y="1181100"/>
                </a:cubicBezTo>
                <a:cubicBezTo>
                  <a:pt x="1291024" y="1205041"/>
                  <a:pt x="1202492" y="1172746"/>
                  <a:pt x="1276350" y="1209675"/>
                </a:cubicBezTo>
                <a:cubicBezTo>
                  <a:pt x="1292355" y="1217678"/>
                  <a:pt x="1327766" y="1224147"/>
                  <a:pt x="1343025" y="1228725"/>
                </a:cubicBezTo>
                <a:cubicBezTo>
                  <a:pt x="1362259" y="1234495"/>
                  <a:pt x="1381125" y="1241425"/>
                  <a:pt x="1400175" y="1247775"/>
                </a:cubicBezTo>
                <a:cubicBezTo>
                  <a:pt x="1409700" y="1250950"/>
                  <a:pt x="1418811" y="1255880"/>
                  <a:pt x="1428750" y="1257300"/>
                </a:cubicBezTo>
                <a:lnTo>
                  <a:pt x="1495425" y="1266825"/>
                </a:lnTo>
                <a:cubicBezTo>
                  <a:pt x="1514475" y="1273175"/>
                  <a:pt x="1532940" y="1281668"/>
                  <a:pt x="1552575" y="1285875"/>
                </a:cubicBezTo>
                <a:cubicBezTo>
                  <a:pt x="1577604" y="1291238"/>
                  <a:pt x="1604079" y="1288665"/>
                  <a:pt x="1628775" y="1295400"/>
                </a:cubicBezTo>
                <a:cubicBezTo>
                  <a:pt x="1639819" y="1298412"/>
                  <a:pt x="1645991" y="1313030"/>
                  <a:pt x="1657350" y="1314450"/>
                </a:cubicBezTo>
                <a:cubicBezTo>
                  <a:pt x="1723585" y="1322729"/>
                  <a:pt x="1790700" y="1320800"/>
                  <a:pt x="1857375" y="1323975"/>
                </a:cubicBezTo>
                <a:cubicBezTo>
                  <a:pt x="1873250" y="1327150"/>
                  <a:pt x="1888922" y="1331608"/>
                  <a:pt x="1905000" y="1333500"/>
                </a:cubicBezTo>
                <a:cubicBezTo>
                  <a:pt x="1942970" y="1337967"/>
                  <a:pt x="1981588" y="1336740"/>
                  <a:pt x="2019300" y="1343025"/>
                </a:cubicBezTo>
                <a:cubicBezTo>
                  <a:pt x="2039107" y="1346326"/>
                  <a:pt x="2057400" y="1355725"/>
                  <a:pt x="2076450" y="1362075"/>
                </a:cubicBezTo>
                <a:cubicBezTo>
                  <a:pt x="2112595" y="1374123"/>
                  <a:pt x="2152650" y="1362075"/>
                  <a:pt x="2190750" y="1362075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2"/>
          <p:cNvSpPr/>
          <p:nvPr/>
        </p:nvSpPr>
        <p:spPr>
          <a:xfrm>
            <a:off x="609600" y="1628775"/>
            <a:ext cx="1914525" cy="74295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a5eab6e381_0_184"/>
          <p:cNvSpPr txBox="1"/>
          <p:nvPr>
            <p:ph type="title"/>
          </p:nvPr>
        </p:nvSpPr>
        <p:spPr>
          <a:xfrm>
            <a:off x="265747" y="136525"/>
            <a:ext cx="511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lgun Gothic"/>
              <a:buNone/>
            </a:pPr>
            <a:r>
              <a:rPr lang="en-US"/>
              <a:t>표의 구조 정의하기</a:t>
            </a:r>
            <a:endParaRPr/>
          </a:p>
        </p:txBody>
      </p:sp>
      <p:sp>
        <p:nvSpPr>
          <p:cNvPr id="400" name="Google Shape;400;g3a5eab6e381_0_184"/>
          <p:cNvSpPr/>
          <p:nvPr/>
        </p:nvSpPr>
        <p:spPr>
          <a:xfrm>
            <a:off x="402157" y="1103976"/>
            <a:ext cx="4480800" cy="2469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1" name="Google Shape;401;g3a5eab6e381_0_184"/>
          <p:cNvSpPr txBox="1"/>
          <p:nvPr/>
        </p:nvSpPr>
        <p:spPr>
          <a:xfrm>
            <a:off x="5315124" y="1103976"/>
            <a:ext cx="3349500" cy="5495100"/>
          </a:xfrm>
          <a:prstGeom prst="rect">
            <a:avLst/>
          </a:prstGeom>
          <a:noFill/>
          <a:ln cap="flat" cmpd="sng" w="9525">
            <a:solidFill>
              <a:srgbClr val="9CC2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&lt;table&gt;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&lt;caption&gt;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선물용과 가정용 상품 구성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&lt;/caption&gt;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&lt;thead&gt;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&lt;th&gt;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용도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&lt;/th&gt;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&lt;th&gt;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중량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&lt;/th&gt;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&lt;th&gt;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갯수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&lt;th&gt;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가격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&lt;/th&gt;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&lt;/thead&gt;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&lt;tbody&gt;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선물용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3kg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11~16과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35,000원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……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가정용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5kg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18~26과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&lt;td&gt;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47,000원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&lt;/td&gt;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&lt;/tr&gt;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&lt;/tbody&gt;</a:t>
            </a: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    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r>
              <a:rPr b="0" lang="en-US" sz="13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&lt;/table&gt;</a:t>
            </a:r>
            <a:endParaRPr b="0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a5eab6e381_0_184"/>
          <p:cNvSpPr txBox="1"/>
          <p:nvPr/>
        </p:nvSpPr>
        <p:spPr>
          <a:xfrm>
            <a:off x="402157" y="1151202"/>
            <a:ext cx="4339500" cy="2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94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표의 구조를 ‘제목’과 ‘본문’, ‘요약’ 부분으로 나눈다.</a:t>
            </a:r>
            <a:endParaRPr sz="1300"/>
          </a:p>
          <a:p>
            <a:pPr indent="-2794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&lt;thead&gt;, &lt;tbody&gt;, &lt;tfoot&gt; 태그 사용</a:t>
            </a:r>
            <a:endParaRPr sz="13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794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웹 브라우저 화면에서 보이지 않지만, 화면 낭독기나 자바스크립트 등에서 읽을 수 있다. 🡪 시각 장애인도 표의 구조를 쉽게 이해할 수 있다.</a:t>
            </a:r>
            <a:endParaRPr sz="1300"/>
          </a:p>
          <a:p>
            <a:pPr indent="-27940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표의 본문이 길 경우 자바스크립트를 이용해 제목과 바닥 부분을 고정하고 본문만 스크롤되도록 할 수 있다.</a:t>
            </a:r>
            <a:endParaRPr sz="1300"/>
          </a:p>
        </p:txBody>
      </p:sp>
      <p:grpSp>
        <p:nvGrpSpPr>
          <p:cNvPr id="403" name="Google Shape;403;g3a5eab6e381_0_184"/>
          <p:cNvGrpSpPr/>
          <p:nvPr/>
        </p:nvGrpSpPr>
        <p:grpSpPr>
          <a:xfrm>
            <a:off x="306773" y="3796938"/>
            <a:ext cx="3821000" cy="2612145"/>
            <a:chOff x="409031" y="3796938"/>
            <a:chExt cx="5094666" cy="2612145"/>
          </a:xfrm>
        </p:grpSpPr>
        <p:pic>
          <p:nvPicPr>
            <p:cNvPr id="404" name="Google Shape;404;g3a5eab6e381_0_1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09031" y="3796938"/>
              <a:ext cx="4765807" cy="26121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g3a5eab6e381_0_184"/>
            <p:cNvSpPr/>
            <p:nvPr/>
          </p:nvSpPr>
          <p:spPr>
            <a:xfrm>
              <a:off x="4162697" y="5947954"/>
              <a:ext cx="1341000" cy="461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테이블 예제</a:t>
            </a:r>
            <a:endParaRPr/>
          </a:p>
        </p:txBody>
      </p:sp>
      <p:pic>
        <p:nvPicPr>
          <p:cNvPr descr="EMB00001a1c11a0" id="411" name="Google Shape;41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9700" y="1676398"/>
            <a:ext cx="7248525" cy="3509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소스 </a:t>
            </a:r>
            <a:endParaRPr/>
          </a:p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733425" y="1200149"/>
            <a:ext cx="8212138" cy="5372101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table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border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="1"&gt;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colspan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="5"&gt;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평생교육원 강좌 소개 -- 2013년도 2학기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강좌 이름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강의자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소개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강좌코드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실습비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뎃생과 유화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김철수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모든 미술영역의 뼈대를 이루는 뎃생의 기본실력을 체계적으로 다루며, 유화에서는 재료를 다루는 방법에서부터 다양한 표현기법에 이르기까지 전문적인 미술인으로 입문할 수 있도록 각 개인의 수준에 맞추어 개인별, 단계별로 지도합니다.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H27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100,000원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소스 </a:t>
            </a:r>
            <a:endParaRPr/>
          </a:p>
        </p:txBody>
      </p:sp>
      <p:sp>
        <p:nvSpPr>
          <p:cNvPr id="423" name="Google Shape;423;p45"/>
          <p:cNvSpPr txBox="1"/>
          <p:nvPr>
            <p:ph idx="1" type="body"/>
          </p:nvPr>
        </p:nvSpPr>
        <p:spPr>
          <a:xfrm>
            <a:off x="733425" y="1200150"/>
            <a:ext cx="8212138" cy="46958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바이올린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홍길동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전반적인 현악기의 특성을 파악하며 기초를 다지고, 에뛰드와 곡을 접하면서 아름다운 음색의 바이올린을 연주할 수 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H28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200,000원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성악 아카데미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김호성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강의를 통해 배우고 익힌 곡을 음악회를 통하여 기량을 향상하고 무대를 경험한다.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H30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300,000원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table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소스 </a:t>
            </a:r>
            <a:endParaRPr/>
          </a:p>
        </p:txBody>
      </p:sp>
      <p:sp>
        <p:nvSpPr>
          <p:cNvPr id="429" name="Google Shape;429;p46"/>
          <p:cNvSpPr txBox="1"/>
          <p:nvPr>
            <p:ph idx="1" type="body"/>
          </p:nvPr>
        </p:nvSpPr>
        <p:spPr>
          <a:xfrm>
            <a:off x="733425" y="1200150"/>
            <a:ext cx="8212138" cy="46958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바이올린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홍길동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전반적인 현악기의 특성을 파악하며 기초를 다지고, 에뛰드와 곡을 접하면서 아름다운 음색의 바이올린을 연주할 수 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H28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200,000원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성악 아카데미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김호성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강의를 통해 배우고 익힌 곡을 음악회를 통하여 기량을 향상하고 무대를 경험한다.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H30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300,000원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table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소스 </a:t>
            </a:r>
            <a:endParaRPr/>
          </a:p>
        </p:txBody>
      </p:sp>
      <p:sp>
        <p:nvSpPr>
          <p:cNvPr id="435" name="Google Shape;435;p47"/>
          <p:cNvSpPr txBox="1"/>
          <p:nvPr>
            <p:ph idx="1" type="body"/>
          </p:nvPr>
        </p:nvSpPr>
        <p:spPr>
          <a:xfrm>
            <a:off x="733425" y="1200150"/>
            <a:ext cx="8212138" cy="46958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바이올린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홍길동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전반적인 현악기의 특성을 파악하며 기초를 다지고, 에뛰드와 곡을 접하면서 아름다운 음색의 바이올린을 연주할 수 있다.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H28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200,000원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성악 아카데미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김호성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강의를 통해 배우고 익힌 곡을 음악회를 통하여 기량을 향상하고 무대를 경험한다.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H30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300,000원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table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8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예제: 개인 홈페이지</a:t>
            </a:r>
            <a:endParaRPr/>
          </a:p>
        </p:txBody>
      </p:sp>
      <p:pic>
        <p:nvPicPr>
          <p:cNvPr id="441" name="Google Shape;44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5" y="1590675"/>
            <a:ext cx="8629650" cy="436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9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소스 </a:t>
            </a:r>
            <a:endParaRPr/>
          </a:p>
        </p:txBody>
      </p:sp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733425" y="1200150"/>
            <a:ext cx="8212138" cy="4695826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&lt;!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DOCTYPE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html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head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title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My Homepage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title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head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h2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My Homepage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h2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img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src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="programmer.png"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width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="100"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height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="100"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alt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="프로그래머 그림"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/&gt;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strong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컴퓨터 프로그래머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strong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를 꿈꾸며 열심히 공부하고 있는 1인입니다.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p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h3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현재 학습하고 있는 과목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h3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ul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li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C 언어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li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li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JAVA 언어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li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li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웹프로그래밍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a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href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="http://www.w3c.org"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target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="_blank"&gt;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W3C 사이트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a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li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ul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0"/>
          <p:cNvSpPr txBox="1"/>
          <p:nvPr>
            <p:ph type="title"/>
          </p:nvPr>
        </p:nvSpPr>
        <p:spPr>
          <a:xfrm>
            <a:off x="1125538" y="381000"/>
            <a:ext cx="7789862" cy="57150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HTML 소스 </a:t>
            </a:r>
            <a:endParaRPr/>
          </a:p>
        </p:txBody>
      </p:sp>
      <p:sp>
        <p:nvSpPr>
          <p:cNvPr id="453" name="Google Shape;453;p50"/>
          <p:cNvSpPr txBox="1"/>
          <p:nvPr>
            <p:ph idx="1" type="body"/>
          </p:nvPr>
        </p:nvSpPr>
        <p:spPr>
          <a:xfrm>
            <a:off x="742950" y="1123950"/>
            <a:ext cx="8212138" cy="5419725"/>
          </a:xfrm>
          <a:prstGeom prst="rect">
            <a:avLst/>
          </a:prstGeom>
          <a:solidFill>
            <a:srgbClr val="FFF8C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h3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이번 학기 시간표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h3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table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border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="1"&gt;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caption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    시간표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caption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FF0000"/>
                </a:solidFill>
                <a:highlight>
                  <a:srgbClr val="FFFFFF"/>
                </a:highlight>
              </a:rPr>
              <a:t>&amp;nbsp;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월요일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화요일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수요일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th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1교시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C언어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JAVA언어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JAVA언어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td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tr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…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table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body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</a:pP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&lt;/</a:t>
            </a:r>
            <a:r>
              <a:rPr lang="en-US" sz="1400">
                <a:solidFill>
                  <a:srgbClr val="800000"/>
                </a:solidFill>
                <a:highlight>
                  <a:srgbClr val="FFFFFF"/>
                </a:highlight>
              </a:rPr>
              <a:t>html</a:t>
            </a:r>
            <a:r>
              <a:rPr lang="en-US" sz="1400">
                <a:solidFill>
                  <a:srgbClr val="0000FF"/>
                </a:solidFill>
                <a:highlight>
                  <a:srgbClr val="FFFFFF"/>
                </a:highlight>
              </a:rPr>
              <a:t>&gt;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2007-06-29T06:43:39Z</dcterms:created>
  <dc:creator>천인국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