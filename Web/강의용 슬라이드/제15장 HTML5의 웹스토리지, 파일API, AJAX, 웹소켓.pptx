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6858000" cx="9144000"/>
  <p:notesSz cx="6934200" cy="9220200"/>
  <p:embeddedFontLst>
    <p:embeddedFont>
      <p:font typeface="Century Schoolbook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62" roundtripDataSignature="AMtx7mj7RR3lhPJOCFs3A3DMqyVmsnY2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customschemas.google.com/relationships/presentationmetadata" Target="metadata"/><Relationship Id="rId61" Type="http://schemas.openxmlformats.org/officeDocument/2006/relationships/font" Target="fonts/CenturySchoolbook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CenturySchoolbook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CenturySchoolbook-bold.fntdata"/><Relationship Id="rId14" Type="http://schemas.openxmlformats.org/officeDocument/2006/relationships/slide" Target="slides/slide9.xml"/><Relationship Id="rId58" Type="http://schemas.openxmlformats.org/officeDocument/2006/relationships/font" Target="fonts/CenturySchoolbook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0fc25d8f9_0_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g370fc25d8f9_0_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0fc25d8f9_0_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70fc25d8f9_0_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0fc25d8f9_0_1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370fc25d8f9_0_1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0fc25d8f9_0_1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70fc25d8f9_0_1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0fc25d8f9_0_2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70fc25d8f9_0_2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0fc25d8f9_0_3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70fc25d8f9_0_3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0fc25d8f9_0_3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70fc25d8f9_0_3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0fc25d8f9_0_4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70fc25d8f9_0_4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0fc25d8f9_0_4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70fc25d8f9_0_4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f96d9df80_0_0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6f96d9df80_0_0:notes"/>
          <p:cNvSpPr/>
          <p:nvPr>
            <p:ph idx="2" type="sldImg"/>
          </p:nvPr>
        </p:nvSpPr>
        <p:spPr>
          <a:xfrm>
            <a:off x="1155928" y="691515"/>
            <a:ext cx="46230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96d9df80_0_107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6f96d9df80_0_107:notes"/>
          <p:cNvSpPr/>
          <p:nvPr>
            <p:ph idx="2" type="sldImg"/>
          </p:nvPr>
        </p:nvSpPr>
        <p:spPr>
          <a:xfrm>
            <a:off x="1155928" y="691515"/>
            <a:ext cx="46230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f96d9df80_0_215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6f96d9df80_0_215:notes"/>
          <p:cNvSpPr/>
          <p:nvPr>
            <p:ph idx="2" type="sldImg"/>
          </p:nvPr>
        </p:nvSpPr>
        <p:spPr>
          <a:xfrm>
            <a:off x="1155928" y="691515"/>
            <a:ext cx="46230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f96d9df80_0_318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6f96d9df80_0_318:notes"/>
          <p:cNvSpPr/>
          <p:nvPr>
            <p:ph idx="2" type="sldImg"/>
          </p:nvPr>
        </p:nvSpPr>
        <p:spPr>
          <a:xfrm>
            <a:off x="1155928" y="691515"/>
            <a:ext cx="46230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0fc25d8f9_0_5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70fc25d8f9_0_5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0fc25d8f9_0_5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70fc25d8f9_0_5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0fc25d8f9_0_6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70fc25d8f9_0_6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0fc25d8f9_0_6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70fc25d8f9_0_6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0fc25d8f9_0_7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70fc25d8f9_0_7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0fc25d8f9_0_8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70fc25d8f9_0_8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0fc25d8f9_0_9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70fc25d8f9_0_9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0fc25d8f9_0_9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70fc25d8f9_0_9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0fc25d8f9_0_10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70fc25d8f9_0_10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0fc25d8f9_0_11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70fc25d8f9_0_11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0fc25d8f9_0_11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70fc25d8f9_0_11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0fc25d8f9_0_12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70fc25d8f9_0_12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0fc25d8f9_0_12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70fc25d8f9_0_12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0fc25d8f9_0_13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70fc25d8f9_0_13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0fc25d8f9_0_14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70fc25d8f9_0_14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0fc25d8f9_0_14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370fc25d8f9_0_14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0fc25d8f9_0_15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70fc25d8f9_0_15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0fc25d8f9_0_15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70fc25d8f9_0_15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0fc25d8f9_0_16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70fc25d8f9_0_16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0fc25d8f9_0_17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70fc25d8f9_0_17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0fc25d8f9_0_17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370fc25d8f9_0_17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0fc25d8f9_0_18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370fc25d8f9_0_18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0fc25d8f9_0_19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70fc25d8f9_0_19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0fc25d8f9_0_19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70fc25d8f9_0_19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0fc25d8f9_0_29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70fc25d8f9_0_29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0fc25d8f9_0_30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70fc25d8f9_0_30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70fc25d8f9_0_30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370fc25d8f9_0_30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70fc25d8f9_0_20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370fc25d8f9_0_20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70fc25d8f9_0_20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70fc25d8f9_0_20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1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2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2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2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3f1e97f78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3f1e97f78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3f1e97f78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3f1e97f78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3f1e97f78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3f1e97f78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3f1e97f78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3f1e97f78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3f1e97f78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3f1e97f78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3f1e97f78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3f1e97f78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3f1e97f78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3f1e97f78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3f1e97f78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3f1e97f78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3f1e97f78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3f1e97f78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3f1e97f78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3f1e97f78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3f1e97f78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3f1e97f78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3f1e97f78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3f1e97f78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3f1e97f78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3f1e97f78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3f1e97f78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3f1e97f78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3f1e97f78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f1e97f78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3f1e97f78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3f1e97f78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3f1e97f78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 1">
  <p:cSld name="제목 및 내용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g3a3f1e97f78_0_49"/>
          <p:cNvCxnSpPr/>
          <p:nvPr/>
        </p:nvCxnSpPr>
        <p:spPr>
          <a:xfrm>
            <a:off x="251520" y="764704"/>
            <a:ext cx="8640900" cy="0"/>
          </a:xfrm>
          <a:prstGeom prst="straightConnector1">
            <a:avLst/>
          </a:prstGeom>
          <a:noFill/>
          <a:ln cap="flat" cmpd="sng" w="4445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g3a3f1e97f78_0_49"/>
          <p:cNvSpPr txBox="1"/>
          <p:nvPr>
            <p:ph type="title"/>
          </p:nvPr>
        </p:nvSpPr>
        <p:spPr>
          <a:xfrm>
            <a:off x="457200" y="11663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a3f1e97f78_0_49"/>
          <p:cNvSpPr txBox="1"/>
          <p:nvPr>
            <p:ph idx="1" type="body"/>
          </p:nvPr>
        </p:nvSpPr>
        <p:spPr>
          <a:xfrm>
            <a:off x="468313" y="908050"/>
            <a:ext cx="8424900" cy="5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∙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∙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예제 소스코드">
  <p:cSld name="예제 소스코드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3f1e97f78_0_53"/>
          <p:cNvSpPr txBox="1"/>
          <p:nvPr>
            <p:ph type="title"/>
          </p:nvPr>
        </p:nvSpPr>
        <p:spPr>
          <a:xfrm>
            <a:off x="251520" y="202630"/>
            <a:ext cx="6275100" cy="562200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a3f1e97f78_0_53"/>
          <p:cNvSpPr txBox="1"/>
          <p:nvPr>
            <p:ph idx="1" type="body"/>
          </p:nvPr>
        </p:nvSpPr>
        <p:spPr>
          <a:xfrm>
            <a:off x="6732240" y="404664"/>
            <a:ext cx="216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Font typeface="Arial"/>
              <a:buNone/>
              <a:defRPr b="0"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9pPr>
          </a:lstStyle>
          <a:p/>
        </p:txBody>
      </p:sp>
      <p:sp>
        <p:nvSpPr>
          <p:cNvPr id="65" name="Google Shape;65;g3a3f1e97f78_0_53"/>
          <p:cNvSpPr txBox="1"/>
          <p:nvPr>
            <p:ph idx="2" type="body"/>
          </p:nvPr>
        </p:nvSpPr>
        <p:spPr>
          <a:xfrm>
            <a:off x="261864" y="737320"/>
            <a:ext cx="8630700" cy="5787900"/>
          </a:xfrm>
          <a:prstGeom prst="rect">
            <a:avLst/>
          </a:prstGeom>
          <a:noFill/>
          <a:ln cap="flat" cmpd="sng" w="381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∙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3f1e97f78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3f1e97f78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3f1e97f78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0.png"/><Relationship Id="rId4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/>
        </p:nvSpPr>
        <p:spPr>
          <a:xfrm>
            <a:off x="1495425" y="1622425"/>
            <a:ext cx="7124700" cy="1939500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15. 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HTML5의 웹스토리지, 파일API, AJAX, 웹소켓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0fc25d8f9_0_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15장의 목표</a:t>
            </a:r>
            <a:endParaRPr/>
          </a:p>
        </p:txBody>
      </p:sp>
      <p:sp>
        <p:nvSpPr>
          <p:cNvPr id="77" name="Google Shape;77;g370fc25d8f9_0_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쿠키가 왜 필요한지 이해할 수 있나요?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웹스토리지를 사용할 수 있나요?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파일 API를 이용하여서 파일을 업로드할 수 있나요?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AJAX가 무엇인지 설명할 수 있나요?</a:t>
            </a:r>
            <a:endParaRPr/>
          </a:p>
        </p:txBody>
      </p:sp>
      <p:pic>
        <p:nvPicPr>
          <p:cNvPr id="78" name="Google Shape;78;g370fc25d8f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6100" y="4562946"/>
            <a:ext cx="2107951" cy="164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0fc25d8f9_0_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HTTP 프로토콜과 쿠키 </a:t>
            </a:r>
            <a:endParaRPr/>
          </a:p>
        </p:txBody>
      </p:sp>
      <p:sp>
        <p:nvSpPr>
          <p:cNvPr id="84" name="Google Shape;84;g370fc25d8f9_0_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HTTP(HyperText Transfer Protocol)는 1996년 HTTP/1으로 등장한 이후로 약간의 변경이 있었지만, 근본적으로 “무상태” 프로토콜(stateless protocol)이다. “무상태“이라고 하면 서버가 두 요청(request) 간에 상태를 유지하지 않음을 의미한다. </a:t>
            </a:r>
            <a:endParaRPr/>
          </a:p>
        </p:txBody>
      </p:sp>
      <p:pic>
        <p:nvPicPr>
          <p:cNvPr id="85" name="Google Shape;85;g370fc25d8f9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7962" y="2865563"/>
            <a:ext cx="701992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0fc25d8f9_0_1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상태 프로토콜의 이해</a:t>
            </a:r>
            <a:endParaRPr/>
          </a:p>
        </p:txBody>
      </p:sp>
      <p:sp>
        <p:nvSpPr>
          <p:cNvPr id="91" name="Google Shape;91;g370fc25d8f9_0_1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우리가 백화점에서 TV를 구매한다고 하자. 다음과 같은 대화가 오갈 수 있다. 백화점 직원은 상태를 기억하고 있다.</a:t>
            </a:r>
            <a:endParaRPr/>
          </a:p>
        </p:txBody>
      </p:sp>
      <p:pic>
        <p:nvPicPr>
          <p:cNvPr id="92" name="Google Shape;92;g370fc25d8f9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1723" y="2749486"/>
            <a:ext cx="6020555" cy="2786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0fc25d8f9_0_1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무상태 프로토콜의 이해</a:t>
            </a:r>
            <a:endParaRPr/>
          </a:p>
        </p:txBody>
      </p:sp>
      <p:sp>
        <p:nvSpPr>
          <p:cNvPr id="98" name="Google Shape;98;g370fc25d8f9_0_1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하지만 어떤 직원은 기억력에 문제가 있어 직전의 대화를 기억하지 못한다고 하자. 다음과 같이 혼란이 발생할 것이다.</a:t>
            </a:r>
            <a:endParaRPr/>
          </a:p>
        </p:txBody>
      </p:sp>
      <p:pic>
        <p:nvPicPr>
          <p:cNvPr id="99" name="Google Shape;99;g370fc25d8f9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0776" y="2735932"/>
            <a:ext cx="6002449" cy="271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0fc25d8f9_0_2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쿠키(cookie)란 무엇인가?</a:t>
            </a:r>
            <a:endParaRPr/>
          </a:p>
        </p:txBody>
      </p:sp>
      <p:sp>
        <p:nvSpPr>
          <p:cNvPr id="105" name="Google Shape;105;g370fc25d8f9_0_2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애플리케이션은 클라이언트 컴퓨터에 무엇인가를 저장할 필요가 있다. 예를 들어서 장바구니에 담긴 물건이나 자신이 방문한 횟수와 같은 정보들을 저장할 필요가 있는 것이다. 이전에는 이것을 쿠키(cookie)로 해결하였다.</a:t>
            </a:r>
            <a:endParaRPr/>
          </a:p>
        </p:txBody>
      </p:sp>
      <p:pic>
        <p:nvPicPr>
          <p:cNvPr id="106" name="Google Shape;106;g370fc25d8f9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998" y="2928415"/>
            <a:ext cx="5758005" cy="2606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0fc25d8f9_0_3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쿠키의 특징</a:t>
            </a:r>
            <a:endParaRPr/>
          </a:p>
        </p:txBody>
      </p:sp>
      <p:sp>
        <p:nvSpPr>
          <p:cNvPr id="112" name="Google Shape;112;g370fc25d8f9_0_3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 서버에서 사용자의 웹 브라우저로 보내지는 데이터이다.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쿠키는 단순한 텍스트 데이터이다. 이진 데이터가 아니다.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쿠키는 브라우저에 의해 사용자의 컴퓨터(디스크)에 저장된다.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웹사이트는 자체 쿠키만 읽을 수 있다. 다른 웹사이트의 쿠키를 읽을 수 없다. 이 보안은 브라우저에 의해 보장된다.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쿠키는 다른 브라우저 간에 공유되지 않는다. 즉, 동일한 도메인이라도 한 브라우저는 다른 브라우저에 저장된 쿠키를 읽을 수 없다.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HTTP 프로토콜에 따라 쿠키의 크기는 4KB를 초과할 수 없다.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0fc25d8f9_0_3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크롬에서 쿠키 보는 방법</a:t>
            </a:r>
            <a:endParaRPr/>
          </a:p>
        </p:txBody>
      </p:sp>
      <p:pic>
        <p:nvPicPr>
          <p:cNvPr id="118" name="Google Shape;118;g370fc25d8f9_0_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775" y="1815244"/>
            <a:ext cx="8153400" cy="40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0fc25d8f9_0_4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쿠키가 필요한 이유</a:t>
            </a:r>
            <a:endParaRPr/>
          </a:p>
        </p:txBody>
      </p:sp>
      <p:sp>
        <p:nvSpPr>
          <p:cNvPr id="124" name="Google Shape;124;g370fc25d8f9_0_4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인증 (세션 관리)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 추적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개인화 (테마, 언어 선택 등)</a:t>
            </a:r>
            <a:endParaRPr/>
          </a:p>
        </p:txBody>
      </p:sp>
      <p:pic>
        <p:nvPicPr>
          <p:cNvPr id="125" name="Google Shape;125;g370fc25d8f9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287" y="2935543"/>
            <a:ext cx="6174464" cy="2738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0fc25d8f9_0_4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쿠키의 동작 과정</a:t>
            </a:r>
            <a:endParaRPr/>
          </a:p>
        </p:txBody>
      </p:sp>
      <p:sp>
        <p:nvSpPr>
          <p:cNvPr id="131" name="Google Shape;131;g370fc25d8f9_0_4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lang="en-US" sz="1600"/>
              <a:t>① 브라우저는 웹 서버에 HTTP 요청을 보낸다.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80"/>
              <a:buNone/>
            </a:pPr>
            <a:r>
              <a:rPr lang="en-US" sz="1600"/>
              <a:t>② 웹 서버에 요청이 도착하면 서버 측 코드가 사용자 이름과 암호를 확인한다. 로그인이 성공하면 서버는 일종의 세션 아이디 역할을 하는 쿠키를 포함한 HTML 페이지를 보낸다.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80"/>
              <a:buNone/>
            </a:pPr>
            <a:r>
              <a:rPr lang="en-US" sz="1600"/>
              <a:t>③ 이 쿠키는 Set-Cookie 헤더를 사용하는 HTTP 응답의 일부로 전송된다.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80"/>
              <a:buNone/>
            </a:pPr>
            <a:r>
              <a:rPr lang="en-US" sz="1600"/>
              <a:t>④ 브라우저는 이 쿠키를 디스크에 저장한다.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80"/>
              <a:buNone/>
            </a:pPr>
            <a:r>
              <a:rPr lang="en-US" sz="1600"/>
              <a:t>⑤ 이제 사용자가 웹 서버의 다른 페이지로 이동하면 브라우저가 HTTP 요청의 일부로 이 쿠키를 자동으로 보낸다.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80"/>
              <a:buNone/>
            </a:pPr>
            <a:r>
              <a:rPr lang="en-US" sz="1600"/>
              <a:t>⑥ 웹 서버는 이 쿠키를 읽고 유효성을 식별한다. </a:t>
            </a:r>
            <a:endParaRPr/>
          </a:p>
        </p:txBody>
      </p:sp>
      <p:pic>
        <p:nvPicPr>
          <p:cNvPr id="132" name="Google Shape;132;g370fc25d8f9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988" y="4203483"/>
            <a:ext cx="7116024" cy="2425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f96d9df80_0_0"/>
          <p:cNvSpPr txBox="1"/>
          <p:nvPr>
            <p:ph type="title"/>
          </p:nvPr>
        </p:nvSpPr>
        <p:spPr>
          <a:xfrm>
            <a:off x="457200" y="11663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/>
              <a:t>       </a:t>
            </a:r>
            <a:r>
              <a:rPr lang="en-US">
                <a:solidFill>
                  <a:schemeClr val="dk1"/>
                </a:solidFill>
              </a:rPr>
              <a:t>쿠키 COOKIE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8" name="Google Shape;138;g36f96d9df80_0_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252" y="1479906"/>
            <a:ext cx="7357500" cy="39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6f96d9df80_0_0"/>
          <p:cNvSpPr txBox="1"/>
          <p:nvPr/>
        </p:nvSpPr>
        <p:spPr>
          <a:xfrm>
            <a:off x="964138" y="5620692"/>
            <a:ext cx="529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[그림] 쿠키의 개념과 관련 정보의 처리 장소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f96d9df80_0_107"/>
          <p:cNvSpPr txBox="1"/>
          <p:nvPr>
            <p:ph type="title"/>
          </p:nvPr>
        </p:nvSpPr>
        <p:spPr>
          <a:xfrm>
            <a:off x="251520" y="1117030"/>
            <a:ext cx="6275100" cy="562200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예제 setcooke()함수를 이용한 쿠키 생성</a:t>
            </a:r>
            <a:endParaRPr/>
          </a:p>
        </p:txBody>
      </p:sp>
      <p:sp>
        <p:nvSpPr>
          <p:cNvPr id="145" name="Google Shape;145;g36f96d9df80_0_107"/>
          <p:cNvSpPr txBox="1"/>
          <p:nvPr>
            <p:ph idx="1" type="body"/>
          </p:nvPr>
        </p:nvSpPr>
        <p:spPr>
          <a:xfrm>
            <a:off x="6732240" y="1319064"/>
            <a:ext cx="216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1600"/>
              <a:buFont typeface="Arial"/>
              <a:buNone/>
            </a:pPr>
            <a:r>
              <a:rPr lang="en-US"/>
              <a:t>cookie1.php</a:t>
            </a:r>
            <a:endParaRPr/>
          </a:p>
        </p:txBody>
      </p:sp>
      <p:sp>
        <p:nvSpPr>
          <p:cNvPr id="146" name="Google Shape;146;g36f96d9df80_0_107"/>
          <p:cNvSpPr txBox="1"/>
          <p:nvPr>
            <p:ph idx="2" type="body"/>
          </p:nvPr>
        </p:nvSpPr>
        <p:spPr>
          <a:xfrm>
            <a:off x="261875" y="1651725"/>
            <a:ext cx="8630700" cy="4677900"/>
          </a:xfrm>
          <a:prstGeom prst="rect">
            <a:avLst/>
          </a:prstGeom>
          <a:noFill/>
          <a:ln cap="flat" cmpd="sng" w="381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01 &lt;?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02   $a=setcookie("userid", "kdhong");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03   $b=setcookie("username","홍길동", time()+60);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04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05   if($a and $b)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06  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07     echo "쿠키 'userid'와 'username' 생성 완료!&lt;br&gt;";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08     echo "쿠키 'username'은 60초(1분)간 지속됨!";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09 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10 ?&gt;</a:t>
            </a:r>
            <a:endParaRPr/>
          </a:p>
        </p:txBody>
      </p:sp>
      <p:pic>
        <p:nvPicPr>
          <p:cNvPr descr="그림 8-2.bmp" id="147" name="Google Shape;147;g36f96d9df80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7609" y="4022954"/>
            <a:ext cx="5944954" cy="205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f96d9df80_0_215"/>
          <p:cNvSpPr txBox="1"/>
          <p:nvPr>
            <p:ph type="title"/>
          </p:nvPr>
        </p:nvSpPr>
        <p:spPr>
          <a:xfrm>
            <a:off x="457200" y="116632"/>
            <a:ext cx="822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/>
              <a:t>      </a:t>
            </a:r>
            <a:r>
              <a:rPr lang="en-US">
                <a:solidFill>
                  <a:schemeClr val="dk1"/>
                </a:solidFill>
              </a:rPr>
              <a:t>세션 SESSION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3" name="Google Shape;153;g36f96d9df80_0_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47" y="1709978"/>
            <a:ext cx="7429552" cy="359140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6f96d9df80_0_215"/>
          <p:cNvSpPr txBox="1"/>
          <p:nvPr/>
        </p:nvSpPr>
        <p:spPr>
          <a:xfrm>
            <a:off x="851315" y="5269736"/>
            <a:ext cx="529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[그림] 세션의 개념과 관련 정보의 처리 장소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f96d9df80_0_318"/>
          <p:cNvSpPr txBox="1"/>
          <p:nvPr>
            <p:ph type="title"/>
          </p:nvPr>
        </p:nvSpPr>
        <p:spPr>
          <a:xfrm>
            <a:off x="251520" y="1117030"/>
            <a:ext cx="6275100" cy="562200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예제. 세션의 활성화와 등록</a:t>
            </a:r>
            <a:endParaRPr/>
          </a:p>
        </p:txBody>
      </p:sp>
      <p:sp>
        <p:nvSpPr>
          <p:cNvPr id="160" name="Google Shape;160;g36f96d9df80_0_318"/>
          <p:cNvSpPr txBox="1"/>
          <p:nvPr>
            <p:ph idx="1" type="body"/>
          </p:nvPr>
        </p:nvSpPr>
        <p:spPr>
          <a:xfrm>
            <a:off x="6732240" y="1319064"/>
            <a:ext cx="216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1600"/>
              <a:buFont typeface="Arial"/>
              <a:buNone/>
            </a:pPr>
            <a:r>
              <a:rPr lang="en-US"/>
              <a:t>session1.php</a:t>
            </a:r>
            <a:endParaRPr/>
          </a:p>
        </p:txBody>
      </p:sp>
      <p:sp>
        <p:nvSpPr>
          <p:cNvPr id="161" name="Google Shape;161;g36f96d9df80_0_318"/>
          <p:cNvSpPr txBox="1"/>
          <p:nvPr>
            <p:ph idx="2" type="body"/>
          </p:nvPr>
        </p:nvSpPr>
        <p:spPr>
          <a:xfrm>
            <a:off x="261875" y="1651724"/>
            <a:ext cx="8630700" cy="4838700"/>
          </a:xfrm>
          <a:prstGeom prst="rect">
            <a:avLst/>
          </a:prstGeom>
          <a:noFill/>
          <a:ln cap="flat" cmpd="sng" w="381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01 &lt;?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02   session_start();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03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04   echo "세션 시작!!!&lt;p&gt;";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05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06   $_SESSION['userid'] = "kdhong";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07   $_SESSION['username'] = "홍길동";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08   $_SESSION['time'] = time();     // time()은 현재 시간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09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10   echo "3개의 세션 변수 등록 완료!!!&lt;br&gt;";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11   echo $_SESSION['userid']."&lt;br&gt;";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12   echo $_SESSION['username']."&lt;br&gt;";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13   echo $_SESSION['time']."&lt;br&gt;";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/>
              <a:t>14 ?&gt;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descr="[그림 8-8] 수정.jpg" id="162" name="Google Shape;162;g36f96d9df80_0_3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8534" y="4077963"/>
            <a:ext cx="4367862" cy="223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0fc25d8f9_0_5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웹스토리지(web storage) 는 클라이언트 컴퓨터에 데이터를 저장하는 메카니즘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웹스토리지는 쿠키보다 안전하고 속도도 빠르다.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약 5MB 정도까지 저장이 가능하다.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데이터는 키/값(key/value)의 쌍으로 저장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EMB000011b45092" id="168" name="Google Shape;168;g370fc25d8f9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4673" y="3574547"/>
            <a:ext cx="4617422" cy="154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70fc25d8f9_0_5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HTML5 웹 스토리지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0fc25d8f9_0_5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∙"/>
            </a:pPr>
            <a:r>
              <a:rPr lang="en-US"/>
              <a:t>localStorage 객체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만료 날짜가 없는 데이터를 저장한다.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도메인이 다르면 서로의 로컬 스토리지에 접근할 수 없음.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∙"/>
            </a:pPr>
            <a:r>
              <a:rPr lang="en-US"/>
              <a:t>sessionStorage 객체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각 세션(하나의 윈도우)마다 데이터가 별도로 저장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해당 세션이 종료되면 데이터가 사라진다.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75" name="Google Shape;175;g370fc25d8f9_0_5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로컬 스토리지와 세션 스토리지</a:t>
            </a:r>
            <a:endParaRPr/>
          </a:p>
        </p:txBody>
      </p:sp>
      <p:pic>
        <p:nvPicPr>
          <p:cNvPr id="176" name="Google Shape;176;g370fc25d8f9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523" y="4126518"/>
            <a:ext cx="7270200" cy="226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0fc25d8f9_0_6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쿠키와 비교</a:t>
            </a:r>
            <a:endParaRPr/>
          </a:p>
        </p:txBody>
      </p:sp>
      <p:pic>
        <p:nvPicPr>
          <p:cNvPr id="182" name="Google Shape;182;g370fc25d8f9_0_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770844"/>
            <a:ext cx="8153400" cy="236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0fc25d8f9_0_6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localStorage의 사용 방법</a:t>
            </a:r>
            <a:endParaRPr/>
          </a:p>
        </p:txBody>
      </p:sp>
      <p:sp>
        <p:nvSpPr>
          <p:cNvPr id="188" name="Google Shape;188;g370fc25d8f9_0_6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localStorage을 사용하는 방법은 아주 간단하다. 전역 변수인 localStorage 객체에 .을 붙이고 원하는 변수 이름을 적은 후에 값을 저장하면 된다. </a:t>
            </a:r>
            <a:endParaRPr/>
          </a:p>
        </p:txBody>
      </p:sp>
      <p:pic>
        <p:nvPicPr>
          <p:cNvPr id="189" name="Google Shape;189;g370fc25d8f9_0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1949" y="2521641"/>
            <a:ext cx="6659956" cy="147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0fc25d8f9_0_75"/>
          <p:cNvSpPr txBox="1"/>
          <p:nvPr/>
        </p:nvSpPr>
        <p:spPr>
          <a:xfrm>
            <a:off x="553910" y="1272387"/>
            <a:ext cx="8212200" cy="3246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페이지 방문 횟수: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span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="count"&gt; &lt;/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span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번   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(!localStorage.pageLoadCount)			// (1)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localStorage.pageLoadCount = 0;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localStorage.pageLoadCount = parseInt(localStorage.pageLoadCount) + 1;	// (2)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document.getElementById(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'count'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).textContent = localStorage.pageLoadCount;	// (3)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5" name="Google Shape;195;g370fc25d8f9_0_7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pic>
        <p:nvPicPr>
          <p:cNvPr id="196" name="Google Shape;196;g370fc25d8f9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4138" y="4649453"/>
            <a:ext cx="3177765" cy="1446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70fc25d8f9_0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913" y="4657887"/>
            <a:ext cx="3177765" cy="143811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70fc25d8f9_0_7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70fc25d8f9_0_75"/>
          <p:cNvSpPr/>
          <p:nvPr/>
        </p:nvSpPr>
        <p:spPr>
          <a:xfrm>
            <a:off x="4572000" y="5170283"/>
            <a:ext cx="181200" cy="50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0fc25d8f9_0_8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로컬 스토리지 API</a:t>
            </a:r>
            <a:endParaRPr/>
          </a:p>
        </p:txBody>
      </p:sp>
      <p:pic>
        <p:nvPicPr>
          <p:cNvPr id="205" name="Google Shape;205;g370fc25d8f9_0_8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567" y="1833551"/>
            <a:ext cx="6837900" cy="25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70fc25d8f9_0_84"/>
          <p:cNvSpPr txBox="1"/>
          <p:nvPr/>
        </p:nvSpPr>
        <p:spPr>
          <a:xfrm>
            <a:off x="834575" y="4734977"/>
            <a:ext cx="7530900" cy="1467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localStorage.setItem(“pageLoadCount”,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localStorage[“pageLoadCount”]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localStorage.pageLoadCount = 0;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0fc25d8f9_0_9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localStorage 예제</a:t>
            </a:r>
            <a:endParaRPr/>
          </a:p>
        </p:txBody>
      </p:sp>
      <p:sp>
        <p:nvSpPr>
          <p:cNvPr id="212" name="Google Shape;212;g370fc25d8f9_0_90"/>
          <p:cNvSpPr txBox="1"/>
          <p:nvPr>
            <p:ph idx="1" type="body"/>
          </p:nvPr>
        </p:nvSpPr>
        <p:spPr>
          <a:xfrm>
            <a:off x="685800" y="10287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버튼을 클릭한 횟수를 localStorage에 저장하는 예제를 작성한다. </a:t>
            </a:r>
            <a:endParaRPr/>
          </a:p>
        </p:txBody>
      </p:sp>
      <p:sp>
        <p:nvSpPr>
          <p:cNvPr id="213" name="Google Shape;213;g370fc25d8f9_0_90"/>
          <p:cNvSpPr txBox="1"/>
          <p:nvPr/>
        </p:nvSpPr>
        <p:spPr>
          <a:xfrm>
            <a:off x="526750" y="1440250"/>
            <a:ext cx="8153400" cy="5350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="incrementCounter()"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="button"&gt;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눌러보세요!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="target"&gt;&lt;/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incrementCounter() {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if (typeof(Storage) !== "undefined") {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(localStorage.count)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localStorage.count++;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localStorage.count = 1;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document.getElementById(</a:t>
            </a:r>
            <a:r>
              <a:rPr b="0" i="0" lang="en-US" sz="13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localStorage.count + </a:t>
            </a:r>
            <a:r>
              <a:rPr b="0" i="0" lang="en-US" sz="13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"번 클릭하였습니다.";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document.getElementById(</a:t>
            </a:r>
            <a:r>
              <a:rPr b="0" i="0" lang="en-US" sz="13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"브라우저가 웹스토리지를 지원하지 않습니다.";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14" name="Google Shape;214;g370fc25d8f9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4708" y="3880165"/>
            <a:ext cx="2392363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70fc25d8f9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4709" y="4978085"/>
            <a:ext cx="2392363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70fc25d8f9_0_9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0fc25d8f9_0_9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sessionStorage 예제</a:t>
            </a:r>
            <a:endParaRPr/>
          </a:p>
        </p:txBody>
      </p:sp>
      <p:sp>
        <p:nvSpPr>
          <p:cNvPr id="222" name="Google Shape;222;g370fc25d8f9_0_99"/>
          <p:cNvSpPr txBox="1"/>
          <p:nvPr/>
        </p:nvSpPr>
        <p:spPr>
          <a:xfrm>
            <a:off x="495300" y="1108301"/>
            <a:ext cx="8153400" cy="4814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incrementCounter()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if (typeof(Storage) !== "undefined")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(sessionStorage.count)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sessionStorage.count++;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sessionStorage.count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sessionStorage.count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"번 클릭하였습니다.";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"브라우저가 웹스토리지를 지원하지 않습니다.";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23" name="Google Shape;223;g370fc25d8f9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5655" y="2441575"/>
            <a:ext cx="2392363" cy="98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70fc25d8f9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5655" y="3663950"/>
            <a:ext cx="2392363" cy="9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70fc25d8f9_0_9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0fc25d8f9_0_10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크롬에서의 스토리지 확인</a:t>
            </a:r>
            <a:endParaRPr/>
          </a:p>
        </p:txBody>
      </p:sp>
      <p:pic>
        <p:nvPicPr>
          <p:cNvPr id="231" name="Google Shape;231;g370fc25d8f9_0_10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1726884"/>
            <a:ext cx="8153400" cy="38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0fc25d8f9_0_11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파일 API</a:t>
            </a:r>
            <a:endParaRPr/>
          </a:p>
        </p:txBody>
      </p:sp>
      <p:sp>
        <p:nvSpPr>
          <p:cNvPr id="237" name="Google Shape;237;g370fc25d8f9_0_11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파일 API: 웹브라우저가 사용자 컴퓨터에 있는 로컬 파일들을 읽어올 수 있도록 해주는 API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PC에서 실행되는 일반적인 프로그램처럼 동작(웹 애플리케이션)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파일 API의 가장 전형적인 응용 분야는 아무래도 사용자가 파일을 선택하여서 원격 서버로 전송하는 작업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파일 API에서 사용되는 객체는 File, FileReader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File 객체는 로컬 파일 시스템에서 얻어지는 파일 데이터를 나타낸다.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FileReader 객체는 이벤트 처리를 통하여 파일의 데이터에 접근하는 메소드들을 제공하는 객체이다.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0fc25d8f9_0_11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File 객체 </a:t>
            </a:r>
            <a:endParaRPr/>
          </a:p>
        </p:txBody>
      </p:sp>
      <p:sp>
        <p:nvSpPr>
          <p:cNvPr id="243" name="Google Shape;243;g370fc25d8f9_0_117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파일 객체는 파일에 대한 정보를 가지고 있다. 그 중에서 중요한 속성은 다음과 같다.</a:t>
            </a:r>
            <a:endParaRPr/>
          </a:p>
        </p:txBody>
      </p:sp>
      <p:pic>
        <p:nvPicPr>
          <p:cNvPr id="244" name="Google Shape;244;g370fc25d8f9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1170" y="2344461"/>
            <a:ext cx="6156356" cy="216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0fc25d8f9_0_12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50" name="Google Shape;250;g370fc25d8f9_0_123"/>
          <p:cNvSpPr txBox="1"/>
          <p:nvPr/>
        </p:nvSpPr>
        <p:spPr>
          <a:xfrm>
            <a:off x="612650" y="1069826"/>
            <a:ext cx="8153400" cy="5720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 File API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readFile()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(!window.File || !window.FileReader)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alert(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'File API가 지원되지 않습니다.'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files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'input'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).files;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(!files.length)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alert(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'파일을 선택하시오!'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file = files[0];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reader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FileReader();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reader.onload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'result'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 = reader.result;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reader.readAsText(file,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"euc-kr"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0fc25d8f9_0_12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56" name="Google Shape;256;g370fc25d8f9_0_129"/>
          <p:cNvSpPr txBox="1"/>
          <p:nvPr/>
        </p:nvSpPr>
        <p:spPr>
          <a:xfrm>
            <a:off x="612648" y="1603219"/>
            <a:ext cx="8153400" cy="1825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="file"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="input"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="input"&gt;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="readfile"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="readFile()"&gt;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파일 읽기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textarea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="result"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rows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="6"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cols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="60"&gt;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textarea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7" name="Google Shape;257;g370fc25d8f9_0_12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g370fc25d8f9_0_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5522" y="3853013"/>
            <a:ext cx="5054821" cy="180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0fc25d8f9_0_13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파일 정보 표시 예제</a:t>
            </a:r>
            <a:endParaRPr/>
          </a:p>
        </p:txBody>
      </p:sp>
      <p:sp>
        <p:nvSpPr>
          <p:cNvPr id="264" name="Google Shape;264;g370fc25d8f9_0_136"/>
          <p:cNvSpPr txBox="1"/>
          <p:nvPr/>
        </p:nvSpPr>
        <p:spPr>
          <a:xfrm>
            <a:off x="612650" y="1146026"/>
            <a:ext cx="8153400" cy="3701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readFile()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files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'input'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).files;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output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 = 0, f; f = files[i]; i++)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output += f.name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"\n";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f.name - Filename 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output += f.type 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"\n"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;               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f.type - File Type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output += f.size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"bytes\n";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f.size - File Size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output += f.lastModifiedDate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"\n";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/* f.lastModifiedDate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'result'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 = output;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65" name="Google Shape;265;g370fc25d8f9_0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5628" y="5008562"/>
            <a:ext cx="3814763" cy="1468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0fc25d8f9_0_14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AJAX</a:t>
            </a:r>
            <a:endParaRPr/>
          </a:p>
        </p:txBody>
      </p:sp>
      <p:sp>
        <p:nvSpPr>
          <p:cNvPr id="271" name="Google Shape;271;g370fc25d8f9_0_14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AJAX(Asynchronous JavaScript and XML)는 브라우저가 직접 비동기 방식으로 HTTP 통신을 하여 서버와 데이터를 교환하는 기술 중의 하나이다. AJAX는 클라이언트가 서버와 적은 양의 데이터를 교환하여 비동기적으로 HTML 페이지를 업데이트할 수 있다. 이것은 전체 페이지를 다시 적재하지 않고 웹 페이지의 일부를 업데이트할 수 있다는 것을 의미한다.</a:t>
            </a:r>
            <a:endParaRPr/>
          </a:p>
        </p:txBody>
      </p:sp>
      <p:pic>
        <p:nvPicPr>
          <p:cNvPr id="272" name="Google Shape;272;g370fc25d8f9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1761" y="3178399"/>
            <a:ext cx="5640310" cy="3187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0fc25d8f9_0_14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AJAX</a:t>
            </a:r>
            <a:endParaRPr/>
          </a:p>
        </p:txBody>
      </p:sp>
      <p:sp>
        <p:nvSpPr>
          <p:cNvPr id="278" name="Google Shape;278;g370fc25d8f9_0_14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AJAX는 새로운 프로그래밍 언어가 아니라 다음과 같은 기존의 표준기술들을 현명하게 사용하는 기술이다.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HTML5(컨텐츠)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CSS3 (스타일)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자바스크립트, DOM (동적인 출력과 상호작용 담당)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XML (데이터를 전송하기 위한 형식으로 사용)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XMLHttpRequest 개체 (서버와 비동기적으로 데이터를 교환하기 위해 사용)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0fc25d8f9_0_153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기존의 웹브라우저는 서버로부터 페이지 단위로만 받을 수 있었다. 반면에 AJAX를 사용하면 XML 파일 단위로 받을 수 있다. </a:t>
            </a:r>
            <a:endParaRPr/>
          </a:p>
        </p:txBody>
      </p:sp>
      <p:sp>
        <p:nvSpPr>
          <p:cNvPr id="284" name="Google Shape;284;g370fc25d8f9_0_15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AJAX와 기존 방법의 비교</a:t>
            </a:r>
            <a:endParaRPr/>
          </a:p>
        </p:txBody>
      </p:sp>
      <p:pic>
        <p:nvPicPr>
          <p:cNvPr id="285" name="Google Shape;285;g370fc25d8f9_0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9182" y="2475934"/>
            <a:ext cx="5065637" cy="4001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0fc25d8f9_0_15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AJAX의 동작 원리</a:t>
            </a:r>
            <a:endParaRPr/>
          </a:p>
        </p:txBody>
      </p:sp>
      <p:sp>
        <p:nvSpPr>
          <p:cNvPr id="291" name="Google Shape;291;g370fc25d8f9_0_15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AJAX의 중심에 있는 기능은 페이지와 상호 작용하는 사용자를 방해하지 않으면서 비동기적으로 웹서버와 통신 할 수 있는 기능이다. XMLHttpRequest 객체를 사용하면 이것이 가능해진다. </a:t>
            </a:r>
            <a:endParaRPr/>
          </a:p>
        </p:txBody>
      </p:sp>
      <p:pic>
        <p:nvPicPr>
          <p:cNvPr id="292" name="Google Shape;292;g370fc25d8f9_0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853" y="2881047"/>
            <a:ext cx="5561728" cy="3393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0fc25d8f9_0_16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AJAX는 웹서버가 필요함</a:t>
            </a:r>
            <a:endParaRPr/>
          </a:p>
        </p:txBody>
      </p:sp>
      <p:sp>
        <p:nvSpPr>
          <p:cNvPr id="298" name="Google Shape;298;g370fc25d8f9_0_16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AJAX는 필수적으로 웹서버가 필요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VS Code의 라이브 서버를 이용한다.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testfile1.txt 파일도 같은 디렉토리에 있어야 한다.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HTTP Request - Response 실습은 실제 웹서버 필요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AWS , Dothome 같은 웹 호스팅 서버에 html 파일 업로드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PHP, JSP, Node.js, Flask 와 같은 벡엔드를 구현해야 함.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0fc25d8f9_0_17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AJAX 예제</a:t>
            </a:r>
            <a:endParaRPr/>
          </a:p>
        </p:txBody>
      </p:sp>
      <p:sp>
        <p:nvSpPr>
          <p:cNvPr id="304" name="Google Shape;304;g370fc25d8f9_0_17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“GET DATA” 버튼을 누르면, 서버로부터 데이터 파일을 받아서 화면의 일부에 표시한다. 전체 페이지는 변경되지 않는다. </a:t>
            </a:r>
            <a:endParaRPr/>
          </a:p>
        </p:txBody>
      </p:sp>
      <p:pic>
        <p:nvPicPr>
          <p:cNvPr id="305" name="Google Shape;305;g370fc25d8f9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22" y="2570384"/>
            <a:ext cx="7786249" cy="184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0fc25d8f9_0_176"/>
          <p:cNvSpPr txBox="1"/>
          <p:nvPr/>
        </p:nvSpPr>
        <p:spPr>
          <a:xfrm>
            <a:off x="685800" y="2047875"/>
            <a:ext cx="8212200" cy="4810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getFromServer() {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req =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XMLHttpRequest();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req.onload =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() {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document.getElementById(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    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.responseText;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req.open(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"GET"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"testfile1.txt", true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req.send();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"width: 300px; height: 60px; border: solid 1px black;"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&lt;/div&gt;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&lt;button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"button"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"getFromServer()"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 DATA</a:t>
            </a: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&lt;/button&gt;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5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5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1" name="Google Shape;311;g370fc25d8f9_0_176"/>
          <p:cNvSpPr txBox="1"/>
          <p:nvPr/>
        </p:nvSpPr>
        <p:spPr>
          <a:xfrm>
            <a:off x="685800" y="1333500"/>
            <a:ext cx="8212200" cy="600000"/>
          </a:xfrm>
          <a:prstGeom prst="rect">
            <a:avLst/>
          </a:prstGeom>
          <a:solidFill>
            <a:srgbClr val="E9F0F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Ajax는 Asynchronous JavaScript and XML의 약자입니다.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Ajax는 동적인 대화형 웹페이지를 만듭니다.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2" name="Google Shape;312;g370fc25d8f9_0_176"/>
          <p:cNvSpPr txBox="1"/>
          <p:nvPr/>
        </p:nvSpPr>
        <p:spPr>
          <a:xfrm>
            <a:off x="-85725" y="1011793"/>
            <a:ext cx="115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testfile.txt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70fc25d8f9_0_176"/>
          <p:cNvSpPr txBox="1"/>
          <p:nvPr/>
        </p:nvSpPr>
        <p:spPr>
          <a:xfrm>
            <a:off x="-92492" y="1933575"/>
            <a:ext cx="110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ajax.html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70fc25d8f9_0_17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0fc25d8f9_0_18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실행 결과</a:t>
            </a:r>
            <a:endParaRPr/>
          </a:p>
        </p:txBody>
      </p:sp>
      <p:sp>
        <p:nvSpPr>
          <p:cNvPr id="320" name="Google Shape;320;g370fc25d8f9_0_18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“GET DATA” 버튼을 누르면, 서버로부터 데이터 파일을 받아서 화면의 일부에 표시한다. 전체 페이지는 변경되지 않는다. </a:t>
            </a:r>
            <a:endParaRPr/>
          </a:p>
        </p:txBody>
      </p:sp>
      <p:pic>
        <p:nvPicPr>
          <p:cNvPr id="321" name="Google Shape;321;g370fc25d8f9_0_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22" y="2570384"/>
            <a:ext cx="7786249" cy="184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0fc25d8f9_0_19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onreadystatechange 이벤트</a:t>
            </a:r>
            <a:endParaRPr/>
          </a:p>
        </p:txBody>
      </p:sp>
      <p:sp>
        <p:nvSpPr>
          <p:cNvPr id="327" name="Google Shape;327;g370fc25d8f9_0_19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서버로부터 응답이 오면 onreadystatechange 이벤트가 발생한다. onreadystatechange 이벤트는 readyState가 변경될 때마다 발생된다. ReadyState 속성은 XMLHttpRequest의 현재 상태를 가지고 있다. XMLHttpRequest 객체의 세 가지 중요한 속성은 다음과 같다. </a:t>
            </a:r>
            <a:endParaRPr/>
          </a:p>
        </p:txBody>
      </p:sp>
      <p:pic>
        <p:nvPicPr>
          <p:cNvPr id="328" name="Google Shape;328;g370fc25d8f9_0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202" y="2949009"/>
            <a:ext cx="7623016" cy="3146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0fc25d8f9_0_19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fetch API</a:t>
            </a:r>
            <a:endParaRPr/>
          </a:p>
        </p:txBody>
      </p:sp>
      <p:sp>
        <p:nvSpPr>
          <p:cNvPr id="334" name="Google Shape;334;g370fc25d8f9_0_19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fetch API는 서버로부터 리소스를 가져오기 위한 인터페이스를 제공한다. AJAX와 거의 같은 기능을 제공하면서도 fetch API는 더 강력하고 유연하다.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fetch API는 요청(Request) 객체 및 응답(Response) 객체를 생성할 수 있다. fetch API는 요청 및 응답을 처리하거나, 응답을 생성해야 하는 모든 종류의 사례에 사용할 수 있다.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fetch() 함수는 window 객체에 포함된 기능이다. 따라서 window.fetch()로 호출하여도 된다. fetch() 함수의 첫 번째 인수는 URL이고, 두 번째 인수는 옵션 객체이다. fetch() 함수는 Promise 타입의 객체를 반환한다.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0fc25d8f9_0_29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JSON</a:t>
            </a:r>
            <a:endParaRPr/>
          </a:p>
        </p:txBody>
      </p:sp>
      <p:sp>
        <p:nvSpPr>
          <p:cNvPr id="340" name="Google Shape;340;g370fc25d8f9_0_29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XML 파일형식의 불편함을 개선하기 위해 등장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JSON (JavaScript Object Notation)은 텍스트-기반의 데이터 교환 형식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JSON은 자바 스크립트 언어에서 유래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JSON 형식은 Douglas Crockford에 의하여 처음으로 지정되었으며, RFC 4627에 기술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공식적인 인터넷 미디어 타입은 application/json이며 파일 이름 확장자는 .json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0fc25d8f9_0_30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JSON으로 표현된 데이터</a:t>
            </a:r>
            <a:endParaRPr/>
          </a:p>
        </p:txBody>
      </p:sp>
      <p:sp>
        <p:nvSpPr>
          <p:cNvPr id="346" name="Google Shape;346;g370fc25d8f9_0_303"/>
          <p:cNvSpPr txBox="1"/>
          <p:nvPr>
            <p:ph idx="1" type="body"/>
          </p:nvPr>
        </p:nvSpPr>
        <p:spPr>
          <a:xfrm>
            <a:off x="685800" y="1333500"/>
            <a:ext cx="8212200" cy="332430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    "name": "HongGilDong",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    "age": 25,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    "address":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        "nation": "Korea",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        "city": "Seoul",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        "postalCode": "123-456"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    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    "특기": ["검술", "무술"],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    "phone": "010-123-4567"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}</a:t>
            </a:r>
            <a:endParaRPr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70fc25d8f9_0_30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JSON의 사용</a:t>
            </a:r>
            <a:endParaRPr/>
          </a:p>
        </p:txBody>
      </p:sp>
      <p:pic>
        <p:nvPicPr>
          <p:cNvPr id="352" name="Google Shape;352;g370fc25d8f9_0_3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2563" y="2247900"/>
            <a:ext cx="623887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0fc25d8f9_0_201"/>
          <p:cNvSpPr txBox="1"/>
          <p:nvPr/>
        </p:nvSpPr>
        <p:spPr>
          <a:xfrm>
            <a:off x="685800" y="1133475"/>
            <a:ext cx="8212200" cy="4615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getFromServer()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file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"testfile1.txt"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fetch(file)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.then(response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response.text())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.then(data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document.getElementById(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data);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"width: 300px; height: 60px; border: solid 1px black;"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&lt;button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"button"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6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"getFromServer()"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 DATA</a:t>
            </a: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58" name="Google Shape;358;g370fc25d8f9_0_20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0fc25d8f9_0_20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실행 결과</a:t>
            </a:r>
            <a:endParaRPr/>
          </a:p>
        </p:txBody>
      </p:sp>
      <p:pic>
        <p:nvPicPr>
          <p:cNvPr id="364" name="Google Shape;364;g370fc25d8f9_0_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896" y="2052870"/>
            <a:ext cx="3781104" cy="1733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370fc25d8f9_0_2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4680" y="2068716"/>
            <a:ext cx="3781103" cy="1733736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70fc25d8f9_0_20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70fc25d8f9_0_206"/>
          <p:cNvSpPr/>
          <p:nvPr/>
        </p:nvSpPr>
        <p:spPr>
          <a:xfrm>
            <a:off x="4572000" y="2743200"/>
            <a:ext cx="235500" cy="47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애플리케이션 캐시</a:t>
            </a:r>
            <a:endParaRPr/>
          </a:p>
        </p:txBody>
      </p:sp>
      <p:sp>
        <p:nvSpPr>
          <p:cNvPr id="373" name="Google Shape;373;p1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애플리케이션이 사용하는 파일들을 클라이언트의 캐시(cache)에 저장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애플리케이션 캐시는 다음과 같은 세 가지 장점을 제공한다.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오프 라인 상태일 때도 사용자는 웹 애플리케이션을 사용할 수 있다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캐시된 파일은 더 빨리 로드되어서 그만큼 속도가 빨라진다.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서버 부하가 감소된다.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시계 예제</a:t>
            </a:r>
            <a:endParaRPr/>
          </a:p>
        </p:txBody>
      </p:sp>
      <p:sp>
        <p:nvSpPr>
          <p:cNvPr id="379" name="Google Shape;379;p15"/>
          <p:cNvSpPr txBox="1"/>
          <p:nvPr/>
        </p:nvSpPr>
        <p:spPr>
          <a:xfrm>
            <a:off x="685800" y="1181098"/>
            <a:ext cx="8212138" cy="2952752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 manifest="clock.appcache"&gt;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&lt;title&gt;Clock&lt;/title&gt;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 src="clock.js"&gt;&lt;/script&gt;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&lt;link rel="stylesheet" href="clock.css"&gt;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onclick="setClock()"&gt;시계시작 &lt;/button&gt;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&lt;br /&gt;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&lt;output id="clock"&gt;&lt;/output&gt;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-95251" y="926098"/>
            <a:ext cx="109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clock.html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 txBox="1"/>
          <p:nvPr/>
        </p:nvSpPr>
        <p:spPr>
          <a:xfrm>
            <a:off x="685800" y="4362450"/>
            <a:ext cx="8212200" cy="7524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output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font: 2em sans-serif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 txBox="1"/>
          <p:nvPr/>
        </p:nvSpPr>
        <p:spPr>
          <a:xfrm>
            <a:off x="-104776" y="4116973"/>
            <a:ext cx="109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clock.css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 txBox="1"/>
          <p:nvPr/>
        </p:nvSpPr>
        <p:spPr>
          <a:xfrm>
            <a:off x="685800" y="5372100"/>
            <a:ext cx="8212138" cy="124777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 setClock()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now = new Date();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document.getElementById('clock').innerHTML = now;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setTimeout('setClock()', 1000);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-104777" y="5202823"/>
            <a:ext cx="8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clock.js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실행 결과</a:t>
            </a:r>
            <a:endParaRPr/>
          </a:p>
        </p:txBody>
      </p:sp>
      <p:pic>
        <p:nvPicPr>
          <p:cNvPr descr="EMB000011b450bb" id="390" name="Google Shape;3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1375" y="1296988"/>
            <a:ext cx="5476875" cy="1102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ec\AppData\Local\Microsoft\Windows\Temporary Internet Files\Content.IE5\47V8B38M\MC900240701[1].wmf" id="391" name="Google Shape;39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683182" y="3592296"/>
            <a:ext cx="1563792" cy="1826057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6"/>
          <p:cNvSpPr/>
          <p:nvPr/>
        </p:nvSpPr>
        <p:spPr>
          <a:xfrm>
            <a:off x="504825" y="1400175"/>
            <a:ext cx="2314575" cy="1704975"/>
          </a:xfrm>
          <a:prstGeom prst="wedgeEllipseCallout">
            <a:avLst>
              <a:gd fmla="val 18673" name="adj1"/>
              <a:gd fmla="val 52444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인터넷 연결이 끊기면 시계는 동작할까요?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1" lang="en-US"/>
              <a:t>매니페스트 파일</a:t>
            </a:r>
            <a:endParaRPr/>
          </a:p>
        </p:txBody>
      </p:sp>
      <p:sp>
        <p:nvSpPr>
          <p:cNvPr id="398" name="Google Shape;398;p17"/>
          <p:cNvSpPr txBox="1"/>
          <p:nvPr/>
        </p:nvSpPr>
        <p:spPr>
          <a:xfrm>
            <a:off x="685800" y="1676398"/>
            <a:ext cx="8212138" cy="1162052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CACHE MANIFEST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clock.html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clock.css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clock.js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-95251" y="1345198"/>
            <a:ext cx="165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clock.appcache</a:t>
            </a:r>
            <a:endParaRPr b="0" i="1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1" lang="en-US"/>
              <a:t>복잡한 매니페스트 파일</a:t>
            </a:r>
            <a:endParaRPr/>
          </a:p>
        </p:txBody>
      </p:sp>
      <p:sp>
        <p:nvSpPr>
          <p:cNvPr id="405" name="Google Shape;405;p18"/>
          <p:cNvSpPr txBox="1"/>
          <p:nvPr/>
        </p:nvSpPr>
        <p:spPr>
          <a:xfrm>
            <a:off x="685800" y="1219200"/>
            <a:ext cx="8212200" cy="47706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CACHE MANIFEST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 2010-06-18:v2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 반드시 캐시해야할 파일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CACHE: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index.html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stylesheet.css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images/logo.png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scripts/main.js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 사용자가 반드시 온라인이어야 하는 리소스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NETWORK: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login.php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 만약 main.jsp 가 접근될 수 없으면 static.html로 서비스한다. 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 다른 모든 .html파일 대신에 offline.html로 서비스한다. 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FALLBACK: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/main.jsp /static.html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*.html /offline.html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웹소켓</a:t>
            </a:r>
            <a:endParaRPr/>
          </a:p>
        </p:txBody>
      </p:sp>
      <p:sp>
        <p:nvSpPr>
          <p:cNvPr id="411" name="Google Shape;411;p1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웹 소켓(Web Socket)</a:t>
            </a:r>
            <a:r>
              <a:rPr lang="en-US"/>
              <a:t>은 웹 애플리케이션을 위한 차세대 양방향 통신 기술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애플리케이션은 HTTP의 답답한 구속에서 벗어나서 TCP/IP가 제공하는 모든 기능을 사용할 수 있다. </a:t>
            </a:r>
            <a:endParaRPr/>
          </a:p>
        </p:txBody>
      </p:sp>
      <p:pic>
        <p:nvPicPr>
          <p:cNvPr id="412" name="Google Shape;4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100" y="2900364"/>
            <a:ext cx="4876800" cy="2983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685800" y="1133475"/>
            <a:ext cx="8212200" cy="5657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var ws;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function open()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if ("WebSocket" in window)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ws = new WebSocket("ws://echo.websocket.org");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ws.onopen = 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alert("웹소켓 오픈 성공");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ws.onmessage = function (evt)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var msg = evt.data;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document.getElementById("result").innerHTML = msg;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ws.onclose = 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alert("웹소켓 연결 해제");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alert("웹소켓이 지원되지 않음!");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24" name="Google Shape;424;p21"/>
          <p:cNvSpPr txBox="1"/>
          <p:nvPr/>
        </p:nvSpPr>
        <p:spPr>
          <a:xfrm>
            <a:off x="685800" y="1200147"/>
            <a:ext cx="8212138" cy="4238628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 send()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ws.send(document.getElementById("data").value);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function quit()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ws.close();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onclick="open()"&gt;웹소켓 연결&lt;/button&gt;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onclick="quit()"&gt;웹소켓 연결 종료&lt;/button&gt;&lt;br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&lt;input type="text" id="data"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onclick="send()"&gt;데이터송신&lt;/button&gt;&lt;br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에코 서버로부터 받은 데이터: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&lt;output id="result"&gt;&lt;/output&gt;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1b450c9" id="425" name="Google Shape;4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7700" y="5046662"/>
            <a:ext cx="4440238" cy="1472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2"/>
          <p:cNvSpPr txBox="1"/>
          <p:nvPr>
            <p:ph type="title"/>
          </p:nvPr>
        </p:nvSpPr>
        <p:spPr>
          <a:xfrm>
            <a:off x="1260475" y="371475"/>
            <a:ext cx="7623175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Q &amp; A</a:t>
            </a:r>
            <a:endParaRPr/>
          </a:p>
        </p:txBody>
      </p:sp>
      <p:pic>
        <p:nvPicPr>
          <p:cNvPr descr="MCj02406990000[1]" id="431" name="Google Shape;4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165020000[1]" id="432" name="Google Shape;4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