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6858000" cx="9144000"/>
  <p:notesSz cx="6934200" cy="9220200"/>
  <p:embeddedFontLst>
    <p:embeddedFont>
      <p:font typeface="Century Schoolbook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64" roundtripDataSignature="AMtx7mhChfrRn4jmk+mLCt/NP9PjxHz7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enturySchoolbook-italic.fntdata"/><Relationship Id="rId61" Type="http://schemas.openxmlformats.org/officeDocument/2006/relationships/font" Target="fonts/CenturySchoolbook-bold.fntdata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font" Target="fonts/CenturySchoolbook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CenturySchoolbook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eda921c89_0_0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eda921c89_0_0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da921c89_0_96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eda921c89_0_96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3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3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3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3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3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3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4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4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4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4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4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4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4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4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4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4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5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5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5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5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5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d0f3f067e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d0f3f067e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d0f3f067e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d0f3f067e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d0f3f067e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d0f3f067e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d0f3f067e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d0f3f067e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d0f3f067e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d0f3f067e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d0f3f067e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d0f3f067e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d0f3f067e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d0f3f067e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d0f3f067e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d0f3f067e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d0f3f067e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d0f3f067e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d0f3f067e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d0f3f067e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d0f3f067e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d0f3f067e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d0f3f067e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d0f3f067e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d0f3f067e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d0f3f067e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d0f3f067e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d0f3f067e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d0f3f067e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0f3f067e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0f3f067e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d0f3f067e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d0f3f067e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 1">
  <p:cSld name="제목만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eda921c89_0_91"/>
          <p:cNvSpPr txBox="1"/>
          <p:nvPr>
            <p:ph type="title"/>
          </p:nvPr>
        </p:nvSpPr>
        <p:spPr>
          <a:xfrm>
            <a:off x="354329" y="136525"/>
            <a:ext cx="68184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g3aeda921c89_0_91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1" name="Google Shape;61;g3aeda921c89_0_91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aeda921c89_0_91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>
            <a:lvl1pPr indent="0" lvl="0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d0f3f067e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d0f3f067e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d0f3f067e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www.google.co.kr/url?sa=i&amp;source=images&amp;cd=&amp;cad=rja&amp;docid=VXFMcC0JwGr1YM&amp;tbnid=BRwHjduIZnu-YM:&amp;ved=0CAgQjRw&amp;url=http://www.w3resource.com/html/form/HTML-form-tag-and-element.php&amp;ei=RvOvUpGrIs7OkQWr-oHwBg&amp;psig=AFQjCNFIm67zx35eeVAp6Zbm_yRI3TiAHg&amp;ust=1387349190612615" TargetMode="External"/><Relationship Id="rId4" Type="http://schemas.openxmlformats.org/officeDocument/2006/relationships/image" Target="../media/image33.jpg"/><Relationship Id="rId5" Type="http://schemas.openxmlformats.org/officeDocument/2006/relationships/hyperlink" Target="http://www.google.co.kr/url?sa=i&amp;source=images&amp;cd=&amp;cad=rja&amp;docid=ZhoLon_HwfvShM&amp;tbnid=ON9pziD78AyA5M:&amp;ved=0CAgQjRw&amp;url=http://www.w3cyberlearnings.com/HTML_form_input_password&amp;ei=jfOvUtOxHcWklQWr3oDYBw&amp;psig=AFQjCNE51zy7v9CAd2OJtd7nZEEQOrf2ng&amp;ust=1387349261590870" TargetMode="External"/><Relationship Id="rId6" Type="http://schemas.openxmlformats.org/officeDocument/2006/relationships/image" Target="../media/image3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6.png"/><Relationship Id="rId4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Relationship Id="rId4" Type="http://schemas.openxmlformats.org/officeDocument/2006/relationships/image" Target="../media/image5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1495425" y="1622425"/>
            <a:ext cx="7124564" cy="1323439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3. HTML멀티미디어와 입력요소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웹브라우저와 멀티미디어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예전 방법: HTML 안에서는 &lt;embed&gt;나 &lt;object&gt; 태그를 사용하여야 했고 웹브라우저에는 플래시나 ActiveX를 설치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HTML5: &lt;audio&gt;와 &lt;video&gt; 태그가 추가</a:t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575" y="3429000"/>
            <a:ext cx="361950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오디오</a:t>
            </a:r>
            <a:endParaRPr/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" y="1552575"/>
            <a:ext cx="760095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8435" y="3171825"/>
            <a:ext cx="216556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&lt;audio&gt; 요소의 속성</a:t>
            </a:r>
            <a:endParaRPr/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534" y="1924050"/>
            <a:ext cx="8587465" cy="2395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오디오 파일 형식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MP3 – 'MPEG-1 Audio Layer-3'의 약자로 MPEG기술의 음성 압축 기술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Wav - 윈도우에서 사용되는 표준 사운드 포맷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Ogg - 특허권을 반대하고 보다 좋은 음질을 위하여 오픈소스로 개발되었음.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오디오 예제</a:t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742950" y="1123951"/>
            <a:ext cx="8212138" cy="27241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&lt;!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DOCTYPE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audio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src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="old_pop.mp3"" autoplay controls&gt;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Your browser does not support the audio element.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audio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  <p:pic>
        <p:nvPicPr>
          <p:cNvPr descr="EMB00001a1c11bf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9" y="4157889"/>
            <a:ext cx="4325380" cy="958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1c11c0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305425"/>
            <a:ext cx="4325380" cy="1084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&lt;source&gt; 태그 사용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8" name="Google Shape;108;p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모든 브라우저가 지원하는 오디오 형식은 아직까지 없다!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호환성을 높이기 위하여 다음과 같이 한다. </a:t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628650" y="2828926"/>
            <a:ext cx="8212138" cy="290512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audio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controls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autoplay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source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="old_pop.ogg"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="audio/ogg"&gt;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source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="old_pop.mp3"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="audio/mp3"&gt;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Your browser does not support the audio element.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audio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비디오 </a:t>
            </a:r>
            <a:endParaRPr/>
          </a:p>
        </p:txBody>
      </p:sp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1409700"/>
            <a:ext cx="75628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1c11df"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9925" y="3257550"/>
            <a:ext cx="5143500" cy="3442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&lt;video&gt; 요소의 속성</a:t>
            </a:r>
            <a:endParaRPr/>
          </a:p>
        </p:txBody>
      </p:sp>
      <p:pic>
        <p:nvPicPr>
          <p:cNvPr id="122" name="Google Shape;1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1885950"/>
            <a:ext cx="7765097" cy="2805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비디오 예제</a:t>
            </a:r>
            <a:endParaRPr/>
          </a:p>
        </p:txBody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742950" y="1123951"/>
            <a:ext cx="8143875" cy="107632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video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controls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src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="movie.ogv"&gt;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Your user agent does not support the HTML5 Video element.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video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  <p:pic>
        <p:nvPicPr>
          <p:cNvPr descr="EMB00001a1c11e4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2438399"/>
            <a:ext cx="5381625" cy="354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비디오 예제</a:t>
            </a:r>
            <a:endParaRPr/>
          </a:p>
        </p:txBody>
      </p:sp>
      <p:sp>
        <p:nvSpPr>
          <p:cNvPr id="135" name="Google Shape;135;p11"/>
          <p:cNvSpPr txBox="1"/>
          <p:nvPr>
            <p:ph idx="1" type="body"/>
          </p:nvPr>
        </p:nvSpPr>
        <p:spPr>
          <a:xfrm>
            <a:off x="742950" y="1123951"/>
            <a:ext cx="8143875" cy="271462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&lt;!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DOCTYPE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video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width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="640"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height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="480"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controls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source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src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="trailer.mp4"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type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='video/mp4'&gt;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source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src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="trailer.ogv"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type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='video/ogg'&gt;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Your user agent does not support HTML5.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video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  <p:pic>
        <p:nvPicPr>
          <p:cNvPr descr="EMB00001a1c11ea"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375" y="3095624"/>
            <a:ext cx="3981450" cy="35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eda921c89_0_0"/>
          <p:cNvSpPr txBox="1"/>
          <p:nvPr>
            <p:ph type="title"/>
          </p:nvPr>
        </p:nvSpPr>
        <p:spPr>
          <a:xfrm>
            <a:off x="354329" y="136525"/>
            <a:ext cx="68184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비디오 파일 자동 재생하기</a:t>
            </a:r>
            <a:endParaRPr/>
          </a:p>
        </p:txBody>
      </p:sp>
      <p:grpSp>
        <p:nvGrpSpPr>
          <p:cNvPr id="142" name="Google Shape;142;g3aeda921c89_0_0"/>
          <p:cNvGrpSpPr/>
          <p:nvPr/>
        </p:nvGrpSpPr>
        <p:grpSpPr>
          <a:xfrm>
            <a:off x="581293" y="3245923"/>
            <a:ext cx="7883440" cy="536880"/>
            <a:chOff x="836156" y="5645261"/>
            <a:chExt cx="6952500" cy="536880"/>
          </a:xfrm>
        </p:grpSpPr>
        <p:sp>
          <p:nvSpPr>
            <p:cNvPr id="143" name="Google Shape;143;g3aeda921c89_0_0"/>
            <p:cNvSpPr txBox="1"/>
            <p:nvPr/>
          </p:nvSpPr>
          <p:spPr>
            <a:xfrm>
              <a:off x="836156" y="5645261"/>
              <a:ext cx="23049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비디오 자동 재생하기</a:t>
              </a:r>
              <a:endParaRPr/>
            </a:p>
          </p:txBody>
        </p:sp>
        <p:sp>
          <p:nvSpPr>
            <p:cNvPr id="144" name="Google Shape;144;g3aeda921c89_0_0"/>
            <p:cNvSpPr txBox="1"/>
            <p:nvPr/>
          </p:nvSpPr>
          <p:spPr>
            <a:xfrm>
              <a:off x="836156" y="5905241"/>
              <a:ext cx="6952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&lt;video</a:t>
              </a:r>
              <a:r>
                <a:rPr b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b="0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src</a:t>
              </a:r>
              <a:r>
                <a:rPr b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lang="en-US" sz="12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"medias/salad.mp4"</a:t>
              </a:r>
              <a:r>
                <a:rPr b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b="0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controls width</a:t>
              </a:r>
              <a:r>
                <a:rPr b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lang="en-US" sz="12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"700"</a:t>
              </a:r>
              <a:r>
                <a:rPr b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en-US" sz="1200">
                  <a:solidFill>
                    <a:srgbClr val="E5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poster</a:t>
              </a:r>
              <a:r>
                <a:rPr lang="en-US" sz="1200">
                  <a:solidFill>
                    <a:srgbClr val="3B3B3B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lang="en-US" sz="1200">
                  <a:solidFill>
                    <a:srgbClr val="0000FF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"images/salad.jpg“ </a:t>
              </a:r>
              <a:r>
                <a:rPr b="0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autoplay</a:t>
              </a:r>
              <a:r>
                <a:rPr b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b="0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muted</a:t>
              </a:r>
              <a:r>
                <a:rPr b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b="0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loop</a:t>
              </a:r>
              <a:r>
                <a:rPr b="0" lang="en-US" sz="1200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&gt;&lt;/video&gt;</a:t>
              </a:r>
              <a:endParaRPr b="0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g3aeda921c89_0_0"/>
          <p:cNvSpPr/>
          <p:nvPr/>
        </p:nvSpPr>
        <p:spPr>
          <a:xfrm>
            <a:off x="6638700" y="3522700"/>
            <a:ext cx="613800" cy="2601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3aeda921c89_0_0"/>
          <p:cNvSpPr txBox="1"/>
          <p:nvPr/>
        </p:nvSpPr>
        <p:spPr>
          <a:xfrm>
            <a:off x="4572000" y="3046863"/>
            <a:ext cx="3620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크롬 브라우저에서는 음소거해야 비디오를 자동 재생할 수 있음</a:t>
            </a:r>
            <a:endParaRPr sz="1100"/>
          </a:p>
        </p:txBody>
      </p:sp>
      <p:sp>
        <p:nvSpPr>
          <p:cNvPr id="147" name="Google Shape;147;g3aeda921c89_0_0"/>
          <p:cNvSpPr txBox="1"/>
          <p:nvPr/>
        </p:nvSpPr>
        <p:spPr>
          <a:xfrm>
            <a:off x="354325" y="708324"/>
            <a:ext cx="70932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멀티미디어 파일을 사용할 때 가장 먼저 주의할 점은 자동으로 재생되지 않도록 하는 것</a:t>
            </a:r>
            <a:endParaRPr b="0" i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웹 접근성 지침) 멀티미디어를 사용자의 동의 없이 시작하지 않도록 권고하고 있음</a:t>
            </a:r>
            <a:endParaRPr b="0" i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최신 웹 브라우저에서는 브라우저 자체에서 배경 음악이나 소리가 있는 비디오 파일의 자동 재생을 금지</a:t>
            </a:r>
            <a:endParaRPr b="0" i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비디오 파일을 자동 재생하고 싶다면 소리를 제거해야 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한다.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muted 속성과 autoplay 속성을 함께 사용하면 자동 재생함.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loop 속성도 함께 사용하면 계속해서 반복 재생함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8" name="Google Shape;148;g3aeda921c89_0_0"/>
          <p:cNvCxnSpPr>
            <a:stCxn id="145" idx="0"/>
          </p:cNvCxnSpPr>
          <p:nvPr/>
        </p:nvCxnSpPr>
        <p:spPr>
          <a:xfrm rot="10800000">
            <a:off x="6945600" y="3262600"/>
            <a:ext cx="0" cy="26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49" name="Google Shape;149;g3aeda921c8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522" y="4374504"/>
            <a:ext cx="3077836" cy="193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da921c89_0_96"/>
          <p:cNvSpPr txBox="1"/>
          <p:nvPr>
            <p:ph type="title"/>
          </p:nvPr>
        </p:nvSpPr>
        <p:spPr>
          <a:xfrm>
            <a:off x="265747" y="136525"/>
            <a:ext cx="511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object</a:t>
            </a:r>
            <a:r>
              <a:rPr lang="en-US"/>
              <a:t> </a:t>
            </a:r>
            <a:r>
              <a:rPr lang="en-US"/>
              <a:t>태그로 PDF</a:t>
            </a:r>
            <a:r>
              <a:rPr lang="en-US"/>
              <a:t> 삽입하기</a:t>
            </a:r>
            <a:endParaRPr/>
          </a:p>
        </p:txBody>
      </p:sp>
      <p:grpSp>
        <p:nvGrpSpPr>
          <p:cNvPr id="155" name="Google Shape;155;g3aeda921c89_0_96"/>
          <p:cNvGrpSpPr/>
          <p:nvPr/>
        </p:nvGrpSpPr>
        <p:grpSpPr>
          <a:xfrm>
            <a:off x="596586" y="1099704"/>
            <a:ext cx="8105279" cy="2377865"/>
            <a:chOff x="6588959" y="2937431"/>
            <a:chExt cx="5716800" cy="1377275"/>
          </a:xfrm>
        </p:grpSpPr>
        <p:sp>
          <p:nvSpPr>
            <p:cNvPr id="156" name="Google Shape;156;g3aeda921c89_0_96"/>
            <p:cNvSpPr/>
            <p:nvPr/>
          </p:nvSpPr>
          <p:spPr>
            <a:xfrm>
              <a:off x="6588959" y="3059206"/>
              <a:ext cx="5716800" cy="1255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7" name="Google Shape;157;g3aeda921c89_0_96"/>
            <p:cNvSpPr txBox="1"/>
            <p:nvPr/>
          </p:nvSpPr>
          <p:spPr>
            <a:xfrm>
              <a:off x="6737095" y="3245421"/>
              <a:ext cx="5500500" cy="8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730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음악 파일 뿐만 아니라 동영상이나 자바 애플릿, PDF 파일 등 다양한 개체를 삽입</a:t>
              </a:r>
              <a:endParaRPr sz="1200"/>
            </a:p>
            <a:p>
              <a:pPr indent="-2730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기본형</a:t>
              </a:r>
              <a:b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1200">
                  <a:solidFill>
                    <a:schemeClr val="dk1"/>
                  </a:solidFill>
                  <a:highlight>
                    <a:srgbClr val="FFFF00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&lt;object width="너비" height="높이" data="파일"&gt;&lt;/object&gt;</a:t>
              </a:r>
              <a:endParaRPr sz="1200"/>
            </a:p>
            <a:p>
              <a:pPr indent="0" lvl="1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data – 재생할 파일 지정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1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width, height – 플레이어 화면 크기 지정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" name="Google Shape;158;g3aeda921c89_0_96"/>
            <p:cNvSpPr txBox="1"/>
            <p:nvPr/>
          </p:nvSpPr>
          <p:spPr>
            <a:xfrm>
              <a:off x="6737094" y="2937431"/>
              <a:ext cx="1386600" cy="19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&lt;object&gt; 태그</a:t>
              </a:r>
              <a:endParaRPr sz="1200"/>
            </a:p>
          </p:txBody>
        </p:sp>
      </p:grpSp>
      <p:sp>
        <p:nvSpPr>
          <p:cNvPr id="159" name="Google Shape;159;g3aeda921c89_0_96"/>
          <p:cNvSpPr txBox="1"/>
          <p:nvPr/>
        </p:nvSpPr>
        <p:spPr>
          <a:xfrm>
            <a:off x="597151" y="4240075"/>
            <a:ext cx="4616100" cy="5541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b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 문서에 PDF 파일 삽입하기</a:t>
            </a:r>
            <a:r>
              <a:rPr b="0"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&lt;/h1&gt;</a:t>
            </a:r>
            <a:endParaRPr b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&lt;object</a:t>
            </a:r>
            <a:r>
              <a:rPr b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r>
              <a:rPr b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"900"</a:t>
            </a:r>
            <a:r>
              <a:rPr b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r>
              <a:rPr b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"800"</a:t>
            </a:r>
            <a:r>
              <a:rPr b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"product.pdf"</a:t>
            </a:r>
            <a:r>
              <a:rPr b="0"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&gt;&lt;/object&gt;</a:t>
            </a:r>
            <a:endParaRPr b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aeda921c89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9540" y="3878844"/>
            <a:ext cx="3388456" cy="224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iframe</a:t>
            </a:r>
            <a:endParaRPr/>
          </a:p>
        </p:txBody>
      </p:sp>
      <p:pic>
        <p:nvPicPr>
          <p:cNvPr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1528763"/>
            <a:ext cx="902970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742950" y="1123951"/>
            <a:ext cx="8143875" cy="1562099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iframe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="inner.html"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="300"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="120"&gt;&lt;/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iframe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742950" y="2828925"/>
            <a:ext cx="8143875" cy="21145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INNER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 웹페이지는 iframe 방식으로 표시됩니다.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3314700" y="2171700"/>
            <a:ext cx="304800" cy="657225"/>
          </a:xfrm>
          <a:custGeom>
            <a:rect b="b" l="l" r="r" t="t"/>
            <a:pathLst>
              <a:path extrusionOk="0" h="657225" w="304800">
                <a:moveTo>
                  <a:pt x="209550" y="0"/>
                </a:moveTo>
                <a:cubicBezTo>
                  <a:pt x="225425" y="12700"/>
                  <a:pt x="242800" y="23725"/>
                  <a:pt x="257175" y="38100"/>
                </a:cubicBezTo>
                <a:cubicBezTo>
                  <a:pt x="270638" y="51563"/>
                  <a:pt x="287804" y="89834"/>
                  <a:pt x="295275" y="104775"/>
                </a:cubicBezTo>
                <a:cubicBezTo>
                  <a:pt x="298450" y="120650"/>
                  <a:pt x="304800" y="136211"/>
                  <a:pt x="304800" y="152400"/>
                </a:cubicBezTo>
                <a:cubicBezTo>
                  <a:pt x="304800" y="185927"/>
                  <a:pt x="295572" y="208658"/>
                  <a:pt x="285750" y="238125"/>
                </a:cubicBezTo>
                <a:cubicBezTo>
                  <a:pt x="282575" y="266700"/>
                  <a:pt x="279791" y="295321"/>
                  <a:pt x="276225" y="323850"/>
                </a:cubicBezTo>
                <a:cubicBezTo>
                  <a:pt x="274466" y="337922"/>
                  <a:pt x="269691" y="397196"/>
                  <a:pt x="257175" y="419100"/>
                </a:cubicBezTo>
                <a:cubicBezTo>
                  <a:pt x="249299" y="432883"/>
                  <a:pt x="238125" y="444500"/>
                  <a:pt x="228600" y="457200"/>
                </a:cubicBezTo>
                <a:cubicBezTo>
                  <a:pt x="207150" y="521550"/>
                  <a:pt x="236898" y="451799"/>
                  <a:pt x="190500" y="504825"/>
                </a:cubicBezTo>
                <a:cubicBezTo>
                  <a:pt x="146050" y="555625"/>
                  <a:pt x="171450" y="557213"/>
                  <a:pt x="123825" y="581025"/>
                </a:cubicBezTo>
                <a:cubicBezTo>
                  <a:pt x="114845" y="585515"/>
                  <a:pt x="104230" y="586060"/>
                  <a:pt x="95250" y="590550"/>
                </a:cubicBezTo>
                <a:cubicBezTo>
                  <a:pt x="80285" y="598033"/>
                  <a:pt x="38642" y="630984"/>
                  <a:pt x="28575" y="638175"/>
                </a:cubicBezTo>
                <a:cubicBezTo>
                  <a:pt x="19260" y="644829"/>
                  <a:pt x="0" y="657225"/>
                  <a:pt x="0" y="65722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1c11f3" id="175" name="Google Shape;1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1974" y="4876062"/>
            <a:ext cx="4514851" cy="1696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742948" y="1209674"/>
            <a:ext cx="8143875" cy="494347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rows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="5"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cols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="50"&gt;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&amp;lt;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&amp;lt;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&amp;lt;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This is a header.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&amp;lt;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&amp;lt;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/body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&amp;lt;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&amp;gt;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iframe을 이용하여서 source.html을 읽어서 여기에 표시한다.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iframe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="source.html"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="420"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="80"&gt;&lt;/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iframe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실행결과</a:t>
            </a:r>
            <a:endParaRPr/>
          </a:p>
        </p:txBody>
      </p:sp>
      <p:pic>
        <p:nvPicPr>
          <p:cNvPr descr="EMB00001a1c1206" id="187" name="Google Shape;1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174" y="1704975"/>
            <a:ext cx="6686551" cy="3493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&lt;div&gt;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&lt;div&gt;은 “divide“의 약자로서 페이지를 논리적인 섹션으로 분리하는데 사용되는 태그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752475" y="2390776"/>
            <a:ext cx="8143875" cy="1123949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3px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solid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red"&gt;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사자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사자는 아프리카에 살며 ...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74" y="3771899"/>
            <a:ext cx="688657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742948" y="1209674"/>
            <a:ext cx="8143875" cy="3848101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3px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solid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red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사자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사자는 아프리카에 살며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강한 다리와 턱,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span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color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red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긴 송곳니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span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를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지니고 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16" id="202" name="Google Shape;2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6263" y="4232275"/>
            <a:ext cx="4567237" cy="230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742948" y="1209675"/>
            <a:ext cx="8143875" cy="223837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20px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; 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background-color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yellow"&gt;&lt;/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20px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; 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background-color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green"&gt;&lt;/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20px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; 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background-color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purple"&gt;&lt;/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53"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1" y="4295775"/>
            <a:ext cx="5715002" cy="1825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입력 양식</a:t>
            </a:r>
            <a:endParaRPr/>
          </a:p>
        </p:txBody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사용자가 입력한 내용을 서버로 보낼 때, 사용한다. </a:t>
            </a:r>
            <a:endParaRPr/>
          </a:p>
        </p:txBody>
      </p:sp>
      <p:pic>
        <p:nvPicPr>
          <p:cNvPr descr="http://t3.gstatic.com/images?q=tbn:ANd9GcTtYxyETT6tne1hZzEv7eJfiv0nI91UH4CC7fUt5gWKTO4o9shv" id="216" name="Google Shape;216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950" y="2249487"/>
            <a:ext cx="2600325" cy="15335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://t1.gstatic.com/images?q=tbn:ANd9GcRC_5cwMArftpqRXbouuCEYFlqzRVC-zU0JLSHRDnlePd7byR7O" id="217" name="Google Shape;217;p19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325" y="2249487"/>
            <a:ext cx="3203508" cy="26082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입력 양식의 작동 방식</a:t>
            </a:r>
            <a:endParaRPr/>
          </a:p>
        </p:txBody>
      </p:sp>
      <p:pic>
        <p:nvPicPr>
          <p:cNvPr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1495425"/>
            <a:ext cx="7572375" cy="3917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&lt;form&gt; 요소</a:t>
            </a:r>
            <a:endParaRPr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52525"/>
            <a:ext cx="9005411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1c125a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6450" y="4095750"/>
            <a:ext cx="4005248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GET 방식과 POST 방식 </a:t>
            </a:r>
            <a:endParaRPr/>
          </a:p>
        </p:txBody>
      </p:sp>
      <p:sp>
        <p:nvSpPr>
          <p:cNvPr id="236" name="Google Shape;236;p2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i="1" lang="en-US"/>
              <a:t>GET 방식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GET 방식은 URL 주소 뒤에 파라미터를 붙여서 데이터를 전달하는 방식이다.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EMB00001a1c1261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25008" t="0"/>
          <a:stretch/>
        </p:blipFill>
        <p:spPr>
          <a:xfrm>
            <a:off x="143810" y="2990849"/>
            <a:ext cx="8856379" cy="193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4219575" y="2876550"/>
            <a:ext cx="2828925" cy="914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22"/>
          <p:cNvCxnSpPr/>
          <p:nvPr/>
        </p:nvCxnSpPr>
        <p:spPr>
          <a:xfrm>
            <a:off x="5219700" y="2114550"/>
            <a:ext cx="533400" cy="7620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GET 방식과 POST 방식 </a:t>
            </a:r>
            <a:endParaRPr/>
          </a:p>
        </p:txBody>
      </p:sp>
      <p:sp>
        <p:nvSpPr>
          <p:cNvPr id="245" name="Google Shape;245;p2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i="1" lang="en-US"/>
              <a:t>POST 방식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POST 방식은 사용자가 입력한 데이터를 URL 주소에 붙이지 않고 HTTP Request 헤더에 포함시켜서 전송하는 방식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길이 제한이 없으며, 보안이 유지된다. 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1628775" y="3429000"/>
            <a:ext cx="4572000" cy="120032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 /test/input.jsp HTTP/1.1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Host: www.naver.com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name1=value1&amp;name2=value2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&lt;input&gt; 형식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8" y="1552575"/>
            <a:ext cx="8848725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 속성값 </a:t>
            </a:r>
            <a:endParaRPr/>
          </a:p>
        </p:txBody>
      </p:sp>
      <p:pic>
        <p:nvPicPr>
          <p:cNvPr id="258" name="Google Shape;2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2057400"/>
            <a:ext cx="8067675" cy="317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필드</a:t>
            </a:r>
            <a:endParaRPr/>
          </a:p>
        </p:txBody>
      </p:sp>
      <p:sp>
        <p:nvSpPr>
          <p:cNvPr id="264" name="Google Shape;264;p28"/>
          <p:cNvSpPr txBox="1"/>
          <p:nvPr/>
        </p:nvSpPr>
        <p:spPr>
          <a:xfrm>
            <a:off x="742948" y="1485900"/>
            <a:ext cx="8143875" cy="13144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이름: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="name"&gt;&lt;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학번: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="number"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size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=10&gt;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77" id="265" name="Google Shape;2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7829" y="3449637"/>
            <a:ext cx="3378993" cy="1444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패스워드 필드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742948" y="1485900"/>
            <a:ext cx="8143875" cy="13144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패스워드: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="password"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="pass"&gt;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7c" id="272" name="Google Shape;2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1774" y="3133725"/>
            <a:ext cx="3574473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라디오 버튼</a:t>
            </a:r>
            <a:endParaRPr/>
          </a:p>
        </p:txBody>
      </p:sp>
      <p:sp>
        <p:nvSpPr>
          <p:cNvPr id="278" name="Google Shape;278;p30"/>
          <p:cNvSpPr txBox="1"/>
          <p:nvPr/>
        </p:nvSpPr>
        <p:spPr>
          <a:xfrm>
            <a:off x="742948" y="1485900"/>
            <a:ext cx="8143875" cy="13144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성별: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="gender"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="male"&gt;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남성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="gender"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="female"&gt;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81" id="279" name="Google Shape;2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237" y="3440112"/>
            <a:ext cx="4574586" cy="137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체크박스</a:t>
            </a:r>
            <a:endParaRPr/>
          </a:p>
        </p:txBody>
      </p:sp>
      <p:sp>
        <p:nvSpPr>
          <p:cNvPr id="285" name="Google Shape;285;p31"/>
          <p:cNvSpPr txBox="1"/>
          <p:nvPr/>
        </p:nvSpPr>
        <p:spPr>
          <a:xfrm>
            <a:off x="742948" y="1485899"/>
            <a:ext cx="8143875" cy="178117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과일 선택: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="checkbox"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="fruits"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="apple"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checked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Apple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="checkbox"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="fruits"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="grape"&gt;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Grape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="checkbox"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="fruits"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="orange"&gt;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86" id="286" name="Google Shape;2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650" y="3743325"/>
            <a:ext cx="4301173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제출 버튼과 초기화 버튼</a:t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742948" y="1485899"/>
            <a:ext cx="8143875" cy="178117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="input"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="getid.jsp"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method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사용자 아이디: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="user"&gt;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="submit"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="제출"&gt;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="reset"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="초기화"&gt;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8b" id="293" name="Google Shape;2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8838" y="3422649"/>
            <a:ext cx="4237421" cy="12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&lt;input&gt; 버튼</a:t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742948" y="1485899"/>
            <a:ext cx="8143875" cy="216217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="input"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="getid.jsp"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method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물품가격: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="user"&gt;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수량: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="user"&gt;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="계산"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alert(</a:t>
            </a:r>
            <a:r>
              <a:rPr b="0" i="0" lang="en-US" sz="14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'10000원입니다.'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1c1290" id="301" name="Google Shape;3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562" y="4248150"/>
            <a:ext cx="3027458" cy="1323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a1c1291" id="302" name="Google Shape;30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187" y="4265636"/>
            <a:ext cx="1563687" cy="1306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33"/>
          <p:cNvCxnSpPr/>
          <p:nvPr/>
        </p:nvCxnSpPr>
        <p:spPr>
          <a:xfrm flipH="1" rot="10800000">
            <a:off x="3019425" y="4810125"/>
            <a:ext cx="3179762" cy="561975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&lt;button&gt; 버튼</a:t>
            </a:r>
            <a:endParaRPr/>
          </a:p>
        </p:txBody>
      </p:sp>
      <p:sp>
        <p:nvSpPr>
          <p:cNvPr id="309" name="Google Shape;309;p34"/>
          <p:cNvSpPr txBox="1"/>
          <p:nvPr/>
        </p:nvSpPr>
        <p:spPr>
          <a:xfrm>
            <a:off x="742948" y="1485899"/>
            <a:ext cx="8143875" cy="7334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="alert('안녕하세요?')"&gt;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눌러보세요!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296" id="310" name="Google Shape;3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575" y="2600324"/>
            <a:ext cx="3857625" cy="219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이미지 버튼</a:t>
            </a:r>
            <a:endParaRPr/>
          </a:p>
        </p:txBody>
      </p:sp>
      <p:sp>
        <p:nvSpPr>
          <p:cNvPr id="316" name="Google Shape;316;p35"/>
          <p:cNvSpPr txBox="1"/>
          <p:nvPr/>
        </p:nvSpPr>
        <p:spPr>
          <a:xfrm>
            <a:off x="742948" y="1371599"/>
            <a:ext cx="8143875" cy="159067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="input"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="getid.jsp"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method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아이디: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="name"&gt;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="image"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="submit.png"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alt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="제출 버튼"&gt;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aea" id="317" name="Google Shape;3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3737" y="3298825"/>
            <a:ext cx="4344311" cy="16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&lt;textarea&gt; 요소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3" name="Google Shape;323;p36"/>
          <p:cNvSpPr txBox="1"/>
          <p:nvPr/>
        </p:nvSpPr>
        <p:spPr>
          <a:xfrm>
            <a:off x="742948" y="1371599"/>
            <a:ext cx="8143875" cy="140017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="input"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="getfeedback.jsp"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method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="get"&gt;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고객의 의견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="feedback"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rows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="5"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cols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="50"&gt;&lt;/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af2" id="324" name="Google Shape;3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837" y="3003550"/>
            <a:ext cx="4767311" cy="16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&lt;textarea&gt; 요소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0" name="Google Shape;330;p37"/>
          <p:cNvSpPr txBox="1"/>
          <p:nvPr/>
        </p:nvSpPr>
        <p:spPr>
          <a:xfrm>
            <a:off x="742948" y="1371599"/>
            <a:ext cx="8143875" cy="22193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select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="cars"&gt;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	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="bmw"&gt;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BMW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	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="benz"&gt;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Benz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	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="hyundai"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selected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현대자동차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	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="kia"&gt;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기아자동차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select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1" name="Google Shape;331;p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66caaf7" id="332" name="Google Shape;33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950" y="4495799"/>
            <a:ext cx="6278192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66caafa" id="333" name="Google Shape;33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7725" y="5314950"/>
            <a:ext cx="1339957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7"/>
          <p:cNvSpPr/>
          <p:nvPr/>
        </p:nvSpPr>
        <p:spPr>
          <a:xfrm>
            <a:off x="2657475" y="5391150"/>
            <a:ext cx="730250" cy="581919"/>
          </a:xfrm>
          <a:custGeom>
            <a:rect b="b" l="l" r="r" t="t"/>
            <a:pathLst>
              <a:path extrusionOk="0" h="581919" w="800100">
                <a:moveTo>
                  <a:pt x="0" y="0"/>
                </a:moveTo>
                <a:cubicBezTo>
                  <a:pt x="38971" y="116913"/>
                  <a:pt x="-4250" y="1025"/>
                  <a:pt x="47625" y="104775"/>
                </a:cubicBezTo>
                <a:cubicBezTo>
                  <a:pt x="58439" y="126402"/>
                  <a:pt x="63759" y="150716"/>
                  <a:pt x="76200" y="171450"/>
                </a:cubicBezTo>
                <a:cubicBezTo>
                  <a:pt x="83130" y="183001"/>
                  <a:pt x="96151" y="189677"/>
                  <a:pt x="104775" y="200025"/>
                </a:cubicBezTo>
                <a:cubicBezTo>
                  <a:pt x="112104" y="208819"/>
                  <a:pt x="118705" y="218361"/>
                  <a:pt x="123825" y="228600"/>
                </a:cubicBezTo>
                <a:cubicBezTo>
                  <a:pt x="128315" y="237580"/>
                  <a:pt x="127186" y="249250"/>
                  <a:pt x="133350" y="257175"/>
                </a:cubicBezTo>
                <a:cubicBezTo>
                  <a:pt x="149890" y="278441"/>
                  <a:pt x="173670" y="293288"/>
                  <a:pt x="190500" y="314325"/>
                </a:cubicBezTo>
                <a:cubicBezTo>
                  <a:pt x="199974" y="326167"/>
                  <a:pt x="238768" y="378253"/>
                  <a:pt x="257175" y="390525"/>
                </a:cubicBezTo>
                <a:cubicBezTo>
                  <a:pt x="265529" y="396094"/>
                  <a:pt x="276225" y="396875"/>
                  <a:pt x="285750" y="400050"/>
                </a:cubicBezTo>
                <a:cubicBezTo>
                  <a:pt x="342996" y="457296"/>
                  <a:pt x="280772" y="402576"/>
                  <a:pt x="361950" y="447675"/>
                </a:cubicBezTo>
                <a:cubicBezTo>
                  <a:pt x="375827" y="455385"/>
                  <a:pt x="386173" y="468540"/>
                  <a:pt x="400050" y="476250"/>
                </a:cubicBezTo>
                <a:cubicBezTo>
                  <a:pt x="437417" y="497009"/>
                  <a:pt x="448248" y="493567"/>
                  <a:pt x="485775" y="504825"/>
                </a:cubicBezTo>
                <a:cubicBezTo>
                  <a:pt x="505009" y="510595"/>
                  <a:pt x="524281" y="516417"/>
                  <a:pt x="542925" y="523875"/>
                </a:cubicBezTo>
                <a:cubicBezTo>
                  <a:pt x="556108" y="529148"/>
                  <a:pt x="567250" y="539481"/>
                  <a:pt x="581025" y="542925"/>
                </a:cubicBezTo>
                <a:cubicBezTo>
                  <a:pt x="605858" y="549133"/>
                  <a:pt x="631825" y="549275"/>
                  <a:pt x="657225" y="552450"/>
                </a:cubicBezTo>
                <a:cubicBezTo>
                  <a:pt x="685152" y="566414"/>
                  <a:pt x="701724" y="578143"/>
                  <a:pt x="733425" y="581025"/>
                </a:cubicBezTo>
                <a:cubicBezTo>
                  <a:pt x="755559" y="583037"/>
                  <a:pt x="777875" y="581025"/>
                  <a:pt x="800100" y="58102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&lt;fieldset&gt; 태그</a:t>
            </a:r>
            <a:endParaRPr/>
          </a:p>
        </p:txBody>
      </p:sp>
      <p:sp>
        <p:nvSpPr>
          <p:cNvPr id="340" name="Google Shape;340;p38"/>
          <p:cNvSpPr txBox="1"/>
          <p:nvPr/>
        </p:nvSpPr>
        <p:spPr>
          <a:xfrm>
            <a:off x="742948" y="1371599"/>
            <a:ext cx="8143875" cy="22193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fieldset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legend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인적사항입력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legend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이름: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전화번호: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주소: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fieldset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b01" id="341" name="Google Shape;34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492" y="3962398"/>
            <a:ext cx="3324331" cy="160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&lt;label&gt; 태그 </a:t>
            </a:r>
            <a:endParaRPr/>
          </a:p>
        </p:txBody>
      </p:sp>
      <p:sp>
        <p:nvSpPr>
          <p:cNvPr id="347" name="Google Shape;347;p39"/>
          <p:cNvSpPr txBox="1"/>
          <p:nvPr/>
        </p:nvSpPr>
        <p:spPr>
          <a:xfrm>
            <a:off x="742948" y="1371599"/>
            <a:ext cx="8143875" cy="22193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="proc_form.jsp"&gt;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label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="male"&gt;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남성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label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="gender"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="male"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="male"&gt;&lt;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label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="female"&gt;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여성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label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="gender"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="female"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="female"&gt;&lt;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="submit"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="제출"&gt;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b06" id="348" name="Google Shape;34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9850" y="3852862"/>
            <a:ext cx="2917825" cy="179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파일 업로드 버튼</a:t>
            </a:r>
            <a:endParaRPr/>
          </a:p>
        </p:txBody>
      </p:sp>
      <p:sp>
        <p:nvSpPr>
          <p:cNvPr id="354" name="Google Shape;354;p40"/>
          <p:cNvSpPr txBox="1"/>
          <p:nvPr/>
        </p:nvSpPr>
        <p:spPr>
          <a:xfrm>
            <a:off x="742948" y="1371599"/>
            <a:ext cx="8143875" cy="1447801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enctype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="multipart/form-data"&gt;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="file"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accept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="image/jpg,image/gif"&gt;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b0b" id="355" name="Google Shape;35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304" y="3552825"/>
            <a:ext cx="3420471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66cab0c" id="356" name="Google Shape;35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450" y="3552825"/>
            <a:ext cx="4243224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0"/>
          <p:cNvSpPr/>
          <p:nvPr/>
        </p:nvSpPr>
        <p:spPr>
          <a:xfrm>
            <a:off x="3343275" y="4238625"/>
            <a:ext cx="1409700" cy="1123975"/>
          </a:xfrm>
          <a:custGeom>
            <a:rect b="b" l="l" r="r" t="t"/>
            <a:pathLst>
              <a:path extrusionOk="0" h="1123975" w="1409700">
                <a:moveTo>
                  <a:pt x="0" y="0"/>
                </a:moveTo>
                <a:cubicBezTo>
                  <a:pt x="19050" y="15875"/>
                  <a:pt x="41275" y="28575"/>
                  <a:pt x="57150" y="47625"/>
                </a:cubicBezTo>
                <a:cubicBezTo>
                  <a:pt x="73537" y="67290"/>
                  <a:pt x="80571" y="93330"/>
                  <a:pt x="95250" y="114300"/>
                </a:cubicBezTo>
                <a:cubicBezTo>
                  <a:pt x="102975" y="125335"/>
                  <a:pt x="116100" y="131840"/>
                  <a:pt x="123825" y="142875"/>
                </a:cubicBezTo>
                <a:cubicBezTo>
                  <a:pt x="138504" y="163845"/>
                  <a:pt x="147246" y="188580"/>
                  <a:pt x="161925" y="209550"/>
                </a:cubicBezTo>
                <a:cubicBezTo>
                  <a:pt x="169650" y="220585"/>
                  <a:pt x="182833" y="227050"/>
                  <a:pt x="190500" y="238125"/>
                </a:cubicBezTo>
                <a:cubicBezTo>
                  <a:pt x="211576" y="268568"/>
                  <a:pt x="221468" y="307193"/>
                  <a:pt x="247650" y="333375"/>
                </a:cubicBezTo>
                <a:cubicBezTo>
                  <a:pt x="336902" y="422627"/>
                  <a:pt x="302677" y="383493"/>
                  <a:pt x="390525" y="495300"/>
                </a:cubicBezTo>
                <a:cubicBezTo>
                  <a:pt x="400333" y="507783"/>
                  <a:pt x="410932" y="519787"/>
                  <a:pt x="419100" y="533400"/>
                </a:cubicBezTo>
                <a:cubicBezTo>
                  <a:pt x="428625" y="549275"/>
                  <a:pt x="435375" y="567188"/>
                  <a:pt x="447675" y="581025"/>
                </a:cubicBezTo>
                <a:cubicBezTo>
                  <a:pt x="461181" y="596220"/>
                  <a:pt x="480925" y="604750"/>
                  <a:pt x="495300" y="619125"/>
                </a:cubicBezTo>
                <a:cubicBezTo>
                  <a:pt x="509675" y="633500"/>
                  <a:pt x="518414" y="653013"/>
                  <a:pt x="533400" y="666750"/>
                </a:cubicBezTo>
                <a:cubicBezTo>
                  <a:pt x="556805" y="688204"/>
                  <a:pt x="609600" y="723900"/>
                  <a:pt x="609600" y="723900"/>
                </a:cubicBezTo>
                <a:cubicBezTo>
                  <a:pt x="619125" y="739775"/>
                  <a:pt x="625084" y="758434"/>
                  <a:pt x="638175" y="771525"/>
                </a:cubicBezTo>
                <a:cubicBezTo>
                  <a:pt x="663773" y="797123"/>
                  <a:pt x="691521" y="822011"/>
                  <a:pt x="723900" y="838200"/>
                </a:cubicBezTo>
                <a:cubicBezTo>
                  <a:pt x="747191" y="849845"/>
                  <a:pt x="770380" y="859471"/>
                  <a:pt x="790575" y="876300"/>
                </a:cubicBezTo>
                <a:cubicBezTo>
                  <a:pt x="800923" y="884924"/>
                  <a:pt x="808256" y="896952"/>
                  <a:pt x="819150" y="904875"/>
                </a:cubicBezTo>
                <a:cubicBezTo>
                  <a:pt x="843374" y="922492"/>
                  <a:pt x="870428" y="935885"/>
                  <a:pt x="895350" y="952500"/>
                </a:cubicBezTo>
                <a:cubicBezTo>
                  <a:pt x="904875" y="958850"/>
                  <a:pt x="913403" y="967041"/>
                  <a:pt x="923925" y="971550"/>
                </a:cubicBezTo>
                <a:cubicBezTo>
                  <a:pt x="935957" y="976707"/>
                  <a:pt x="949768" y="976478"/>
                  <a:pt x="962025" y="981075"/>
                </a:cubicBezTo>
                <a:cubicBezTo>
                  <a:pt x="975320" y="986061"/>
                  <a:pt x="986995" y="994719"/>
                  <a:pt x="1000125" y="1000125"/>
                </a:cubicBezTo>
                <a:cubicBezTo>
                  <a:pt x="1041017" y="1016963"/>
                  <a:pt x="1079998" y="1042866"/>
                  <a:pt x="1123950" y="1047750"/>
                </a:cubicBezTo>
                <a:lnTo>
                  <a:pt x="1209675" y="1057275"/>
                </a:lnTo>
                <a:cubicBezTo>
                  <a:pt x="1238250" y="1066800"/>
                  <a:pt x="1268459" y="1072380"/>
                  <a:pt x="1295400" y="1085850"/>
                </a:cubicBezTo>
                <a:cubicBezTo>
                  <a:pt x="1354587" y="1115443"/>
                  <a:pt x="1311079" y="1097133"/>
                  <a:pt x="1371600" y="1114425"/>
                </a:cubicBezTo>
                <a:cubicBezTo>
                  <a:pt x="1408452" y="1124954"/>
                  <a:pt x="1388470" y="1123950"/>
                  <a:pt x="1409700" y="112395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입력 요소</a:t>
            </a:r>
            <a:endParaRPr/>
          </a:p>
        </p:txBody>
      </p:sp>
      <p:pic>
        <p:nvPicPr>
          <p:cNvPr id="363" name="Google Shape;36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6" y="1381125"/>
            <a:ext cx="7848600" cy="4283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추가된 &lt;input&gt; 의 속성</a:t>
            </a:r>
            <a:endParaRPr/>
          </a:p>
        </p:txBody>
      </p:sp>
      <p:sp>
        <p:nvSpPr>
          <p:cNvPr id="369" name="Google Shape;369;p4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autocomplete – 자동으로 입력을 완성한다.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autofocus – 페이지가 로드되면 자동으로 입력 포커스를 갖는다.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placeholder – 입력 힌트를 희미하게 보여준다.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readonly – 읽기 전용 필드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required – 입력 양식을 제출하기 전에 받드시 채워져 있어야 함을 나타낸다.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pattern – 허용하는 입력의 형태를 정규식으로 지정한다.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75" name="Google Shape;375;p43"/>
          <p:cNvSpPr txBox="1"/>
          <p:nvPr/>
        </p:nvSpPr>
        <p:spPr>
          <a:xfrm>
            <a:off x="228598" y="1371599"/>
            <a:ext cx="8143875" cy="498157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date: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="date"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datetime: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="datetime"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datetime-local: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="datetime-local"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month: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="month"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time: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="time"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week: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="week"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color: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="color"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email: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="email"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tel: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search: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="search"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range: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="range"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number: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="number"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url: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="url"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="submit"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b13" id="376" name="Google Shape;37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4831" y="1504949"/>
            <a:ext cx="4055344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정규식</a:t>
            </a:r>
            <a:endParaRPr/>
          </a:p>
        </p:txBody>
      </p:sp>
      <p:sp>
        <p:nvSpPr>
          <p:cNvPr id="382" name="Google Shape;382;p4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특정한 규칙을 가지고 있는 문자열들을 표현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정규 표현식은 /과 / 내부에 위치</a:t>
            </a:r>
            <a:endParaRPr/>
          </a:p>
        </p:txBody>
      </p:sp>
      <p:pic>
        <p:nvPicPr>
          <p:cNvPr id="383" name="Google Shape;38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6" y="2515396"/>
            <a:ext cx="7505700" cy="2661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수량한정자</a:t>
            </a:r>
            <a:endParaRPr/>
          </a:p>
        </p:txBody>
      </p:sp>
      <p:sp>
        <p:nvSpPr>
          <p:cNvPr id="389" name="Google Shape;389;p45"/>
          <p:cNvSpPr txBox="1"/>
          <p:nvPr>
            <p:ph idx="1" type="body"/>
          </p:nvPr>
        </p:nvSpPr>
        <p:spPr>
          <a:xfrm>
            <a:off x="685800" y="3467100"/>
            <a:ext cx="8212138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이메일을 검사하는 정규식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/^[a-zA-Z0-9.!#$%&amp;’*+/=?^_`{|}~-]+@[a-zA-Z0-9-]+(?:\.[a-zA-Z0-9-]+)*$/</a:t>
            </a:r>
            <a:endParaRPr/>
          </a:p>
        </p:txBody>
      </p:sp>
      <p:pic>
        <p:nvPicPr>
          <p:cNvPr id="390" name="Google Shape;39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290639"/>
            <a:ext cx="8372475" cy="2026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이메일 입력</a:t>
            </a:r>
            <a:endParaRPr/>
          </a:p>
        </p:txBody>
      </p:sp>
      <p:sp>
        <p:nvSpPr>
          <p:cNvPr id="396" name="Google Shape;396;p46"/>
          <p:cNvSpPr txBox="1"/>
          <p:nvPr/>
        </p:nvSpPr>
        <p:spPr>
          <a:xfrm>
            <a:off x="742948" y="1371599"/>
            <a:ext cx="8143875" cy="1447801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이메일: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="email"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="email"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required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b1a" id="397" name="Google Shape;3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4524" y="3422649"/>
            <a:ext cx="4422531" cy="15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6"/>
          <p:cNvSpPr/>
          <p:nvPr/>
        </p:nvSpPr>
        <p:spPr>
          <a:xfrm>
            <a:off x="4874430" y="1905000"/>
            <a:ext cx="459871" cy="1600200"/>
          </a:xfrm>
          <a:custGeom>
            <a:rect b="b" l="l" r="r" t="t"/>
            <a:pathLst>
              <a:path extrusionOk="0" h="1600200" w="459871">
                <a:moveTo>
                  <a:pt x="202395" y="0"/>
                </a:moveTo>
                <a:cubicBezTo>
                  <a:pt x="183345" y="38100"/>
                  <a:pt x="161065" y="74750"/>
                  <a:pt x="145245" y="114300"/>
                </a:cubicBezTo>
                <a:cubicBezTo>
                  <a:pt x="138895" y="130175"/>
                  <a:pt x="133841" y="146632"/>
                  <a:pt x="126195" y="161925"/>
                </a:cubicBezTo>
                <a:cubicBezTo>
                  <a:pt x="102228" y="209859"/>
                  <a:pt x="104575" y="172205"/>
                  <a:pt x="88095" y="238125"/>
                </a:cubicBezTo>
                <a:cubicBezTo>
                  <a:pt x="44524" y="412411"/>
                  <a:pt x="92545" y="336967"/>
                  <a:pt x="30945" y="419100"/>
                </a:cubicBezTo>
                <a:cubicBezTo>
                  <a:pt x="-7382" y="546858"/>
                  <a:pt x="-5541" y="500297"/>
                  <a:pt x="11895" y="657225"/>
                </a:cubicBezTo>
                <a:cubicBezTo>
                  <a:pt x="13004" y="667204"/>
                  <a:pt x="15256" y="677875"/>
                  <a:pt x="21420" y="685800"/>
                </a:cubicBezTo>
                <a:cubicBezTo>
                  <a:pt x="37960" y="707066"/>
                  <a:pt x="61740" y="721913"/>
                  <a:pt x="78570" y="742950"/>
                </a:cubicBezTo>
                <a:cubicBezTo>
                  <a:pt x="91270" y="758825"/>
                  <a:pt x="102295" y="776200"/>
                  <a:pt x="116670" y="790575"/>
                </a:cubicBezTo>
                <a:cubicBezTo>
                  <a:pt x="124765" y="798670"/>
                  <a:pt x="135930" y="802971"/>
                  <a:pt x="145245" y="809625"/>
                </a:cubicBezTo>
                <a:cubicBezTo>
                  <a:pt x="158163" y="818852"/>
                  <a:pt x="169562" y="830324"/>
                  <a:pt x="183345" y="838200"/>
                </a:cubicBezTo>
                <a:cubicBezTo>
                  <a:pt x="192062" y="843181"/>
                  <a:pt x="202940" y="843235"/>
                  <a:pt x="211920" y="847725"/>
                </a:cubicBezTo>
                <a:cubicBezTo>
                  <a:pt x="285778" y="884654"/>
                  <a:pt x="197246" y="852359"/>
                  <a:pt x="269070" y="876300"/>
                </a:cubicBezTo>
                <a:cubicBezTo>
                  <a:pt x="291295" y="898525"/>
                  <a:pt x="324072" y="913792"/>
                  <a:pt x="335745" y="942975"/>
                </a:cubicBezTo>
                <a:cubicBezTo>
                  <a:pt x="342095" y="958850"/>
                  <a:pt x="346608" y="975590"/>
                  <a:pt x="354795" y="990600"/>
                </a:cubicBezTo>
                <a:cubicBezTo>
                  <a:pt x="365758" y="1010700"/>
                  <a:pt x="382656" y="1027272"/>
                  <a:pt x="392895" y="1047750"/>
                </a:cubicBezTo>
                <a:lnTo>
                  <a:pt x="411945" y="1085850"/>
                </a:lnTo>
                <a:cubicBezTo>
                  <a:pt x="435349" y="1226274"/>
                  <a:pt x="407153" y="1044245"/>
                  <a:pt x="430995" y="1314450"/>
                </a:cubicBezTo>
                <a:cubicBezTo>
                  <a:pt x="460389" y="1647584"/>
                  <a:pt x="441304" y="1315898"/>
                  <a:pt x="459570" y="1571625"/>
                </a:cubicBezTo>
                <a:cubicBezTo>
                  <a:pt x="460249" y="1581126"/>
                  <a:pt x="459570" y="1590675"/>
                  <a:pt x="459570" y="160020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숫자 입력 </a:t>
            </a:r>
            <a:endParaRPr/>
          </a:p>
        </p:txBody>
      </p:sp>
      <p:sp>
        <p:nvSpPr>
          <p:cNvPr id="404" name="Google Shape;404;p47"/>
          <p:cNvSpPr txBox="1"/>
          <p:nvPr/>
        </p:nvSpPr>
        <p:spPr>
          <a:xfrm>
            <a:off x="742948" y="1371599"/>
            <a:ext cx="8143875" cy="1447801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신발사이즈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="number"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min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="230"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="290"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step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="260"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="shoesize"&gt;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66cab23" id="405" name="Google Shape;40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035" y="3486150"/>
            <a:ext cx="3588866" cy="5793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66cab24" id="406" name="Google Shape;40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4883" y="3486150"/>
            <a:ext cx="4291403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7"/>
          <p:cNvSpPr txBox="1"/>
          <p:nvPr/>
        </p:nvSpPr>
        <p:spPr>
          <a:xfrm>
            <a:off x="1485900" y="4581525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구글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7"/>
          <p:cNvSpPr txBox="1"/>
          <p:nvPr/>
        </p:nvSpPr>
        <p:spPr>
          <a:xfrm>
            <a:off x="6637418" y="4489966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오페라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7"/>
          <p:cNvSpPr/>
          <p:nvPr/>
        </p:nvSpPr>
        <p:spPr>
          <a:xfrm>
            <a:off x="1733006" y="3971583"/>
            <a:ext cx="200569" cy="705192"/>
          </a:xfrm>
          <a:custGeom>
            <a:rect b="b" l="l" r="r" t="t"/>
            <a:pathLst>
              <a:path extrusionOk="0" h="705192" w="200569">
                <a:moveTo>
                  <a:pt x="38644" y="705192"/>
                </a:moveTo>
                <a:cubicBezTo>
                  <a:pt x="36035" y="696061"/>
                  <a:pt x="13852" y="621222"/>
                  <a:pt x="10069" y="600417"/>
                </a:cubicBezTo>
                <a:cubicBezTo>
                  <a:pt x="6053" y="578328"/>
                  <a:pt x="3719" y="555967"/>
                  <a:pt x="544" y="533742"/>
                </a:cubicBezTo>
                <a:cubicBezTo>
                  <a:pt x="16178" y="80362"/>
                  <a:pt x="-25171" y="372763"/>
                  <a:pt x="29119" y="209892"/>
                </a:cubicBezTo>
                <a:cubicBezTo>
                  <a:pt x="49621" y="148385"/>
                  <a:pt x="24211" y="193442"/>
                  <a:pt x="57694" y="143217"/>
                </a:cubicBezTo>
                <a:cubicBezTo>
                  <a:pt x="79569" y="55717"/>
                  <a:pt x="47955" y="145866"/>
                  <a:pt x="95794" y="86067"/>
                </a:cubicBezTo>
                <a:cubicBezTo>
                  <a:pt x="102066" y="78227"/>
                  <a:pt x="99047" y="65332"/>
                  <a:pt x="105319" y="57492"/>
                </a:cubicBezTo>
                <a:cubicBezTo>
                  <a:pt x="112470" y="48553"/>
                  <a:pt x="125100" y="45771"/>
                  <a:pt x="133894" y="38442"/>
                </a:cubicBezTo>
                <a:cubicBezTo>
                  <a:pt x="171835" y="6824"/>
                  <a:pt x="148000" y="11103"/>
                  <a:pt x="191044" y="342"/>
                </a:cubicBezTo>
                <a:cubicBezTo>
                  <a:pt x="194124" y="-428"/>
                  <a:pt x="197394" y="342"/>
                  <a:pt x="200569" y="342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7"/>
          <p:cNvSpPr/>
          <p:nvPr/>
        </p:nvSpPr>
        <p:spPr>
          <a:xfrm>
            <a:off x="6505308" y="3924300"/>
            <a:ext cx="438417" cy="647700"/>
          </a:xfrm>
          <a:custGeom>
            <a:rect b="b" l="l" r="r" t="t"/>
            <a:pathLst>
              <a:path extrusionOk="0" h="647700" w="438417">
                <a:moveTo>
                  <a:pt x="438417" y="647700"/>
                </a:moveTo>
                <a:cubicBezTo>
                  <a:pt x="427962" y="626790"/>
                  <a:pt x="403824" y="569994"/>
                  <a:pt x="381267" y="552450"/>
                </a:cubicBezTo>
                <a:cubicBezTo>
                  <a:pt x="364455" y="539374"/>
                  <a:pt x="342380" y="534833"/>
                  <a:pt x="324117" y="523875"/>
                </a:cubicBezTo>
                <a:lnTo>
                  <a:pt x="209817" y="447675"/>
                </a:lnTo>
                <a:cubicBezTo>
                  <a:pt x="200292" y="441325"/>
                  <a:pt x="189337" y="436720"/>
                  <a:pt x="181242" y="428625"/>
                </a:cubicBezTo>
                <a:cubicBezTo>
                  <a:pt x="171717" y="419100"/>
                  <a:pt x="162894" y="408816"/>
                  <a:pt x="152667" y="400050"/>
                </a:cubicBezTo>
                <a:cubicBezTo>
                  <a:pt x="140614" y="389719"/>
                  <a:pt x="125792" y="382700"/>
                  <a:pt x="114567" y="371475"/>
                </a:cubicBezTo>
                <a:cubicBezTo>
                  <a:pt x="106472" y="363380"/>
                  <a:pt x="102171" y="352215"/>
                  <a:pt x="95517" y="342900"/>
                </a:cubicBezTo>
                <a:cubicBezTo>
                  <a:pt x="86290" y="329982"/>
                  <a:pt x="76467" y="317500"/>
                  <a:pt x="66942" y="304800"/>
                </a:cubicBezTo>
                <a:cubicBezTo>
                  <a:pt x="60592" y="285750"/>
                  <a:pt x="50732" y="267529"/>
                  <a:pt x="47892" y="247650"/>
                </a:cubicBezTo>
                <a:cubicBezTo>
                  <a:pt x="44717" y="225425"/>
                  <a:pt x="42770" y="202990"/>
                  <a:pt x="38367" y="180975"/>
                </a:cubicBezTo>
                <a:cubicBezTo>
                  <a:pt x="36398" y="171130"/>
                  <a:pt x="31020" y="162201"/>
                  <a:pt x="28842" y="152400"/>
                </a:cubicBezTo>
                <a:cubicBezTo>
                  <a:pt x="24652" y="133547"/>
                  <a:pt x="24001" y="113986"/>
                  <a:pt x="19317" y="95250"/>
                </a:cubicBezTo>
                <a:cubicBezTo>
                  <a:pt x="-3749" y="2986"/>
                  <a:pt x="267" y="72769"/>
                  <a:pt x="267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range 입력 </a:t>
            </a:r>
            <a:endParaRPr/>
          </a:p>
        </p:txBody>
      </p:sp>
      <p:sp>
        <p:nvSpPr>
          <p:cNvPr id="416" name="Google Shape;416;p48"/>
          <p:cNvSpPr txBox="1"/>
          <p:nvPr/>
        </p:nvSpPr>
        <p:spPr>
          <a:xfrm>
            <a:off x="742948" y="1371599"/>
            <a:ext cx="8143875" cy="1447801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테니스 스킬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="range"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417" name="Google Shape;4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48" y="3293913"/>
            <a:ext cx="7753350" cy="1382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날짜 입력 </a:t>
            </a:r>
            <a:endParaRPr/>
          </a:p>
        </p:txBody>
      </p:sp>
      <p:sp>
        <p:nvSpPr>
          <p:cNvPr id="423" name="Google Shape;423;p4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date – 날짜 입력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month – 월 입력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week – 주 입력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time – 시간 입력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datetime – 날짜와 시간을 입력할 수 있는 양식 제공, 국제 표준 시간대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datetime-local - 날짜와 시간을 입력할 수 있는 양식 제공, 지역 표준 시간대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24" name="Google Shape;424;p49"/>
          <p:cNvSpPr txBox="1"/>
          <p:nvPr/>
        </p:nvSpPr>
        <p:spPr>
          <a:xfrm>
            <a:off x="723897" y="4229100"/>
            <a:ext cx="8143875" cy="10001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생일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="date"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=“dob”&gt;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b59" id="425" name="Google Shape;42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3585" y="4016375"/>
            <a:ext cx="3024187" cy="2686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색상 입력 </a:t>
            </a:r>
            <a:endParaRPr/>
          </a:p>
        </p:txBody>
      </p:sp>
      <p:sp>
        <p:nvSpPr>
          <p:cNvPr id="431" name="Google Shape;431;p50"/>
          <p:cNvSpPr txBox="1"/>
          <p:nvPr/>
        </p:nvSpPr>
        <p:spPr>
          <a:xfrm>
            <a:off x="723897" y="1381125"/>
            <a:ext cx="8143875" cy="10001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색상선택: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="color"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="color"/&gt;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66cab61" id="432" name="Google Shape;43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914649"/>
            <a:ext cx="2162175" cy="921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66cab64" id="433" name="Google Shape;43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0" y="3943351"/>
            <a:ext cx="5043369" cy="2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0"/>
          <p:cNvSpPr/>
          <p:nvPr/>
        </p:nvSpPr>
        <p:spPr>
          <a:xfrm>
            <a:off x="3248025" y="3629025"/>
            <a:ext cx="3296237" cy="914400"/>
          </a:xfrm>
          <a:custGeom>
            <a:rect b="b" l="l" r="r" t="t"/>
            <a:pathLst>
              <a:path extrusionOk="0" h="914400" w="3296237">
                <a:moveTo>
                  <a:pt x="0" y="57150"/>
                </a:moveTo>
                <a:cubicBezTo>
                  <a:pt x="68068" y="43536"/>
                  <a:pt x="71749" y="40918"/>
                  <a:pt x="161925" y="38100"/>
                </a:cubicBezTo>
                <a:cubicBezTo>
                  <a:pt x="326975" y="32942"/>
                  <a:pt x="492125" y="31750"/>
                  <a:pt x="657225" y="28575"/>
                </a:cubicBezTo>
                <a:cubicBezTo>
                  <a:pt x="698500" y="25400"/>
                  <a:pt x="739906" y="23622"/>
                  <a:pt x="781050" y="19050"/>
                </a:cubicBezTo>
                <a:cubicBezTo>
                  <a:pt x="825677" y="14091"/>
                  <a:pt x="869499" y="0"/>
                  <a:pt x="914400" y="0"/>
                </a:cubicBezTo>
                <a:cubicBezTo>
                  <a:pt x="1343072" y="0"/>
                  <a:pt x="1771650" y="12700"/>
                  <a:pt x="2200275" y="19050"/>
                </a:cubicBezTo>
                <a:lnTo>
                  <a:pt x="2381250" y="38100"/>
                </a:lnTo>
                <a:cubicBezTo>
                  <a:pt x="2413233" y="43150"/>
                  <a:pt x="2444517" y="52100"/>
                  <a:pt x="2476500" y="57150"/>
                </a:cubicBezTo>
                <a:cubicBezTo>
                  <a:pt x="2504899" y="61634"/>
                  <a:pt x="2533671" y="63316"/>
                  <a:pt x="2562225" y="66675"/>
                </a:cubicBezTo>
                <a:lnTo>
                  <a:pt x="2638425" y="76200"/>
                </a:lnTo>
                <a:cubicBezTo>
                  <a:pt x="2660679" y="79167"/>
                  <a:pt x="2683148" y="81021"/>
                  <a:pt x="2705100" y="85725"/>
                </a:cubicBezTo>
                <a:cubicBezTo>
                  <a:pt x="2727701" y="90568"/>
                  <a:pt x="2749156" y="100013"/>
                  <a:pt x="2771775" y="104775"/>
                </a:cubicBezTo>
                <a:cubicBezTo>
                  <a:pt x="2809572" y="112732"/>
                  <a:pt x="2847975" y="117475"/>
                  <a:pt x="2886075" y="123825"/>
                </a:cubicBezTo>
                <a:cubicBezTo>
                  <a:pt x="2898775" y="130175"/>
                  <a:pt x="2910880" y="137889"/>
                  <a:pt x="2924175" y="142875"/>
                </a:cubicBezTo>
                <a:cubicBezTo>
                  <a:pt x="2936432" y="147472"/>
                  <a:pt x="2950018" y="147803"/>
                  <a:pt x="2962275" y="152400"/>
                </a:cubicBezTo>
                <a:cubicBezTo>
                  <a:pt x="2979214" y="158752"/>
                  <a:pt x="3013876" y="177939"/>
                  <a:pt x="3028950" y="190500"/>
                </a:cubicBezTo>
                <a:cubicBezTo>
                  <a:pt x="3051024" y="208895"/>
                  <a:pt x="3070333" y="233525"/>
                  <a:pt x="3086100" y="257175"/>
                </a:cubicBezTo>
                <a:cubicBezTo>
                  <a:pt x="3096369" y="272579"/>
                  <a:pt x="3104736" y="289181"/>
                  <a:pt x="3114675" y="304800"/>
                </a:cubicBezTo>
                <a:cubicBezTo>
                  <a:pt x="3126967" y="324116"/>
                  <a:pt x="3140075" y="342900"/>
                  <a:pt x="3152775" y="361950"/>
                </a:cubicBezTo>
                <a:cubicBezTo>
                  <a:pt x="3159125" y="371475"/>
                  <a:pt x="3167573" y="379896"/>
                  <a:pt x="3171825" y="390525"/>
                </a:cubicBezTo>
                <a:cubicBezTo>
                  <a:pt x="3196771" y="452890"/>
                  <a:pt x="3180616" y="424472"/>
                  <a:pt x="3219450" y="476250"/>
                </a:cubicBezTo>
                <a:cubicBezTo>
                  <a:pt x="3222625" y="485775"/>
                  <a:pt x="3225020" y="495597"/>
                  <a:pt x="3228975" y="504825"/>
                </a:cubicBezTo>
                <a:cubicBezTo>
                  <a:pt x="3234568" y="517876"/>
                  <a:pt x="3243039" y="529630"/>
                  <a:pt x="3248025" y="542925"/>
                </a:cubicBezTo>
                <a:cubicBezTo>
                  <a:pt x="3274385" y="613219"/>
                  <a:pt x="3237994" y="551692"/>
                  <a:pt x="3276600" y="609600"/>
                </a:cubicBezTo>
                <a:cubicBezTo>
                  <a:pt x="3287578" y="697425"/>
                  <a:pt x="3291394" y="717011"/>
                  <a:pt x="3295650" y="819150"/>
                </a:cubicBezTo>
                <a:cubicBezTo>
                  <a:pt x="3296972" y="850872"/>
                  <a:pt x="3295650" y="882650"/>
                  <a:pt x="3295650" y="91440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0"/>
          <p:cNvSpPr/>
          <p:nvPr/>
        </p:nvSpPr>
        <p:spPr>
          <a:xfrm>
            <a:off x="4448175" y="4657725"/>
            <a:ext cx="476250" cy="705955"/>
          </a:xfrm>
          <a:custGeom>
            <a:rect b="b" l="l" r="r" t="t"/>
            <a:pathLst>
              <a:path extrusionOk="0" h="705955" w="476250">
                <a:moveTo>
                  <a:pt x="142875" y="0"/>
                </a:moveTo>
                <a:cubicBezTo>
                  <a:pt x="130175" y="31750"/>
                  <a:pt x="122369" y="65927"/>
                  <a:pt x="104775" y="95250"/>
                </a:cubicBezTo>
                <a:cubicBezTo>
                  <a:pt x="95250" y="111125"/>
                  <a:pt x="84479" y="126316"/>
                  <a:pt x="76200" y="142875"/>
                </a:cubicBezTo>
                <a:cubicBezTo>
                  <a:pt x="68554" y="158168"/>
                  <a:pt x="64094" y="174876"/>
                  <a:pt x="57150" y="190500"/>
                </a:cubicBezTo>
                <a:cubicBezTo>
                  <a:pt x="51383" y="203475"/>
                  <a:pt x="43693" y="215549"/>
                  <a:pt x="38100" y="228600"/>
                </a:cubicBezTo>
                <a:cubicBezTo>
                  <a:pt x="34145" y="237828"/>
                  <a:pt x="33065" y="248195"/>
                  <a:pt x="28575" y="257175"/>
                </a:cubicBezTo>
                <a:cubicBezTo>
                  <a:pt x="23455" y="267414"/>
                  <a:pt x="15875" y="276225"/>
                  <a:pt x="9525" y="285750"/>
                </a:cubicBezTo>
                <a:cubicBezTo>
                  <a:pt x="6350" y="298450"/>
                  <a:pt x="0" y="310759"/>
                  <a:pt x="0" y="323850"/>
                </a:cubicBezTo>
                <a:cubicBezTo>
                  <a:pt x="0" y="434501"/>
                  <a:pt x="1802" y="424505"/>
                  <a:pt x="28575" y="504825"/>
                </a:cubicBezTo>
                <a:cubicBezTo>
                  <a:pt x="31750" y="514350"/>
                  <a:pt x="29746" y="527831"/>
                  <a:pt x="38100" y="533400"/>
                </a:cubicBezTo>
                <a:cubicBezTo>
                  <a:pt x="109046" y="580698"/>
                  <a:pt x="21911" y="519909"/>
                  <a:pt x="95250" y="581025"/>
                </a:cubicBezTo>
                <a:cubicBezTo>
                  <a:pt x="104044" y="588354"/>
                  <a:pt x="114510" y="593421"/>
                  <a:pt x="123825" y="600075"/>
                </a:cubicBezTo>
                <a:cubicBezTo>
                  <a:pt x="136743" y="609302"/>
                  <a:pt x="148463" y="620236"/>
                  <a:pt x="161925" y="628650"/>
                </a:cubicBezTo>
                <a:cubicBezTo>
                  <a:pt x="207875" y="657369"/>
                  <a:pt x="187354" y="639548"/>
                  <a:pt x="228600" y="657225"/>
                </a:cubicBezTo>
                <a:cubicBezTo>
                  <a:pt x="241651" y="662818"/>
                  <a:pt x="253230" y="671785"/>
                  <a:pt x="266700" y="676275"/>
                </a:cubicBezTo>
                <a:cubicBezTo>
                  <a:pt x="291538" y="684554"/>
                  <a:pt x="318062" y="687046"/>
                  <a:pt x="342900" y="695325"/>
                </a:cubicBezTo>
                <a:cubicBezTo>
                  <a:pt x="352425" y="698500"/>
                  <a:pt x="361460" y="704135"/>
                  <a:pt x="371475" y="704850"/>
                </a:cubicBezTo>
                <a:cubicBezTo>
                  <a:pt x="406311" y="707338"/>
                  <a:pt x="441325" y="704850"/>
                  <a:pt x="476250" y="70485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0"/>
          <p:cNvSpPr txBox="1"/>
          <p:nvPr/>
        </p:nvSpPr>
        <p:spPr>
          <a:xfrm>
            <a:off x="1009218" y="3574019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오페라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0"/>
          <p:cNvSpPr txBox="1"/>
          <p:nvPr/>
        </p:nvSpPr>
        <p:spPr>
          <a:xfrm>
            <a:off x="3104718" y="5828269"/>
            <a:ext cx="59503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구글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descr="EMB0000166cab69" id="443" name="Google Shape;44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4025" y="1362075"/>
            <a:ext cx="7142277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</a:t>
            </a:r>
            <a:endParaRPr/>
          </a:p>
        </p:txBody>
      </p:sp>
      <p:sp>
        <p:nvSpPr>
          <p:cNvPr id="449" name="Google Shape;449;p5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50" name="Google Shape;450;p52"/>
          <p:cNvSpPr txBox="1"/>
          <p:nvPr/>
        </p:nvSpPr>
        <p:spPr>
          <a:xfrm>
            <a:off x="723897" y="1171576"/>
            <a:ext cx="8143875" cy="50482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이메일 전송화면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="MAILTO:hong1234@gmail.com"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method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="post"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enctype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="text/plain"&gt;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이름: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="name"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=""&gt;&lt;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이메일 주소: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="email"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="mail"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=""&gt;&lt;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내용: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="comment"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rows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="5"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cols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="50"&gt;&lt;/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="submit"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="Send"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="reset"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="Reset"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descr="EMB0000166cab6e" id="456" name="Google Shape;45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1878013"/>
            <a:ext cx="7529766" cy="3484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</a:t>
            </a:r>
            <a:endParaRPr/>
          </a:p>
        </p:txBody>
      </p:sp>
      <p:sp>
        <p:nvSpPr>
          <p:cNvPr id="462" name="Google Shape;462;p5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63" name="Google Shape;463;p54"/>
          <p:cNvSpPr txBox="1"/>
          <p:nvPr/>
        </p:nvSpPr>
        <p:spPr>
          <a:xfrm>
            <a:off x="723897" y="1171576"/>
            <a:ext cx="8143875" cy="50482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회원 가입 화면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action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="adduser.jsp"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method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="post"&gt;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이름:    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="name"&gt;&lt;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주소:    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="address"&gt;&lt;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email:    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="email"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="email"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required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="gender"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="Male"&gt;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Male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="gender"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="Female"&gt;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Female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="submit"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="Send"&gt;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="reset"&gt;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