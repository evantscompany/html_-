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9144000"/>
  <p:notesSz cx="6934200" cy="9220200"/>
  <p:embeddedFontLst>
    <p:embeddedFont>
      <p:font typeface="Century Schoolbook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56" roundtripDataSignature="AMtx7mihVeRis0aU2CEBnDluGi5Nq4YJ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CenturySchoolbook-bold.fntdata"/><Relationship Id="rId52" Type="http://schemas.openxmlformats.org/officeDocument/2006/relationships/font" Target="fonts/CenturySchoolbook-regular.fntdata"/><Relationship Id="rId11" Type="http://schemas.openxmlformats.org/officeDocument/2006/relationships/slide" Target="slides/slide6.xml"/><Relationship Id="rId55" Type="http://schemas.openxmlformats.org/officeDocument/2006/relationships/font" Target="fonts/CenturySchoolbook-boldItalic.fntdata"/><Relationship Id="rId10" Type="http://schemas.openxmlformats.org/officeDocument/2006/relationships/slide" Target="slides/slide5.xml"/><Relationship Id="rId54" Type="http://schemas.openxmlformats.org/officeDocument/2006/relationships/font" Target="fonts/CenturySchoolbook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2b699287_0_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702b699287_0_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da4c65ab_0_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aeda4c65ab_0_0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eda4c65ab_0_14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aeda4c65ab_0_14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eda4c65ab_0_2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eda4c65ab_0_20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3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4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5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5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f0d9bc6c6_0_12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6f0d9bc6c6_0_12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5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9f72f2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9f72f2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9f72f2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9f72f2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9f72f2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9f72f2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9f72f2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9f72f2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9f72f2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9f72f2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9f72f2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9f72f2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9f72f2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9f72f2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9f72f2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9f72f2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9f72f2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9f72f2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9f72f2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9f72f2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9f72f2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9f72f2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9f72f2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9f72f2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9f72f2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9f72f2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9f72f2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9f72f2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9f72f2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9f72f2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9f72f2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9f72f2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9f72f2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 1">
  <p:cSld name="제목만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eda4c65ab_0_83"/>
          <p:cNvSpPr txBox="1"/>
          <p:nvPr>
            <p:ph type="title"/>
          </p:nvPr>
        </p:nvSpPr>
        <p:spPr>
          <a:xfrm>
            <a:off x="354329" y="136525"/>
            <a:ext cx="68184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3aeda4c65ab_0_83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1" name="Google Shape;61;g3aeda4c65ab_0_83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aeda4c65ab_0_83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>
            <a:lvl1pPr indent="0" lvl="0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9f72f2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9f72f2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9f72f2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hap6/block.html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chap6/css_animation1.html" TargetMode="External"/><Relationship Id="rId4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1495425" y="1622425"/>
            <a:ext cx="7124564" cy="1323439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6.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CSS 레이아웃과 애니메이션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레이아웃이란?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웹페이지에서 HTML 요소의 위치, 크기 등을 결정하는 것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집안에서의 가구 배치와 비슷하다.</a:t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24" y="2611125"/>
            <a:ext cx="8452150" cy="28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블록요소와 인라인 요소</a:t>
            </a:r>
            <a:endParaRPr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블록(block) 요소 - 화면의 한 줄을 전부 차지한다.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인라인(inline) 요소 - 한 줄에 차례대로 배치된다. 현재 줄에서 필요한 만큼의 너비만을 차지한다.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3148013"/>
            <a:ext cx="58674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블록요소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한 줄을 전부 차지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&lt;h1&gt;, &lt;p&gt;, &lt;ul&gt;, &lt;li&gt;, &lt;table&gt;, &lt;blockquote&gt;, &lt;pre&gt;, &lt;div&gt; &lt;form&gt; , &lt;header&gt;, &lt;nav&gt; 요소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 u="sng">
                <a:solidFill>
                  <a:schemeClr val="hlink"/>
                </a:solidFill>
                <a:hlinkClick r:id="rId3"/>
              </a:rPr>
              <a:t>예제 실행과 소스보기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666750" y="2781300"/>
            <a:ext cx="8212138" cy="17145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 style="background-color: red"&gt;h1으로 정의된 부분입니다.&lt;/h1&gt;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style="background-color: aqua"&gt;div로 정의된 부분입니다.&lt;/div&gt;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style="background-color: yellow"&gt;p로 정의된 부분입니다.&lt;/p&gt;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&lt;pre style="background-color: green"&gt;pre로 정의된 부분입니다.&lt;/pre&gt;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1" id="90" name="Google Shape;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4038" y="4629150"/>
            <a:ext cx="4514850" cy="190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인라인요소</a:t>
            </a:r>
            <a:endParaRPr/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인라인 요소들은 한 줄 안에 차례대로 배치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&lt;a&gt;, &lt;img&gt;, &lt;strong&gt;, &lt;em&gt;, &lt;br&gt;, &lt;input&gt;, &lt;span&gt; 요소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666750" y="2781300"/>
            <a:ext cx="8212138" cy="17145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&lt;em style="background-color: red"&gt;em 요소&lt;/em&gt;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&lt;span style="background-color: aqua"&gt;span 요소&lt;/span&gt;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src="pome.png" width="60" height="60"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&lt;a href="http://www.w3c.org"&gt;a 요소&lt;/a&gt;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4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775" y="4810125"/>
            <a:ext cx="4858986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블록 요소와 인라인 요소의 혼합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666750" y="1333499"/>
            <a:ext cx="8212138" cy="452437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p, em, strong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dotted 3px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body 안에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&lt;em&gt;강조 문자&lt;/em&gt;와 &lt;strong&gt;강한 문자&lt;/strong&gt;를 가지고 있습니다.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&lt;p&gt;여기는 다른 단락입니다.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5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817" y="2586038"/>
            <a:ext cx="4332735" cy="1262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CSS의 display 속성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속성 display를 block으로 설정하면 -&gt; 블록 요소처럼 배치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display를 inline으로 설정-&gt; 인라인 요소처럼 배치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display:block : 블록(block)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display:inline : 인라인(inline)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display:none : 없는 것으로 간주됨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display:hidden : 화면에서 감춰짐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18" name="Google Shape;118;p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666750" y="1104900"/>
            <a:ext cx="8212138" cy="56483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&lt;title&gt;display 속성&lt;/title&gt;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.menubar li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display: inline;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border-color: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padding: .5em;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&lt;ul class="menubar"&gt;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&lt;li&gt;&lt;a href="”#”"&gt;홈으로&lt;/a&gt;&lt;/li&gt;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&lt;li&gt;&lt;a href="”#”"&gt;회사 소개&lt;/a&gt;&lt;/li&gt;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&lt;li&gt;&lt;a href="”#”"&gt;제품 소개&lt;/a&gt;&lt;/li&gt;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&lt;li&gt;&lt;a href="”#”"&gt;질문과 대답&lt;/a&gt;&lt;/li&gt;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&lt;li&gt;&lt;a href="”#”"&gt;연락처&lt;/a&gt;&lt;/li&gt;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&lt;/ul&gt;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3228" y="4394201"/>
            <a:ext cx="3525839" cy="10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3228" y="2409299"/>
            <a:ext cx="3525837" cy="1520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요소의 위치</a:t>
            </a:r>
            <a:endParaRPr/>
          </a:p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top, bottom, left, right 속성으로 결정</a:t>
            </a:r>
            <a:endParaRPr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163" y="1976438"/>
            <a:ext cx="654367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위치 설정 방법</a:t>
            </a: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8047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정적 위치 설정(static positioning) - 정상적인 흐름에 따른 배치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상대 위치 설정(relative positioning) - 정상적인 위치가 기준점이 된다.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절대 위치 설정(absolute positioning) - 컨테이너의 원점이 기준점이 된다.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고정 위치 설정(fixed positioning) - 윈도우의 원점이 기준점이 된다.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200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1059255" y="3313568"/>
            <a:ext cx="959700" cy="823800"/>
          </a:xfrm>
          <a:prstGeom prst="rect">
            <a:avLst/>
          </a:prstGeom>
          <a:solidFill>
            <a:srgbClr val="94B6D2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059255" y="4216651"/>
            <a:ext cx="959700" cy="823800"/>
          </a:xfrm>
          <a:prstGeom prst="rect">
            <a:avLst/>
          </a:prstGeom>
          <a:solidFill>
            <a:srgbClr val="DD8047"/>
          </a:solidFill>
          <a:ln cap="flat" cmpd="sng" w="19050">
            <a:solidFill>
              <a:srgbClr val="A15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2326742" y="3504822"/>
            <a:ext cx="335100" cy="1423800"/>
          </a:xfrm>
          <a:prstGeom prst="upDownArrow">
            <a:avLst>
              <a:gd fmla="val 5303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879817" y="3313568"/>
            <a:ext cx="959700" cy="823800"/>
          </a:xfrm>
          <a:prstGeom prst="rect">
            <a:avLst/>
          </a:prstGeom>
          <a:solidFill>
            <a:srgbClr val="94B6D2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477347" y="4520698"/>
            <a:ext cx="959700" cy="823800"/>
          </a:xfrm>
          <a:prstGeom prst="rect">
            <a:avLst/>
          </a:prstGeom>
          <a:solidFill>
            <a:srgbClr val="DD8047"/>
          </a:solidFill>
          <a:ln cap="flat" cmpd="sng" w="19050">
            <a:solidFill>
              <a:srgbClr val="A15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716133" y="3504821"/>
            <a:ext cx="335100" cy="1423800"/>
          </a:xfrm>
          <a:prstGeom prst="upDownArrow">
            <a:avLst>
              <a:gd fmla="val 5303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4885461" y="4216650"/>
            <a:ext cx="959700" cy="823800"/>
          </a:xfrm>
          <a:prstGeom prst="rect">
            <a:avLst/>
          </a:prstGeom>
          <a:noFill/>
          <a:ln cap="flat" cmpd="sng" w="19050">
            <a:solidFill>
              <a:srgbClr val="A15D3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1276538" y="5421517"/>
            <a:ext cx="18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positioning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5160850" y="5300203"/>
            <a:ext cx="209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relative positioning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정적 위치 설정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정적 위치 설정(static positioning)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블록 요소들은 박스처럼 상하로 쌓이게 되고 인라인 요소들은 한 줄에 차례대로 배치</a:t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666750" y="2362200"/>
            <a:ext cx="8212138" cy="43910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#one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cyan;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#two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static;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#three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lightgreen;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56" name="Google Shape;156;p12"/>
          <p:cNvSpPr txBox="1"/>
          <p:nvPr/>
        </p:nvSpPr>
        <p:spPr>
          <a:xfrm>
            <a:off x="666750" y="1104900"/>
            <a:ext cx="8212138" cy="21431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id="one"&gt;block #1&lt;/p&gt;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id="two"&gt;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block #2&lt;br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position:static;&lt;br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id="three"&gt;block #3&lt;/p&gt;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a"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0663" y="3565525"/>
            <a:ext cx="5138225" cy="28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상대 위치 설정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상대 위치 설정(relative positioning)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정상적인 위치에서 상대적으로 요소가 배치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666750" y="2362200"/>
            <a:ext cx="8212138" cy="43910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#one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cyan;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#two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relative;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left: 30px;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#three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lightgreen;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b"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819" y="3265487"/>
            <a:ext cx="4135575" cy="225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절대 위치 설정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절대 위치(absolute positioning)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전체 페이지를 기준으로 시작 위치에서 top, left, bottom, right 만큼 떨어진 위치에 배치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666750" y="2362201"/>
            <a:ext cx="8212138" cy="2705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#two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absolute;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top: 30px;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left: 30px;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c" id="173" name="Google Shape;1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7725" y="4262438"/>
            <a:ext cx="4176260" cy="228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고정 위치 설정</a:t>
            </a:r>
            <a:endParaRPr/>
          </a:p>
        </p:txBody>
      </p:sp>
      <p:sp>
        <p:nvSpPr>
          <p:cNvPr id="179" name="Google Shape;179;p1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고정 위치 설정(fixed positioning)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브라우저 윈도우에 상대적으로 요소의 위치를 잡는 것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666750" y="2362201"/>
            <a:ext cx="8212138" cy="37338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lightgreen;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#two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position:fixed;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top:0px;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right:0px;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be" id="181" name="Google Shape;1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9795" y="2249487"/>
            <a:ext cx="3207724" cy="169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고정 위치 설정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66750" y="1333501"/>
            <a:ext cx="8212138" cy="40767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#1&lt;/p&gt;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id="two"&gt;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block #2&lt;br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position: fixed;&lt;br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top:0px; right:10px;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#3&lt;/p&gt;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#4&lt;/p&gt;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#5&lt;/p&gt;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#6&lt;/p&gt;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#7&lt;/p&gt;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#8&lt;/p&gt;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#9&lt;/p&gt;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#10&lt;/p&gt;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#11&lt;/p&gt;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bf"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819" y="1630363"/>
            <a:ext cx="4106069" cy="2075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8ec3dc0" id="189" name="Google Shape;1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2819" y="3933825"/>
            <a:ext cx="4106069" cy="2075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 속성</a:t>
            </a:r>
            <a:endParaRPr/>
          </a:p>
        </p:txBody>
      </p:sp>
      <p:sp>
        <p:nvSpPr>
          <p:cNvPr id="195" name="Google Shape;195;p1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하나의 콘텐츠 주위로 다른 콘텐츠들이 물처럼 흘러가는 스타일 지정</a:t>
            </a:r>
            <a:endParaRPr/>
          </a:p>
        </p:txBody>
      </p:sp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513" y="2262188"/>
            <a:ext cx="366712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66750" y="1228725"/>
            <a:ext cx="8212138" cy="35909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img.a {            float: left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class="a" src="sunshine.jpg" width="160" height="120"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생활이 그대를 속일지라도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슬퍼하거나 노여워 말라.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c3"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818" y="4448175"/>
            <a:ext cx="4106069" cy="2057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66750" y="1228725"/>
            <a:ext cx="8212138" cy="51244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img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float: left;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110px;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90px;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5px;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&lt;h3&gt;이미지 갤러리&lt;/h3&gt;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src="sunshine.jpg" width="100" height="90"&gt;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src="lion.png" width="100" height="90"&gt;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src="storm.jpg" width="100" height="90"&gt;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src="sunshine.jpg" width="100" height="90"&gt;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src="lion.png" width="100" height="90"&gt;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src="storm.jpg" width="100" height="90"&gt;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c8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132" y="1171575"/>
            <a:ext cx="4018756" cy="3031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float의 용도</a:t>
            </a:r>
            <a:endParaRPr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레이아웃에 많이 사용된다. 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1976438"/>
            <a:ext cx="73723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clear 속성 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231650" y="1161750"/>
            <a:ext cx="8740800" cy="4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00" lIns="98000" spcFirstLastPara="1" rIns="98000" wrap="square" tIns="49000">
            <a:normAutofit/>
          </a:bodyPr>
          <a:lstStyle/>
          <a:p>
            <a:pPr indent="-343091" lvl="0" marL="34309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8047"/>
              </a:buClr>
              <a:buSzPts val="1544"/>
              <a:buFont typeface="Noto Sans Symbols"/>
              <a:buChar char="●"/>
            </a:pPr>
            <a:r>
              <a:rPr b="0" i="0" lang="en-US" sz="1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float 속성을 중단할 때 사용된다. </a:t>
            </a:r>
            <a:endParaRPr b="0" i="0" sz="19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468" y="1667339"/>
            <a:ext cx="6604641" cy="2014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873" y="4028226"/>
            <a:ext cx="6027161" cy="246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4476187" y="5182283"/>
            <a:ext cx="2381100" cy="1371000"/>
          </a:xfrm>
          <a:prstGeom prst="ellipse">
            <a:avLst/>
          </a:prstGeom>
          <a:noFill/>
          <a:ln cap="flat" cmpd="sng" w="204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00" lIns="98000" spcFirstLastPara="1" rIns="98000" wrap="square" tIns="4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Arial"/>
              <a:buNone/>
            </a:pPr>
            <a:r>
              <a:t/>
            </a:r>
            <a:endParaRPr b="0" i="0" sz="192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z-index </a:t>
            </a:r>
            <a:endParaRPr/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요소의 스택 순서를 지정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cc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512" y="1924050"/>
            <a:ext cx="4154488" cy="3740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240" name="Google Shape;240;p2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66750" y="1228725"/>
            <a:ext cx="8212138" cy="54102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#box1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absolute;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top: 0px; left: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blue;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z-index: 200;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#box2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absolute;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top: 30px; left: 30px;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z-index: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#box3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absolute;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top: 60px; left: 60px;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z-index: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ce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9430" y="2709863"/>
            <a:ext cx="3909458" cy="198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66750" y="1228725"/>
            <a:ext cx="8212138" cy="162877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id="box1"&gt;box #1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id="box2"&gt;box #2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id="box3"&gt;box #3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ce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9424" y="3126582"/>
            <a:ext cx="4209464" cy="2138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666750" y="1228725"/>
            <a:ext cx="8212138" cy="38290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img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 absolute;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left: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top: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z-index: 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src="pome.png" width="200" height="200"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&lt;p&gt;img 요소의 z-index가 -1이므로 다른 요소의 뒤에 위치한다.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cf" id="256" name="Google Shape;2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179" y="5057775"/>
            <a:ext cx="5130709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overflow 속성 </a:t>
            </a:r>
            <a:endParaRPr/>
          </a:p>
        </p:txBody>
      </p:sp>
      <p:sp>
        <p:nvSpPr>
          <p:cNvPr id="262" name="Google Shape;262;p2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overflow 속성: 자식 요소가 부모 요소의 범위를 벗어났을 때, 어떻게 처리할 것인지를 지정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hidden – 부모 영역을 벗어나는 부분을 보이지 않게 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scroll – 부모 영역을 벗어나는 부분을 스크롤 할 수 있도록 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auto – 자동으로 스크롤바가 나타난다.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666750" y="1228725"/>
            <a:ext cx="8212138" cy="55435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lightgreen;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#target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300px;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overflow: scroll;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 id=target&gt;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#1&lt;/p&gt;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#2&lt;/p&gt;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#3&lt;/p&gt;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#4&lt;/p&gt;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&lt;p&gt;block #5&lt;/p&gt;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d2" id="270" name="Google Shape;2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0300" y="2976562"/>
            <a:ext cx="3878442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요소의 크기 지정</a:t>
            </a:r>
            <a:endParaRPr/>
          </a:p>
        </p:txBody>
      </p:sp>
      <p:sp>
        <p:nvSpPr>
          <p:cNvPr id="276" name="Google Shape;276;p2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width, height – 요소의 크기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min-width, min-height: 요소의 최소 크기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max-width, max-height: 요소의 최대 크기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897" y="2423046"/>
            <a:ext cx="6901150" cy="38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02b699287_0_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대체 박스 모델</a:t>
            </a:r>
            <a:endParaRPr/>
          </a:p>
        </p:txBody>
      </p:sp>
      <p:sp>
        <p:nvSpPr>
          <p:cNvPr id="283" name="Google Shape;283;g3702b699287_0_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대체 박스 모델에서는 width와 height가 패딩과 경계선을 포함하게 된다.</a:t>
            </a:r>
            <a:endParaRPr/>
          </a:p>
        </p:txBody>
      </p:sp>
      <p:pic>
        <p:nvPicPr>
          <p:cNvPr id="284" name="Google Shape;284;g3702b699287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394" y="2111674"/>
            <a:ext cx="5166937" cy="2792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702b699287_0_4"/>
          <p:cNvSpPr txBox="1"/>
          <p:nvPr/>
        </p:nvSpPr>
        <p:spPr>
          <a:xfrm>
            <a:off x="612648" y="4904121"/>
            <a:ext cx="8212200" cy="990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.box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box-sizing: border-box;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&lt;div&gt;를 이용한 레이아웃</a:t>
            </a:r>
            <a:endParaRPr/>
          </a:p>
        </p:txBody>
      </p:sp>
      <p:pic>
        <p:nvPicPr>
          <p:cNvPr id="291" name="Google Shape;2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9850" y="1552575"/>
            <a:ext cx="392430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297" name="Google Shape;297;p32"/>
          <p:cNvSpPr txBox="1"/>
          <p:nvPr/>
        </p:nvSpPr>
        <p:spPr>
          <a:xfrm>
            <a:off x="666750" y="1228725"/>
            <a:ext cx="8212138" cy="3795712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&lt;title&gt;My Blog Page&lt;/title&gt;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#header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100%;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#nav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30%;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float: left;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303" name="Google Shape;303;p33"/>
          <p:cNvSpPr txBox="1"/>
          <p:nvPr/>
        </p:nvSpPr>
        <p:spPr>
          <a:xfrm>
            <a:off x="666750" y="1228725"/>
            <a:ext cx="8212138" cy="50768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#content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70%;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blue;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float: right;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#footer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aqua;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100%;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clear: both;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id="wrapper"&gt;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id="header"&gt; header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id="nav"&gt; nav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id="content"&gt; content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id="footer"&gt; footer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d7" id="304" name="Google Shape;3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9209" y="1914525"/>
            <a:ext cx="4679679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시맨틱 요소 레이아웃</a:t>
            </a:r>
            <a:endParaRPr/>
          </a:p>
        </p:txBody>
      </p:sp>
      <p:pic>
        <p:nvPicPr>
          <p:cNvPr id="310" name="Google Shape;3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" y="1695450"/>
            <a:ext cx="748665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시맨틱 요소</a:t>
            </a:r>
            <a:endParaRPr/>
          </a:p>
        </p:txBody>
      </p:sp>
      <p:pic>
        <p:nvPicPr>
          <p:cNvPr id="316" name="Google Shape;316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0" y="1370175"/>
            <a:ext cx="9089400" cy="47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eda4c65ab_0_0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웹 요소에 설명글(캡션) 붙이기</a:t>
            </a:r>
            <a:endParaRPr/>
          </a:p>
        </p:txBody>
      </p:sp>
      <p:grpSp>
        <p:nvGrpSpPr>
          <p:cNvPr id="322" name="Google Shape;322;g3aeda4c65ab_0_0"/>
          <p:cNvGrpSpPr/>
          <p:nvPr/>
        </p:nvGrpSpPr>
        <p:grpSpPr>
          <a:xfrm>
            <a:off x="597380" y="1102950"/>
            <a:ext cx="3826254" cy="2084669"/>
            <a:chOff x="6588959" y="2983650"/>
            <a:chExt cx="5716800" cy="966557"/>
          </a:xfrm>
        </p:grpSpPr>
        <p:sp>
          <p:nvSpPr>
            <p:cNvPr id="323" name="Google Shape;323;g3aeda4c65ab_0_0"/>
            <p:cNvSpPr/>
            <p:nvPr/>
          </p:nvSpPr>
          <p:spPr>
            <a:xfrm>
              <a:off x="6588959" y="3059207"/>
              <a:ext cx="5716800" cy="891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4" name="Google Shape;324;g3aeda4c65ab_0_0"/>
            <p:cNvSpPr txBox="1"/>
            <p:nvPr/>
          </p:nvSpPr>
          <p:spPr>
            <a:xfrm>
              <a:off x="6697109" y="3183559"/>
              <a:ext cx="55005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730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도표나 일러스트, 이미지, 소스 코드 등의 독립된 콘텐츠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2730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&lt;table&gt; 태그나 &lt;img&gt; 태그 대신 사용하는 것이 아니라 문서의 다른 내용과 구별된다는 표시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5" name="Google Shape;325;g3aeda4c65ab_0_0"/>
            <p:cNvSpPr txBox="1"/>
            <p:nvPr/>
          </p:nvSpPr>
          <p:spPr>
            <a:xfrm>
              <a:off x="6737091" y="2983650"/>
              <a:ext cx="2608200" cy="15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&lt;figure&gt; 태그 </a:t>
              </a:r>
              <a:endParaRPr sz="1100"/>
            </a:p>
          </p:txBody>
        </p:sp>
      </p:grpSp>
      <p:grpSp>
        <p:nvGrpSpPr>
          <p:cNvPr id="326" name="Google Shape;326;g3aeda4c65ab_0_0"/>
          <p:cNvGrpSpPr/>
          <p:nvPr/>
        </p:nvGrpSpPr>
        <p:grpSpPr>
          <a:xfrm>
            <a:off x="597397" y="3582024"/>
            <a:ext cx="3826269" cy="1152609"/>
            <a:chOff x="6588936" y="2979916"/>
            <a:chExt cx="5716823" cy="970291"/>
          </a:xfrm>
        </p:grpSpPr>
        <p:sp>
          <p:nvSpPr>
            <p:cNvPr id="327" name="Google Shape;327;g3aeda4c65ab_0_0"/>
            <p:cNvSpPr/>
            <p:nvPr/>
          </p:nvSpPr>
          <p:spPr>
            <a:xfrm>
              <a:off x="6588959" y="3059207"/>
              <a:ext cx="5716800" cy="891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8" name="Google Shape;328;g3aeda4c65ab_0_0"/>
            <p:cNvSpPr txBox="1"/>
            <p:nvPr/>
          </p:nvSpPr>
          <p:spPr>
            <a:xfrm>
              <a:off x="6588936" y="3286597"/>
              <a:ext cx="5500500" cy="4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730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설명글(캡션)을 붙이는 태그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2730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&lt;figure&gt; 태그와 함께 사용함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g3aeda4c65ab_0_0"/>
            <p:cNvSpPr txBox="1"/>
            <p:nvPr/>
          </p:nvSpPr>
          <p:spPr>
            <a:xfrm>
              <a:off x="6697126" y="2979916"/>
              <a:ext cx="2697300" cy="25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&lt;figcaption&gt; 태그 </a:t>
              </a:r>
              <a:endParaRPr sz="1000"/>
            </a:p>
          </p:txBody>
        </p:sp>
      </p:grpSp>
      <p:sp>
        <p:nvSpPr>
          <p:cNvPr id="330" name="Google Shape;330;g3aeda4c65ab_0_0"/>
          <p:cNvSpPr txBox="1"/>
          <p:nvPr/>
        </p:nvSpPr>
        <p:spPr>
          <a:xfrm>
            <a:off x="4720907" y="871941"/>
            <a:ext cx="4251900" cy="20703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3500" marR="635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&lt;figure&gt;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"images/spring.png"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"제주의 봄"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&lt;figcaption&gt;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가장 먼저 봄을 맞이하는 제주도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&lt;/figcaption&gt;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&lt;/figure&gt;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&lt;figure&gt;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"images/summer.png"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"제주의 여름"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&lt;figcaption&gt;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뜨거운 태양을 닮은 해바라기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&lt;/figcaption&gt;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&lt;/figure&gt;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3aeda4c65a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0834" y="3187620"/>
            <a:ext cx="2254928" cy="2839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eda4c65ab_0_14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웹 요소에 설명글(캡션) 붙이기</a:t>
            </a:r>
            <a:endParaRPr/>
          </a:p>
        </p:txBody>
      </p:sp>
      <p:sp>
        <p:nvSpPr>
          <p:cNvPr id="337" name="Google Shape;337;g3aeda4c65ab_0_14"/>
          <p:cNvSpPr txBox="1"/>
          <p:nvPr/>
        </p:nvSpPr>
        <p:spPr>
          <a:xfrm>
            <a:off x="410180" y="1366900"/>
            <a:ext cx="6009300" cy="20625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3500" marR="635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&lt;figure&gt;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"images/spring.png"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"제주의 봄"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"images/summer.png"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"제주의 여름"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"images/fall.png"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"제주의 가을"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"images/winter.png"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"제주의 겨울"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&lt;figcaption&gt;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제주도의 사계절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&lt;/figcaption&gt;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&lt;/figure&gt;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aeda4c65ab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179" y="3888229"/>
            <a:ext cx="8051006" cy="1450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eda4c65ab_0_20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Font typeface="Malgun Gothic"/>
              <a:buNone/>
            </a:pPr>
            <a:r>
              <a:rPr lang="en-US"/>
              <a:t>&lt;img&gt; 태그의 새로운 속성 - srcset</a:t>
            </a:r>
            <a:endParaRPr/>
          </a:p>
        </p:txBody>
      </p:sp>
      <p:sp>
        <p:nvSpPr>
          <p:cNvPr id="344" name="Google Shape;344;g3aeda4c65ab_0_20"/>
          <p:cNvSpPr/>
          <p:nvPr/>
        </p:nvSpPr>
        <p:spPr>
          <a:xfrm>
            <a:off x="414259" y="1065609"/>
            <a:ext cx="7691100" cy="123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한꺼번에 여러 개의 이미지 정보를 알려주고, 화면 너비나 해상도에 따라 이미지를 적절하게 표시하는 속성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기본형</a:t>
            </a:r>
            <a:b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&lt;img src="기본 이미지" srcset="파일1[, 파일2, 파일3, ...]" alt="대체 텍스트"&gt; </a:t>
            </a:r>
            <a:endParaRPr sz="1000">
              <a:solidFill>
                <a:schemeClr val="dk1"/>
              </a:solidFill>
              <a:highlight>
                <a:srgbClr val="FFFF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g3aeda4c65ab_0_20"/>
          <p:cNvSpPr txBox="1"/>
          <p:nvPr/>
        </p:nvSpPr>
        <p:spPr>
          <a:xfrm>
            <a:off x="414259" y="2726997"/>
            <a:ext cx="6544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 서술자 사용하기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조건을 지정할 때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사용하면 ‘파일 이름, 너비w’ 형식으로 이미지를 삽입함. (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이미지 파일의 너비) 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6" name="Google Shape;346;g3aeda4c65ab_0_20"/>
          <p:cNvSpPr txBox="1"/>
          <p:nvPr/>
        </p:nvSpPr>
        <p:spPr>
          <a:xfrm>
            <a:off x="414250" y="3813825"/>
            <a:ext cx="8268000" cy="3078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＂baloon.png＂ </a:t>
            </a:r>
            <a:r>
              <a:rPr lang="en-US" sz="14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srcset</a:t>
            </a:r>
            <a:r>
              <a:rPr lang="en-US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"small.png 700w, large.png 1000w" </a:t>
            </a:r>
            <a:r>
              <a:rPr lang="en-US" sz="14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"하늘 위로 올라가는 풍선"</a:t>
            </a:r>
            <a:r>
              <a:rPr lang="en-US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aeda4c65ab_0_20"/>
          <p:cNvSpPr txBox="1"/>
          <p:nvPr/>
        </p:nvSpPr>
        <p:spPr>
          <a:xfrm>
            <a:off x="414259" y="4319837"/>
            <a:ext cx="6544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 서술자 사용하기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x는 장치의 픽셀 비율(pixel ratio)을 가리킴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값이 클수록 고화질의 이미지를 연결할 수 있다</a:t>
            </a:r>
            <a:endParaRPr/>
          </a:p>
        </p:txBody>
      </p:sp>
      <p:sp>
        <p:nvSpPr>
          <p:cNvPr id="348" name="Google Shape;348;g3aeda4c65ab_0_20"/>
          <p:cNvSpPr txBox="1"/>
          <p:nvPr/>
        </p:nvSpPr>
        <p:spPr>
          <a:xfrm>
            <a:off x="414258" y="5591191"/>
            <a:ext cx="6544500" cy="3078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3500" marR="635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&lt;img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“sky.png＂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srcset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"sky-1.png 1x, sky-2.png 2x" </a:t>
            </a:r>
            <a:r>
              <a:rPr lang="en-US" sz="14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4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“파란 하늘 사진"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descr="EMB000018ec3ddc" id="354" name="Google Shape;3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987" y="1390650"/>
            <a:ext cx="7716838" cy="4666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60" name="Google Shape;360;p37"/>
          <p:cNvSpPr txBox="1"/>
          <p:nvPr/>
        </p:nvSpPr>
        <p:spPr>
          <a:xfrm>
            <a:off x="666750" y="1228725"/>
            <a:ext cx="8212138" cy="50768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&lt;title&gt;My Blog Page&lt;/title&gt;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#efe5d0;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font-family: Arial, "Trebuchet MS", sans-serif;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#e3afed;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#000000;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text-align: center;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padding: 5px;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66" name="Google Shape;366;p38"/>
          <p:cNvSpPr txBox="1"/>
          <p:nvPr/>
        </p:nvSpPr>
        <p:spPr>
          <a:xfrm>
            <a:off x="666750" y="1228725"/>
            <a:ext cx="8212138" cy="50768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section#main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display: table-cell;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padding: 15px;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display: table-cell;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#ffd800;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padding: 15px;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footer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#954b4b;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#efe5d0;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text-align: center;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padding: 10px;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0px 0px 0px 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font-size: 90%;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72" name="Google Shape;372;p39"/>
          <p:cNvSpPr txBox="1"/>
          <p:nvPr/>
        </p:nvSpPr>
        <p:spPr>
          <a:xfrm>
            <a:off x="666750" y="1228725"/>
            <a:ext cx="8212138" cy="50768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&lt;header&gt;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&lt;h1&gt;My Blog Page&lt;/h1&gt;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&lt;/header&gt;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&lt;nav&gt;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&lt;h1&gt;Links&lt;/h1&gt;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&lt;ul&gt;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href="http://www.w3c.org/"&gt;W3C&lt;/a&gt;&lt;/li&gt;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href="http://developer.mozilla.org/"&gt;MOZILLA&lt;/a&gt;&lt;/li&gt;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href="http://htmldog.com/guides/"&gt;HTML Dogs&lt;/a&gt;&lt;/li&gt;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&lt;/ul&gt;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&lt;figure&gt;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&lt;img width="85" height="85"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src="hong.png"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alt="홍길동"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&lt;figcaption&gt;홍길동&lt;/figcaption&gt;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&lt;/figure&gt;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&lt;/nav&gt;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78" name="Google Shape;378;p40"/>
          <p:cNvSpPr txBox="1"/>
          <p:nvPr/>
        </p:nvSpPr>
        <p:spPr>
          <a:xfrm>
            <a:off x="666750" y="1228725"/>
            <a:ext cx="8212138" cy="43148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&lt;section id="main"&gt;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&lt;article&gt;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&lt;h1&gt;Semantic Tags&lt;/h1&gt;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시멘틱 요소(Semantic elements)들은 브라우저에게 요소의 의미나 목적을 명확하게 알려주는 요소이다.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&lt;/article&gt;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&lt;article&gt;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&lt;h1&gt;div와 span&lt;/h1&gt;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div은 “divide“의 약자로서 페이지를 논리적인 섹션으로 분리하는데 사용되는 태그이다.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span 요소는 인라인 요소로서 텍스트를 위한 컨테이너로 사용할 수 있다.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&lt;/article&gt;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&lt;/section&gt;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&lt;footer&gt;Copyright (c) 2013 Hong&lt;/footer&gt;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 애니메이션</a:t>
            </a:r>
            <a:endParaRPr/>
          </a:p>
        </p:txBody>
      </p:sp>
      <p:pic>
        <p:nvPicPr>
          <p:cNvPr id="384" name="Google Shape;3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173" y="4450159"/>
            <a:ext cx="3330296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49" y="1351995"/>
            <a:ext cx="5210175" cy="309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91" name="Google Shape;391;p5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92" name="Google Shape;392;p53"/>
          <p:cNvSpPr txBox="1"/>
          <p:nvPr/>
        </p:nvSpPr>
        <p:spPr>
          <a:xfrm>
            <a:off x="666750" y="1000124"/>
            <a:ext cx="8212138" cy="5600701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position:relative;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animation: 2s myanim;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animation-iteration-count: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@keyframes myanim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0%   {left:0px; top:0px;}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25%  {left:100px; top:0px;}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50%  {left:200px; top:0px;}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75%  {left:100px; top:0px;}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100% {left:0px; top:0px;}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3"/>
          <p:cNvSpPr txBox="1"/>
          <p:nvPr/>
        </p:nvSpPr>
        <p:spPr>
          <a:xfrm>
            <a:off x="6046115" y="5899666"/>
            <a:ext cx="163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실행결과 보기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f2" id="394" name="Google Shape;39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123" y="2600325"/>
            <a:ext cx="33191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6f0d9bc6c6_0_12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속도 효과</a:t>
            </a:r>
            <a:endParaRPr/>
          </a:p>
        </p:txBody>
      </p:sp>
      <p:sp>
        <p:nvSpPr>
          <p:cNvPr id="400" name="Google Shape;400;g36f0d9bc6c6_0_12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CSS3를 사용하면 요소에 애니메이션을 적용할 때, 속도효과(easing effect)를 지정할 수 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</a:t>
            </a:r>
            <a:r>
              <a:rPr b="1" lang="en-US"/>
              <a:t>animation-timing-function 속성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ease - 느린 속도로 시작했다가 빨라지고 다시 느린 속도 종료된다. (기본값).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linear - 처음부터 끝까지 같은 속도로 애니메이션을 지정한다.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ease-out - 끝날 때 속도가 줄어든다.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ease-in - 시작을 천천히 한다.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406" name="Google Shape;40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407" name="Google Shape;40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