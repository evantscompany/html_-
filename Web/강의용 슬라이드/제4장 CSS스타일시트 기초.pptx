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6858000" cx="9144000"/>
  <p:notesSz cx="6934200" cy="9220200"/>
  <p:embeddedFontLst>
    <p:embeddedFont>
      <p:font typeface="Century Schoolbook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71" roundtripDataSignature="AMtx7mixbkS7DQENRsREQxyB38cvIGgy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16A76CE-C10E-402D-82C7-308F2E73A374}">
  <a:tblStyle styleId="{916A76CE-C10E-402D-82C7-308F2E73A374}" styleName="Table_0">
    <a:wholeTbl>
      <a:tcTxStyle b="off" i="off">
        <a:font>
          <a:latin typeface="Comic Sans MS"/>
          <a:ea typeface="Comic Sans MS"/>
          <a:cs typeface="Comic Sans M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  <a:tblStyle styleId="{C3D58530-03F9-402E-8D95-ACFEB27E78B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customschemas.google.com/relationships/presentationmetadata" Target="metadata"/><Relationship Id="rId70" Type="http://schemas.openxmlformats.org/officeDocument/2006/relationships/font" Target="fonts/CenturySchoolbook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CenturySchoolbook-bold.fntdata"/><Relationship Id="rId23" Type="http://schemas.openxmlformats.org/officeDocument/2006/relationships/slide" Target="slides/slide17.xml"/><Relationship Id="rId67" Type="http://schemas.openxmlformats.org/officeDocument/2006/relationships/font" Target="fonts/CenturySchoolbook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CenturySchoolbook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2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2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2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2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3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3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edc2b5441_0_0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aedc2b5441_0_0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edc2b5441_0_91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aedc2b5441_0_91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edc2b5441_0_138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aedc2b5441_0_138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3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9" name="Google Shape;359;p3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p3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3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3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3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3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3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4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4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4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edc2b5441_0_227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aedc2b5441_0_227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4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edc2b5441_0_343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aedc2b5441_0_343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edc2b5441_0_357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aedc2b5441_0_357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4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4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4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4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4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4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5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5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5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5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5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17fdd57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17fdd57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17fdd57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17fdd57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17fdd57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17fdd57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17fdd57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17fdd57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17fdd57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17fdd57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17fdd57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17fdd57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17fdd57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17fdd57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17fdd57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17fdd57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17fdd57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17fdd57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17fdd57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17fdd57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17fdd57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17fdd57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17fdd57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17fdd57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17fdd57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17fdd57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17fdd57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17fdd57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17fdd57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17fdd57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17fdd57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3f17fdd57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3f17fdd57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17fdd57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17fdd57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17fdd57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www.w3schools.com/cssref/pr_font_font.asp" TargetMode="External"/><Relationship Id="rId4" Type="http://schemas.openxmlformats.org/officeDocument/2006/relationships/hyperlink" Target="http://www.w3schools.com/cssref/pr_font_font-family.asp" TargetMode="External"/><Relationship Id="rId5" Type="http://schemas.openxmlformats.org/officeDocument/2006/relationships/hyperlink" Target="http://www.w3schools.com/cssref/pr_font_font-size.asp" TargetMode="External"/><Relationship Id="rId6" Type="http://schemas.openxmlformats.org/officeDocument/2006/relationships/hyperlink" Target="http://www.w3schools.com/cssref/pr_font_font-style.asp" TargetMode="External"/><Relationship Id="rId7" Type="http://schemas.openxmlformats.org/officeDocument/2006/relationships/hyperlink" Target="http://www.w3schools.com/cssref/pr_font_weight.asp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Relationship Id="rId4" Type="http://schemas.openxmlformats.org/officeDocument/2006/relationships/image" Target="../media/image3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4.png"/><Relationship Id="rId4" Type="http://schemas.openxmlformats.org/officeDocument/2006/relationships/hyperlink" Target="https://fonts.google.com/" TargetMode="External"/><Relationship Id="rId5" Type="http://schemas.openxmlformats.org/officeDocument/2006/relationships/image" Target="../media/image2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6.png"/></Relationships>
</file>

<file path=ppt/slides/_rels/slide54.xml.rels><?xml version="1.0" encoding="UTF-8" standalone="yes"?><Relationships xmlns="http://schemas.openxmlformats.org/package/2006/relationships"><Relationship Id="rId10" Type="http://schemas.openxmlformats.org/officeDocument/2006/relationships/hyperlink" Target="http://www.w3schools.com/cssref/pr_text_text-transform.asp" TargetMode="External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://www.w3schools.com/cssref/pr_text_color.asp" TargetMode="External"/><Relationship Id="rId4" Type="http://schemas.openxmlformats.org/officeDocument/2006/relationships/hyperlink" Target="http://www.w3schools.com/cssref/pr_text_direction.asp" TargetMode="External"/><Relationship Id="rId9" Type="http://schemas.openxmlformats.org/officeDocument/2006/relationships/hyperlink" Target="http://www.w3schools.com/cssref/pr_text_text-indent.asp" TargetMode="External"/><Relationship Id="rId5" Type="http://schemas.openxmlformats.org/officeDocument/2006/relationships/hyperlink" Target="http://www.w3schools.com/cssref/pr_text_letter-spacing.asp" TargetMode="External"/><Relationship Id="rId6" Type="http://schemas.openxmlformats.org/officeDocument/2006/relationships/hyperlink" Target="http://www.w3schools.com/cssref/pr_dim_line-height.asp" TargetMode="External"/><Relationship Id="rId7" Type="http://schemas.openxmlformats.org/officeDocument/2006/relationships/hyperlink" Target="http://www.w3schools.com/cssref/pr_text_text-align.asp" TargetMode="External"/><Relationship Id="rId8" Type="http://schemas.openxmlformats.org/officeDocument/2006/relationships/hyperlink" Target="http://www.w3schools.com/cssref/pr_text_text-decoration.asp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7.png"/><Relationship Id="rId4" Type="http://schemas.openxmlformats.org/officeDocument/2006/relationships/image" Target="../media/image4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9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"/>
          <p:cNvSpPr txBox="1"/>
          <p:nvPr/>
        </p:nvSpPr>
        <p:spPr>
          <a:xfrm>
            <a:off x="1495425" y="1622425"/>
            <a:ext cx="7124564" cy="1323439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4.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CSS 스타일시트 기초</a:t>
            </a:r>
            <a:endParaRPr b="0" i="0" sz="4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CSS의 개념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문서의 구조-&gt; HTML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문서의 스타일 -&gt; ?</a:t>
            </a:r>
            <a:endParaRPr/>
          </a:p>
        </p:txBody>
      </p:sp>
      <p:pic>
        <p:nvPicPr>
          <p:cNvPr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8139" y="2686050"/>
            <a:ext cx="5582285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CSS의 역할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만약 CSS가 없다면</a:t>
            </a:r>
            <a:endParaRPr/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476500"/>
            <a:ext cx="83820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CSS(Cascading Style Sheets): 문서의 스타일을 지정한다. </a:t>
            </a:r>
            <a:endParaRPr/>
          </a:p>
        </p:txBody>
      </p:sp>
      <p:pic>
        <p:nvPicPr>
          <p:cNvPr id="84" name="Google Shape;8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5197" y="1914525"/>
            <a:ext cx="7454890" cy="379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CSS의 장점</a:t>
            </a:r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거대하고 복잡한 사이트를 관리할 때에 필요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모든 페이지들이 동일한 CSS를 공유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CSS에서 어떤 요소의 스타일을 변경하면 관련되는 전체 페이지의 내용이 한꺼번에 변경</a:t>
            </a:r>
            <a:endParaRPr/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4317" y="2933700"/>
            <a:ext cx="7540058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CSS3의 기능</a:t>
            </a:r>
            <a:endParaRPr/>
          </a:p>
        </p:txBody>
      </p:sp>
      <p:sp>
        <p:nvSpPr>
          <p:cNvPr id="97" name="Google Shape;97;p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선택자(selectors)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박스 모델(Box Model)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배경 및 경계선(Backgrounds and Borders)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텍스트 효과(Text Effects)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2차원 및 3차원 변환(2D/3D Transformations)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애니메이션(Animations)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다중 컬럼 레이아웃(Multiple Column Layout)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사용자 인터페이스(User Interface)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CSS3의 문법 </a:t>
            </a:r>
            <a:endParaRPr/>
          </a:p>
        </p:txBody>
      </p:sp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선택자(selector) { 속성: 값;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끝에 반드시 ;을 적어 준다.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주석: /* … */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638" y="2738438"/>
            <a:ext cx="5800725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CSS의 위치</a:t>
            </a:r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742950" y="1495426"/>
            <a:ext cx="8212138" cy="40766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&lt;title&gt;My Web Page&lt;/title&gt;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 {   background-color: yellow;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&lt;p&gt;This is a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12c35f5"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4862512"/>
            <a:ext cx="4212349" cy="1285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742950" y="2962275"/>
            <a:ext cx="4019550" cy="876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18" name="Google Shape;118;p9"/>
          <p:cNvSpPr txBox="1"/>
          <p:nvPr/>
        </p:nvSpPr>
        <p:spPr>
          <a:xfrm>
            <a:off x="742950" y="1247776"/>
            <a:ext cx="8212138" cy="447674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&lt;title&gt;My Web Page&lt;/title&gt;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h1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2px solid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&lt;h1&gt;This is a heading.&lt;/h1&gt;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12c35fa" id="119" name="Google Shape;1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9019" y="4902200"/>
            <a:ext cx="4048125" cy="146802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9"/>
          <p:cNvSpPr/>
          <p:nvPr/>
        </p:nvSpPr>
        <p:spPr>
          <a:xfrm>
            <a:off x="742950" y="2457450"/>
            <a:ext cx="3314700" cy="1704975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선택자</a:t>
            </a:r>
            <a:endParaRPr/>
          </a:p>
        </p:txBody>
      </p:sp>
      <p:sp>
        <p:nvSpPr>
          <p:cNvPr id="126" name="Google Shape;126;p1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선택자(selector): HTML 요소를 선택하는 부분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선택자는 jQuery에서도 사용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가장 많이 사용되는 것은 6가지 정도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선택자에 대한 W3C의 문서는 http://www.w3.org/TR/css3-selectors/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27" name="Google Shape;1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3088" y="1876425"/>
            <a:ext cx="4581525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선택자의 종류</a:t>
            </a:r>
            <a:endParaRPr/>
          </a:p>
        </p:txBody>
      </p:sp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타입 선택자(type selector)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전체 선택자(universal selector)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클래스 선택자(class selector)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아이디 선택자(ID selector)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속성 선택자(attribute selector)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의사 선택자(pseudo-class)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타입 선택자</a:t>
            </a:r>
            <a:endParaRPr/>
          </a:p>
        </p:txBody>
      </p:sp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타입 선택자(type selector) : </a:t>
            </a:r>
            <a:r>
              <a:rPr lang="en-US"/>
              <a:t>HTML 요소 이름을 사용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2213126" y="2339459"/>
            <a:ext cx="410080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h1  { color: green; }</a:t>
            </a:r>
            <a:endParaRPr b="0" i="1" sz="3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2124075" y="2238375"/>
            <a:ext cx="942975" cy="97155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2213126" y="3958709"/>
            <a:ext cx="29033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모든  h1 요소를 선택한다. </a:t>
            </a:r>
            <a:endParaRPr b="0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2"/>
          <p:cNvCxnSpPr>
            <a:endCxn id="141" idx="4"/>
          </p:cNvCxnSpPr>
          <p:nvPr/>
        </p:nvCxnSpPr>
        <p:spPr>
          <a:xfrm rot="10800000">
            <a:off x="2595563" y="3209925"/>
            <a:ext cx="166800" cy="7488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전체 선택자</a:t>
            </a:r>
            <a:endParaRPr/>
          </a:p>
        </p:txBody>
      </p:sp>
      <p:sp>
        <p:nvSpPr>
          <p:cNvPr id="149" name="Google Shape;149;p1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전체 선택자(universal selector): </a:t>
            </a:r>
            <a:r>
              <a:rPr lang="en-US"/>
              <a:t>페이지 안의 모든 요소를 선택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2213126" y="2339459"/>
            <a:ext cx="37930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  { color: green; }</a:t>
            </a:r>
            <a:endParaRPr b="0" i="1" sz="3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2124075" y="2238375"/>
            <a:ext cx="733425" cy="847725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2213126" y="3958709"/>
            <a:ext cx="2518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전체 요소를 선택한다. </a:t>
            </a:r>
            <a:endParaRPr b="0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13"/>
          <p:cNvCxnSpPr>
            <a:endCxn id="151" idx="4"/>
          </p:cNvCxnSpPr>
          <p:nvPr/>
        </p:nvCxnSpPr>
        <p:spPr>
          <a:xfrm rot="10800000">
            <a:off x="2490788" y="3086100"/>
            <a:ext cx="271500" cy="8727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아이디 선택자</a:t>
            </a:r>
            <a:endParaRPr/>
          </a:p>
        </p:txBody>
      </p:sp>
      <p:sp>
        <p:nvSpPr>
          <p:cNvPr id="159" name="Google Shape;159;p1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아이디 선택자(id selector):  </a:t>
            </a:r>
            <a:r>
              <a:rPr lang="en-US"/>
              <a:t>특정한 요소를 선택</a:t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2213126" y="2339459"/>
            <a:ext cx="46362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#target  { color: red; }</a:t>
            </a:r>
            <a:endParaRPr b="0" i="1" sz="3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2124075" y="2238375"/>
            <a:ext cx="733425" cy="847725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3013226" y="3308866"/>
            <a:ext cx="32880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id가 target인 요소를 선택한다.</a:t>
            </a:r>
            <a:endParaRPr b="0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" name="Google Shape;163;p14"/>
          <p:cNvCxnSpPr>
            <a:endCxn id="161" idx="4"/>
          </p:cNvCxnSpPr>
          <p:nvPr/>
        </p:nvCxnSpPr>
        <p:spPr>
          <a:xfrm rot="10800000">
            <a:off x="2490788" y="3086100"/>
            <a:ext cx="700200" cy="1905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4" name="Google Shape;164;p14"/>
          <p:cNvSpPr/>
          <p:nvPr/>
        </p:nvSpPr>
        <p:spPr>
          <a:xfrm>
            <a:off x="857250" y="4438651"/>
            <a:ext cx="8143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sng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 id=“target"&gt;Hello World!&lt;/p&gt;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3688064" y="5432941"/>
            <a:ext cx="38779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&lt;p&gt;요소의 id를 “target”로 지정한다.</a:t>
            </a:r>
            <a:endParaRPr b="0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14"/>
          <p:cNvCxnSpPr/>
          <p:nvPr/>
        </p:nvCxnSpPr>
        <p:spPr>
          <a:xfrm rot="10800000">
            <a:off x="3165626" y="5210175"/>
            <a:ext cx="700087" cy="1905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742950" y="1247776"/>
            <a:ext cx="8212138" cy="51149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&lt;title&gt;CSS id Example&lt;/title&gt;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#special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color: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id="special"&gt;id가 special인 단락입니다.&lt;/p&gt;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&lt;p&gt;정상적인 단락입니다.&lt;/p&gt;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742950" y="2457450"/>
            <a:ext cx="3314700" cy="1704975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12c3616"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761" y="2659856"/>
            <a:ext cx="4470327" cy="1300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클래스 선택자</a:t>
            </a:r>
            <a:endParaRPr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클래스 선택자(class selector)</a:t>
            </a:r>
            <a:r>
              <a:rPr lang="en-US"/>
              <a:t>는 클래스가 부여된 요소를 선택한다. 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2213126" y="2339459"/>
            <a:ext cx="44839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.target  { color: red; }</a:t>
            </a:r>
            <a:endParaRPr b="0" i="1" sz="3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2124075" y="2238375"/>
            <a:ext cx="733425" cy="847725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013226" y="3308866"/>
            <a:ext cx="38010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클래스가 target인 요소를 선택한다.</a:t>
            </a:r>
            <a:endParaRPr b="0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16"/>
          <p:cNvCxnSpPr>
            <a:endCxn id="182" idx="4"/>
          </p:cNvCxnSpPr>
          <p:nvPr/>
        </p:nvCxnSpPr>
        <p:spPr>
          <a:xfrm rot="10800000">
            <a:off x="2490788" y="3086100"/>
            <a:ext cx="700200" cy="1905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5" name="Google Shape;185;p16"/>
          <p:cNvSpPr/>
          <p:nvPr/>
        </p:nvSpPr>
        <p:spPr>
          <a:xfrm>
            <a:off x="857250" y="4438651"/>
            <a:ext cx="81438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sng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&lt;p class=“target"&gt;Hello World!&lt;/p&gt;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3688064" y="5432941"/>
            <a:ext cx="43909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&lt;p&gt;요소의 클래스를 “target”로 지정한다.</a:t>
            </a:r>
            <a:endParaRPr b="0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16"/>
          <p:cNvCxnSpPr/>
          <p:nvPr/>
        </p:nvCxnSpPr>
        <p:spPr>
          <a:xfrm rot="10800000">
            <a:off x="3165626" y="5210175"/>
            <a:ext cx="700087" cy="1905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742950" y="1247776"/>
            <a:ext cx="8212138" cy="47624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&lt;title&gt;CSS class Example&lt;/title&gt;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.type1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text-align: center;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 class="type1"&gt;class가 type1인 헤딩입니다.&lt;/h1&gt;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class="type1"&gt;class가 type1인 단락입니다&lt;/p&gt;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742950" y="2457451"/>
            <a:ext cx="3314700" cy="139065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12c362d" id="195" name="Google Shape;1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3065" y="2546352"/>
            <a:ext cx="4580935" cy="1301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선택자 그룹</a:t>
            </a:r>
            <a:endParaRPr/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선택자를 콤마(,)로 분리하여 나열할 수 있다.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841526" y="2339459"/>
            <a:ext cx="781976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n-US" sz="3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h1, h2, h3 { font-family: sans-serif;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762000" y="2195215"/>
            <a:ext cx="2438400" cy="847725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013226" y="3308866"/>
            <a:ext cx="3762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&lt;h1&gt;, &lt;h2&gt;, &lt;h3&gt;요소를 선택한다.</a:t>
            </a:r>
            <a:endParaRPr b="0" i="1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18"/>
          <p:cNvCxnSpPr>
            <a:endCxn id="203" idx="4"/>
          </p:cNvCxnSpPr>
          <p:nvPr/>
        </p:nvCxnSpPr>
        <p:spPr>
          <a:xfrm rot="10800000">
            <a:off x="1981200" y="3042940"/>
            <a:ext cx="1219200" cy="4506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/>
        </p:nvSpPr>
        <p:spPr>
          <a:xfrm>
            <a:off x="742950" y="1247776"/>
            <a:ext cx="8212138" cy="50196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&lt;title&gt;CSS selector Example&lt;/title&gt;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h1, p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font-family: sans-serif;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color: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&lt;h1&gt;This is a heading1.&lt;/h1&gt;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&lt;p&gt;This is a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11" name="Google Shape;211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pic>
        <p:nvPicPr>
          <p:cNvPr descr="EMB00001f04bd46" id="212" name="Google Shape;2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4049" y="2671763"/>
            <a:ext cx="4608869" cy="1309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자손, 자식, 형제 결합자</a:t>
            </a:r>
            <a:endParaRPr/>
          </a:p>
        </p:txBody>
      </p:sp>
      <p:graphicFrame>
        <p:nvGraphicFramePr>
          <p:cNvPr id="218" name="Google Shape;218;p20"/>
          <p:cNvGraphicFramePr/>
          <p:nvPr/>
        </p:nvGraphicFramePr>
        <p:xfrm>
          <a:off x="685800" y="167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{916A76CE-C10E-402D-82C7-308F2E73A374}</a:tableStyleId>
              </a:tblPr>
              <a:tblGrid>
                <a:gridCol w="1834750"/>
                <a:gridCol w="6376750"/>
              </a:tblGrid>
              <a:tr h="400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선택자 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76425" marL="7642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76425" marL="76425" anchor="ctr"/>
                </a:tc>
              </a:tr>
              <a:tr h="400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s1 s2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76425" marL="7642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s1 요소에 포함된 s2 요소를 선택한다. (후손 관계)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76425" marL="76425" anchor="ctr"/>
                </a:tc>
              </a:tr>
              <a:tr h="400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s2 &gt; s2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76425" marL="76425" anchor="ctr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s1 요소의 직계 자식 요소인 s2를 선택한다.(자식 관계)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76425" marL="76425" anchor="ctr"/>
                </a:tc>
              </a:tr>
            </a:tbl>
          </a:graphicData>
        </a:graphic>
      </p:graphicFrame>
      <p:sp>
        <p:nvSpPr>
          <p:cNvPr id="219" name="Google Shape;219;p20"/>
          <p:cNvSpPr txBox="1"/>
          <p:nvPr/>
        </p:nvSpPr>
        <p:spPr>
          <a:xfrm>
            <a:off x="685800" y="3290590"/>
            <a:ext cx="8212138" cy="1615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Noto Sans Symbols"/>
              <a:buChar char="∙"/>
            </a:pPr>
            <a:r>
              <a:rPr b="0" i="0" lang="en-US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  em { color:red; }	/* body 안의 em 요소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Noto Sans Symbols"/>
              <a:buChar char="∙"/>
            </a:pPr>
            <a:r>
              <a:rPr b="0" i="0" lang="en-US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 &gt; h1 { color:blue; }	/* body 안의 h1 요소 */</a:t>
            </a:r>
            <a:endParaRPr b="0" i="0" sz="2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/>
        </p:nvSpPr>
        <p:spPr>
          <a:xfrm>
            <a:off x="742950" y="1247776"/>
            <a:ext cx="8212138" cy="363854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body em { color: red; }   /* body 안의 em 요소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body &gt; h1 { color: blue; }   /* body 안의 h1 요소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&lt;h1&gt;This headline is &lt;em&gt;very&lt;/em&gt; important&lt;/h1&gt;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25" name="Google Shape;225;p2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pic>
        <p:nvPicPr>
          <p:cNvPr descr="EMB00001f04bd51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8025" y="5048250"/>
            <a:ext cx="5885027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의사 클래스</a:t>
            </a:r>
            <a:endParaRPr/>
          </a:p>
        </p:txBody>
      </p:sp>
      <p:sp>
        <p:nvSpPr>
          <p:cNvPr id="232" name="Google Shape;232;p22"/>
          <p:cNvSpPr txBox="1"/>
          <p:nvPr>
            <p:ph idx="1" type="body"/>
          </p:nvPr>
        </p:nvSpPr>
        <p:spPr>
          <a:xfrm>
            <a:off x="685800" y="1333499"/>
            <a:ext cx="8212138" cy="3095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의사 클래스(pseudo-class):  </a:t>
            </a:r>
            <a:r>
              <a:rPr lang="en-US"/>
              <a:t>클래스가 정의된 것처럼 간주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a:link { color: blue; 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a:visited { color: green; 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a:hover { color: red; }	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/>
          <p:nvPr/>
        </p:nvSpPr>
        <p:spPr>
          <a:xfrm>
            <a:off x="742950" y="1247776"/>
            <a:ext cx="8212138" cy="48291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a:link 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text-decoration: none;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color: blue;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white;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a:visited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text-decoration: none;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color: green;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silver;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a:hover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text-decoration: none;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color: white;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background-color: blue;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…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8" name="Google Shape;238;p2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pic>
        <p:nvPicPr>
          <p:cNvPr id="239" name="Google Shape;239;p23"/>
          <p:cNvPicPr preferRelativeResize="0"/>
          <p:nvPr/>
        </p:nvPicPr>
        <p:blipFill rotWithShape="1">
          <a:blip r:embed="rId3">
            <a:alphaModFix/>
          </a:blip>
          <a:srcRect b="14445" l="3672" r="59476" t="22592"/>
          <a:stretch/>
        </p:blipFill>
        <p:spPr>
          <a:xfrm>
            <a:off x="4933950" y="2781301"/>
            <a:ext cx="2676526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3181350" y="4200525"/>
            <a:ext cx="1847850" cy="466725"/>
          </a:xfrm>
          <a:custGeom>
            <a:rect b="b" l="l" r="r" t="t"/>
            <a:pathLst>
              <a:path extrusionOk="0" h="466725" w="1847850">
                <a:moveTo>
                  <a:pt x="0" y="466725"/>
                </a:moveTo>
                <a:cubicBezTo>
                  <a:pt x="134350" y="399550"/>
                  <a:pt x="-13824" y="475463"/>
                  <a:pt x="104775" y="409575"/>
                </a:cubicBezTo>
                <a:cubicBezTo>
                  <a:pt x="117187" y="402679"/>
                  <a:pt x="130699" y="397830"/>
                  <a:pt x="142875" y="390525"/>
                </a:cubicBezTo>
                <a:cubicBezTo>
                  <a:pt x="162508" y="378745"/>
                  <a:pt x="180975" y="365125"/>
                  <a:pt x="200025" y="352425"/>
                </a:cubicBezTo>
                <a:cubicBezTo>
                  <a:pt x="209550" y="346075"/>
                  <a:pt x="217740" y="336995"/>
                  <a:pt x="228600" y="333375"/>
                </a:cubicBezTo>
                <a:cubicBezTo>
                  <a:pt x="238125" y="330200"/>
                  <a:pt x="247521" y="326608"/>
                  <a:pt x="257175" y="323850"/>
                </a:cubicBezTo>
                <a:cubicBezTo>
                  <a:pt x="281342" y="316945"/>
                  <a:pt x="301012" y="314588"/>
                  <a:pt x="323850" y="304800"/>
                </a:cubicBezTo>
                <a:cubicBezTo>
                  <a:pt x="336901" y="299207"/>
                  <a:pt x="348899" y="291343"/>
                  <a:pt x="361950" y="285750"/>
                </a:cubicBezTo>
                <a:cubicBezTo>
                  <a:pt x="415680" y="262723"/>
                  <a:pt x="364179" y="290867"/>
                  <a:pt x="428625" y="266700"/>
                </a:cubicBezTo>
                <a:cubicBezTo>
                  <a:pt x="517223" y="233476"/>
                  <a:pt x="407529" y="257516"/>
                  <a:pt x="523875" y="238125"/>
                </a:cubicBezTo>
                <a:cubicBezTo>
                  <a:pt x="606213" y="188722"/>
                  <a:pt x="535793" y="227537"/>
                  <a:pt x="619125" y="190500"/>
                </a:cubicBezTo>
                <a:cubicBezTo>
                  <a:pt x="654173" y="174923"/>
                  <a:pt x="652262" y="170309"/>
                  <a:pt x="685800" y="161925"/>
                </a:cubicBezTo>
                <a:cubicBezTo>
                  <a:pt x="701506" y="157998"/>
                  <a:pt x="717550" y="155575"/>
                  <a:pt x="733425" y="152400"/>
                </a:cubicBezTo>
                <a:cubicBezTo>
                  <a:pt x="742950" y="146050"/>
                  <a:pt x="751761" y="138470"/>
                  <a:pt x="762000" y="133350"/>
                </a:cubicBezTo>
                <a:cubicBezTo>
                  <a:pt x="777293" y="125704"/>
                  <a:pt x="793405" y="119707"/>
                  <a:pt x="809625" y="114300"/>
                </a:cubicBezTo>
                <a:cubicBezTo>
                  <a:pt x="848743" y="101261"/>
                  <a:pt x="942373" y="89655"/>
                  <a:pt x="962025" y="85725"/>
                </a:cubicBezTo>
                <a:cubicBezTo>
                  <a:pt x="987725" y="80585"/>
                  <a:pt x="1042427" y="69112"/>
                  <a:pt x="1066800" y="66675"/>
                </a:cubicBezTo>
                <a:cubicBezTo>
                  <a:pt x="1111142" y="62241"/>
                  <a:pt x="1155648" y="59492"/>
                  <a:pt x="1200150" y="57150"/>
                </a:cubicBezTo>
                <a:lnTo>
                  <a:pt x="1609725" y="38100"/>
                </a:lnTo>
                <a:cubicBezTo>
                  <a:pt x="1638300" y="34925"/>
                  <a:pt x="1666988" y="32641"/>
                  <a:pt x="1695450" y="28575"/>
                </a:cubicBezTo>
                <a:cubicBezTo>
                  <a:pt x="1711477" y="26285"/>
                  <a:pt x="1727074" y="21512"/>
                  <a:pt x="1743075" y="19050"/>
                </a:cubicBezTo>
                <a:cubicBezTo>
                  <a:pt x="1768375" y="15158"/>
                  <a:pt x="1793875" y="12700"/>
                  <a:pt x="1819275" y="9525"/>
                </a:cubicBezTo>
                <a:lnTo>
                  <a:pt x="1847850" y="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429000" y="3162300"/>
            <a:ext cx="1581150" cy="143810"/>
          </a:xfrm>
          <a:custGeom>
            <a:rect b="b" l="l" r="r" t="t"/>
            <a:pathLst>
              <a:path extrusionOk="0" h="143810" w="1581150">
                <a:moveTo>
                  <a:pt x="0" y="0"/>
                </a:moveTo>
                <a:cubicBezTo>
                  <a:pt x="158750" y="3175"/>
                  <a:pt x="317666" y="1596"/>
                  <a:pt x="476250" y="9525"/>
                </a:cubicBezTo>
                <a:cubicBezTo>
                  <a:pt x="508588" y="11142"/>
                  <a:pt x="539750" y="22225"/>
                  <a:pt x="571500" y="28575"/>
                </a:cubicBezTo>
                <a:lnTo>
                  <a:pt x="619125" y="38100"/>
                </a:lnTo>
                <a:cubicBezTo>
                  <a:pt x="628650" y="44450"/>
                  <a:pt x="636506" y="54751"/>
                  <a:pt x="647700" y="57150"/>
                </a:cubicBezTo>
                <a:cubicBezTo>
                  <a:pt x="681991" y="64498"/>
                  <a:pt x="717463" y="64674"/>
                  <a:pt x="752475" y="66675"/>
                </a:cubicBezTo>
                <a:cubicBezTo>
                  <a:pt x="828617" y="71026"/>
                  <a:pt x="904875" y="73025"/>
                  <a:pt x="981075" y="76200"/>
                </a:cubicBezTo>
                <a:cubicBezTo>
                  <a:pt x="1082027" y="109851"/>
                  <a:pt x="977532" y="77926"/>
                  <a:pt x="1228725" y="95250"/>
                </a:cubicBezTo>
                <a:cubicBezTo>
                  <a:pt x="1247992" y="96579"/>
                  <a:pt x="1267022" y="100585"/>
                  <a:pt x="1285875" y="104775"/>
                </a:cubicBezTo>
                <a:cubicBezTo>
                  <a:pt x="1295676" y="106953"/>
                  <a:pt x="1304487" y="113055"/>
                  <a:pt x="1314450" y="114300"/>
                </a:cubicBezTo>
                <a:cubicBezTo>
                  <a:pt x="1355527" y="119435"/>
                  <a:pt x="1397000" y="120650"/>
                  <a:pt x="1438275" y="123825"/>
                </a:cubicBezTo>
                <a:cubicBezTo>
                  <a:pt x="1457325" y="127000"/>
                  <a:pt x="1476572" y="129160"/>
                  <a:pt x="1495425" y="133350"/>
                </a:cubicBezTo>
                <a:cubicBezTo>
                  <a:pt x="1505226" y="135528"/>
                  <a:pt x="1514021" y="141766"/>
                  <a:pt x="1524000" y="142875"/>
                </a:cubicBezTo>
                <a:cubicBezTo>
                  <a:pt x="1542933" y="144979"/>
                  <a:pt x="1562100" y="142875"/>
                  <a:pt x="1581150" y="14287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3276600" y="1790700"/>
            <a:ext cx="1933575" cy="1057275"/>
          </a:xfrm>
          <a:custGeom>
            <a:rect b="b" l="l" r="r" t="t"/>
            <a:pathLst>
              <a:path extrusionOk="0" h="1057275" w="1933575">
                <a:moveTo>
                  <a:pt x="0" y="0"/>
                </a:moveTo>
                <a:cubicBezTo>
                  <a:pt x="28575" y="6350"/>
                  <a:pt x="57021" y="13309"/>
                  <a:pt x="85725" y="19050"/>
                </a:cubicBezTo>
                <a:cubicBezTo>
                  <a:pt x="104663" y="22838"/>
                  <a:pt x="124139" y="23891"/>
                  <a:pt x="142875" y="28575"/>
                </a:cubicBezTo>
                <a:cubicBezTo>
                  <a:pt x="162356" y="33445"/>
                  <a:pt x="180390" y="43418"/>
                  <a:pt x="200025" y="47625"/>
                </a:cubicBezTo>
                <a:cubicBezTo>
                  <a:pt x="225054" y="52988"/>
                  <a:pt x="251066" y="52433"/>
                  <a:pt x="276225" y="57150"/>
                </a:cubicBezTo>
                <a:cubicBezTo>
                  <a:pt x="301958" y="61975"/>
                  <a:pt x="326939" y="70203"/>
                  <a:pt x="352425" y="76200"/>
                </a:cubicBezTo>
                <a:cubicBezTo>
                  <a:pt x="380919" y="82904"/>
                  <a:pt x="409395" y="89773"/>
                  <a:pt x="438150" y="95250"/>
                </a:cubicBezTo>
                <a:cubicBezTo>
                  <a:pt x="476093" y="102477"/>
                  <a:pt x="514785" y="105740"/>
                  <a:pt x="552450" y="114300"/>
                </a:cubicBezTo>
                <a:cubicBezTo>
                  <a:pt x="584774" y="121646"/>
                  <a:pt x="615453" y="135197"/>
                  <a:pt x="647700" y="142875"/>
                </a:cubicBezTo>
                <a:cubicBezTo>
                  <a:pt x="682232" y="151097"/>
                  <a:pt x="717624" y="155180"/>
                  <a:pt x="752475" y="161925"/>
                </a:cubicBezTo>
                <a:lnTo>
                  <a:pt x="942975" y="200025"/>
                </a:lnTo>
                <a:cubicBezTo>
                  <a:pt x="965200" y="209550"/>
                  <a:pt x="987009" y="220110"/>
                  <a:pt x="1009650" y="228600"/>
                </a:cubicBezTo>
                <a:cubicBezTo>
                  <a:pt x="1037853" y="239176"/>
                  <a:pt x="1067780" y="245102"/>
                  <a:pt x="1095375" y="257175"/>
                </a:cubicBezTo>
                <a:cubicBezTo>
                  <a:pt x="1118826" y="267435"/>
                  <a:pt x="1139398" y="283353"/>
                  <a:pt x="1162050" y="295275"/>
                </a:cubicBezTo>
                <a:cubicBezTo>
                  <a:pt x="1199745" y="315114"/>
                  <a:pt x="1239823" y="330509"/>
                  <a:pt x="1276350" y="352425"/>
                </a:cubicBezTo>
                <a:cubicBezTo>
                  <a:pt x="1292225" y="361950"/>
                  <a:pt x="1307791" y="372009"/>
                  <a:pt x="1323975" y="381000"/>
                </a:cubicBezTo>
                <a:cubicBezTo>
                  <a:pt x="1357798" y="399791"/>
                  <a:pt x="1390177" y="409102"/>
                  <a:pt x="1419225" y="438150"/>
                </a:cubicBezTo>
                <a:lnTo>
                  <a:pt x="1524000" y="542925"/>
                </a:lnTo>
                <a:lnTo>
                  <a:pt x="1552575" y="571500"/>
                </a:lnTo>
                <a:cubicBezTo>
                  <a:pt x="1562100" y="581025"/>
                  <a:pt x="1573068" y="589299"/>
                  <a:pt x="1581150" y="600075"/>
                </a:cubicBezTo>
                <a:cubicBezTo>
                  <a:pt x="1611721" y="640837"/>
                  <a:pt x="1631886" y="671464"/>
                  <a:pt x="1676400" y="704850"/>
                </a:cubicBezTo>
                <a:cubicBezTo>
                  <a:pt x="1800916" y="798237"/>
                  <a:pt x="1649982" y="678432"/>
                  <a:pt x="1733550" y="762000"/>
                </a:cubicBezTo>
                <a:cubicBezTo>
                  <a:pt x="1741645" y="770095"/>
                  <a:pt x="1753331" y="773721"/>
                  <a:pt x="1762125" y="781050"/>
                </a:cubicBezTo>
                <a:cubicBezTo>
                  <a:pt x="1807661" y="818996"/>
                  <a:pt x="1775693" y="797332"/>
                  <a:pt x="1809750" y="838200"/>
                </a:cubicBezTo>
                <a:cubicBezTo>
                  <a:pt x="1836082" y="869798"/>
                  <a:pt x="1839638" y="859877"/>
                  <a:pt x="1857375" y="895350"/>
                </a:cubicBezTo>
                <a:cubicBezTo>
                  <a:pt x="1861865" y="904330"/>
                  <a:pt x="1862024" y="915148"/>
                  <a:pt x="1866900" y="923925"/>
                </a:cubicBezTo>
                <a:cubicBezTo>
                  <a:pt x="1878019" y="943939"/>
                  <a:pt x="1892300" y="962025"/>
                  <a:pt x="1905000" y="981075"/>
                </a:cubicBezTo>
                <a:lnTo>
                  <a:pt x="1924050" y="1009650"/>
                </a:lnTo>
                <a:lnTo>
                  <a:pt x="1933575" y="1057275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742950" y="1247776"/>
            <a:ext cx="2771775" cy="15335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742950" y="2809878"/>
            <a:ext cx="2771775" cy="1314448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742950" y="4276726"/>
            <a:ext cx="2771775" cy="1314448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속성 선택자</a:t>
            </a:r>
            <a:endParaRPr/>
          </a:p>
        </p:txBody>
      </p:sp>
      <p:sp>
        <p:nvSpPr>
          <p:cNvPr id="251" name="Google Shape;251;p2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속성 선택자: 특정한 속성을 가지는 요소를 선택한다.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h1[title] { color: blue; }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p[class=“example”] { color: blue; }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 삽입 위치</a:t>
            </a:r>
            <a:endParaRPr/>
          </a:p>
        </p:txBody>
      </p:sp>
      <p:sp>
        <p:nvSpPr>
          <p:cNvPr id="257" name="Google Shape;257;p2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외부 스타일 시트(external style sheet)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내부 스타일 시트(internal style sheet)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인라인 스타일 시트(inline)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외부 스타일 시트</a:t>
            </a:r>
            <a:endParaRPr/>
          </a:p>
        </p:txBody>
      </p:sp>
      <p:sp>
        <p:nvSpPr>
          <p:cNvPr id="263" name="Google Shape;263;p2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외부 스타일 시트는 스타일 시트를 외부에 파일로 저장하는 것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많은 페이지에 동일한 스타일을 적용하려고 할 때 좋은 방법</a:t>
            </a:r>
            <a:endParaRPr/>
          </a:p>
        </p:txBody>
      </p:sp>
      <p:pic>
        <p:nvPicPr>
          <p:cNvPr id="264" name="Google Shape;2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0421" y="3476625"/>
            <a:ext cx="3980333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6"/>
          <p:cNvSpPr/>
          <p:nvPr/>
        </p:nvSpPr>
        <p:spPr>
          <a:xfrm>
            <a:off x="1066801" y="2635449"/>
            <a:ext cx="74961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&lt;link type="text/css" rel="stylesheet" href="mystyle.css"&gt;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7"/>
          <p:cNvSpPr txBox="1"/>
          <p:nvPr/>
        </p:nvSpPr>
        <p:spPr>
          <a:xfrm>
            <a:off x="742950" y="1247777"/>
            <a:ext cx="8212138" cy="6953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h1 {    color: red;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 {    color:#0026ff;   }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1" name="Google Shape;271;p2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742950" y="2085976"/>
            <a:ext cx="8212138" cy="29622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&lt;link type="text/css" rel="stylesheet" href="mystyle.css"&gt;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&lt;h1&gt;This is a headline.&lt;/h1&gt;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&lt;p&gt;This is a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638175" y="914404"/>
            <a:ext cx="1377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mystyle.css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f04bd5c" id="274" name="Google Shape;2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1469" y="4600574"/>
            <a:ext cx="3596582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-200035" y="1465984"/>
            <a:ext cx="1247785" cy="1715366"/>
          </a:xfrm>
          <a:custGeom>
            <a:rect b="b" l="l" r="r" t="t"/>
            <a:pathLst>
              <a:path extrusionOk="0" h="1715366" w="1247785">
                <a:moveTo>
                  <a:pt x="1247785" y="1715366"/>
                </a:moveTo>
                <a:cubicBezTo>
                  <a:pt x="999693" y="1708069"/>
                  <a:pt x="970926" y="1717467"/>
                  <a:pt x="771535" y="1686791"/>
                </a:cubicBezTo>
                <a:cubicBezTo>
                  <a:pt x="739533" y="1681868"/>
                  <a:pt x="707418" y="1676636"/>
                  <a:pt x="676285" y="1667741"/>
                </a:cubicBezTo>
                <a:cubicBezTo>
                  <a:pt x="640552" y="1657532"/>
                  <a:pt x="606257" y="1642821"/>
                  <a:pt x="571510" y="1629641"/>
                </a:cubicBezTo>
                <a:cubicBezTo>
                  <a:pt x="514176" y="1607894"/>
                  <a:pt x="453300" y="1593389"/>
                  <a:pt x="400060" y="1562966"/>
                </a:cubicBezTo>
                <a:cubicBezTo>
                  <a:pt x="363744" y="1542214"/>
                  <a:pt x="247757" y="1477338"/>
                  <a:pt x="228610" y="1458191"/>
                </a:cubicBezTo>
                <a:cubicBezTo>
                  <a:pt x="167894" y="1397475"/>
                  <a:pt x="200236" y="1422117"/>
                  <a:pt x="133360" y="1381991"/>
                </a:cubicBezTo>
                <a:cubicBezTo>
                  <a:pt x="64264" y="1289863"/>
                  <a:pt x="131623" y="1388042"/>
                  <a:pt x="95260" y="1315316"/>
                </a:cubicBezTo>
                <a:cubicBezTo>
                  <a:pt x="90140" y="1305077"/>
                  <a:pt x="82277" y="1296449"/>
                  <a:pt x="76210" y="1286741"/>
                </a:cubicBezTo>
                <a:cubicBezTo>
                  <a:pt x="66398" y="1271042"/>
                  <a:pt x="55914" y="1255675"/>
                  <a:pt x="47635" y="1239116"/>
                </a:cubicBezTo>
                <a:cubicBezTo>
                  <a:pt x="33661" y="1211167"/>
                  <a:pt x="25123" y="1183707"/>
                  <a:pt x="19060" y="1153391"/>
                </a:cubicBezTo>
                <a:cubicBezTo>
                  <a:pt x="15272" y="1134453"/>
                  <a:pt x="12710" y="1115291"/>
                  <a:pt x="9535" y="1096241"/>
                </a:cubicBezTo>
                <a:cubicBezTo>
                  <a:pt x="-2181" y="920507"/>
                  <a:pt x="-4139" y="993631"/>
                  <a:pt x="9535" y="829541"/>
                </a:cubicBezTo>
                <a:cubicBezTo>
                  <a:pt x="18906" y="717084"/>
                  <a:pt x="11054" y="756789"/>
                  <a:pt x="28585" y="686666"/>
                </a:cubicBezTo>
                <a:cubicBezTo>
                  <a:pt x="46809" y="486205"/>
                  <a:pt x="21599" y="652801"/>
                  <a:pt x="57160" y="534266"/>
                </a:cubicBezTo>
                <a:cubicBezTo>
                  <a:pt x="65311" y="507095"/>
                  <a:pt x="63638" y="483209"/>
                  <a:pt x="76210" y="458066"/>
                </a:cubicBezTo>
                <a:cubicBezTo>
                  <a:pt x="97113" y="416260"/>
                  <a:pt x="97611" y="441488"/>
                  <a:pt x="114310" y="391391"/>
                </a:cubicBezTo>
                <a:cubicBezTo>
                  <a:pt x="122589" y="366553"/>
                  <a:pt x="121651" y="338609"/>
                  <a:pt x="133360" y="315191"/>
                </a:cubicBezTo>
                <a:cubicBezTo>
                  <a:pt x="162649" y="256613"/>
                  <a:pt x="144534" y="288905"/>
                  <a:pt x="190510" y="219941"/>
                </a:cubicBezTo>
                <a:cubicBezTo>
                  <a:pt x="196860" y="210416"/>
                  <a:pt x="200035" y="197716"/>
                  <a:pt x="209560" y="191366"/>
                </a:cubicBezTo>
                <a:cubicBezTo>
                  <a:pt x="219085" y="185016"/>
                  <a:pt x="230040" y="180411"/>
                  <a:pt x="238135" y="172316"/>
                </a:cubicBezTo>
                <a:cubicBezTo>
                  <a:pt x="249360" y="161091"/>
                  <a:pt x="254657" y="144547"/>
                  <a:pt x="266710" y="134216"/>
                </a:cubicBezTo>
                <a:cubicBezTo>
                  <a:pt x="287220" y="116636"/>
                  <a:pt x="318048" y="111857"/>
                  <a:pt x="342910" y="105641"/>
                </a:cubicBezTo>
                <a:cubicBezTo>
                  <a:pt x="352435" y="99291"/>
                  <a:pt x="360766" y="90611"/>
                  <a:pt x="371485" y="86591"/>
                </a:cubicBezTo>
                <a:cubicBezTo>
                  <a:pt x="407911" y="72931"/>
                  <a:pt x="535404" y="68120"/>
                  <a:pt x="542935" y="67541"/>
                </a:cubicBezTo>
                <a:cubicBezTo>
                  <a:pt x="600082" y="48492"/>
                  <a:pt x="592657" y="49316"/>
                  <a:pt x="685810" y="38966"/>
                </a:cubicBezTo>
                <a:cubicBezTo>
                  <a:pt x="796976" y="26614"/>
                  <a:pt x="743006" y="33007"/>
                  <a:pt x="847735" y="19916"/>
                </a:cubicBezTo>
                <a:cubicBezTo>
                  <a:pt x="886877" y="-6179"/>
                  <a:pt x="864862" y="866"/>
                  <a:pt x="914410" y="866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내부 스타일 시트</a:t>
            </a:r>
            <a:endParaRPr/>
          </a:p>
        </p:txBody>
      </p:sp>
      <p:sp>
        <p:nvSpPr>
          <p:cNvPr id="281" name="Google Shape;281;p2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내부 스타일 시트는 HTML 안에 CSS를 정의하는 것이다.</a:t>
            </a:r>
            <a:endParaRPr/>
          </a:p>
        </p:txBody>
      </p:sp>
      <p:sp>
        <p:nvSpPr>
          <p:cNvPr id="282" name="Google Shape;282;p28"/>
          <p:cNvSpPr txBox="1"/>
          <p:nvPr/>
        </p:nvSpPr>
        <p:spPr>
          <a:xfrm>
            <a:off x="742950" y="2181225"/>
            <a:ext cx="8212138" cy="390524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h1 {            color: red; 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 {            color: #0026ff;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&lt;h1&gt;This is a headline.&lt;/h1&gt;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&lt;p&gt;This is a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876300" y="3057526"/>
            <a:ext cx="3390900" cy="1181099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MB00001f04bd5c" id="284" name="Google Shape;2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1469" y="4600574"/>
            <a:ext cx="3596582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인라인 스타일 시트</a:t>
            </a:r>
            <a:endParaRPr/>
          </a:p>
        </p:txBody>
      </p:sp>
      <p:sp>
        <p:nvSpPr>
          <p:cNvPr id="290" name="Google Shape;290;p2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각각의 HTML 요소마다 스타일을 지정하는 것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2개 이상의 선언이 있다면 반드시 끝에 ;을 적어 준다. 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742950" y="2190751"/>
            <a:ext cx="8212138" cy="27050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 style="color: red"&gt;This is a headline.&lt;/h1&gt;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style="color: #0026ff"&gt;This is a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f04bd5c" id="292" name="Google Shape;2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1469" y="4600574"/>
            <a:ext cx="3596582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/>
          <p:nvPr/>
        </p:nvSpPr>
        <p:spPr>
          <a:xfrm>
            <a:off x="876299" y="3724275"/>
            <a:ext cx="5286375" cy="5143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인라인 스타일 시트</a:t>
            </a:r>
            <a:endParaRPr/>
          </a:p>
        </p:txBody>
      </p:sp>
      <p:sp>
        <p:nvSpPr>
          <p:cNvPr id="299" name="Google Shape;299;p3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각각의 HTML 요소마다 스타일을 지정하는 것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2개 이상의 선언이 있다면 반드시 끝에 ;을 적어 준다. </a:t>
            </a:r>
            <a:endParaRPr/>
          </a:p>
        </p:txBody>
      </p:sp>
      <p:sp>
        <p:nvSpPr>
          <p:cNvPr id="300" name="Google Shape;300;p30"/>
          <p:cNvSpPr txBox="1"/>
          <p:nvPr/>
        </p:nvSpPr>
        <p:spPr>
          <a:xfrm>
            <a:off x="742950" y="2190751"/>
            <a:ext cx="8212138" cy="27050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 style="color: red"&gt;This is a headline.&lt;/h1&gt;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style="color: #0026ff"&gt;This is a 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f04bd5c" id="301" name="Google Shape;3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1469" y="4600574"/>
            <a:ext cx="3596582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0"/>
          <p:cNvSpPr/>
          <p:nvPr/>
        </p:nvSpPr>
        <p:spPr>
          <a:xfrm>
            <a:off x="876299" y="3724275"/>
            <a:ext cx="5286375" cy="5143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다중 스타일 시트</a:t>
            </a:r>
            <a:endParaRPr/>
          </a:p>
        </p:txBody>
      </p:sp>
      <p:sp>
        <p:nvSpPr>
          <p:cNvPr id="308" name="Google Shape;308;p3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하나의 요소에 대하여 외부, 내부, 인라인 스타일이 서로 다르게 지정하고 있다면 어떤 스타일이 사용될까?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공통적으로 사용되는 스타일은 &lt;body&gt;요소의 스타일에 정의하는 것이 편리하다.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3" y="2628900"/>
            <a:ext cx="475297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edc2b5441_0_0"/>
          <p:cNvSpPr txBox="1"/>
          <p:nvPr>
            <p:ph type="title"/>
          </p:nvPr>
        </p:nvSpPr>
        <p:spPr>
          <a:xfrm>
            <a:off x="233775" y="593367"/>
            <a:ext cx="639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 sz="2600"/>
              <a:t>캐스케이딩 스타일 시트</a:t>
            </a:r>
            <a:endParaRPr sz="2600"/>
          </a:p>
        </p:txBody>
      </p:sp>
      <p:sp>
        <p:nvSpPr>
          <p:cNvPr id="315" name="Google Shape;315;g3aedc2b5441_0_0"/>
          <p:cNvSpPr txBox="1"/>
          <p:nvPr/>
        </p:nvSpPr>
        <p:spPr>
          <a:xfrm>
            <a:off x="404147" y="1407800"/>
            <a:ext cx="311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캐스케이딩의 의미</a:t>
            </a:r>
            <a:endParaRPr sz="1200"/>
          </a:p>
        </p:txBody>
      </p:sp>
      <p:sp>
        <p:nvSpPr>
          <p:cNvPr id="316" name="Google Shape;316;g3aedc2b5441_0_0"/>
          <p:cNvSpPr/>
          <p:nvPr/>
        </p:nvSpPr>
        <p:spPr>
          <a:xfrm>
            <a:off x="497047" y="1879699"/>
            <a:ext cx="79842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캐스캐이딩(Cascading) :  ‘위에서 아래로 흐른다’는 뜻. 즉 계단식으로 적용된다는 의미로 사용.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30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선택자에 여러 스타일이 적용될 때 스타일 충돌을 막기 위해 우선순위에 따라 적용할 스타일을 결정함.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g3aedc2b5441_0_0"/>
          <p:cNvSpPr txBox="1"/>
          <p:nvPr/>
        </p:nvSpPr>
        <p:spPr>
          <a:xfrm>
            <a:off x="354329" y="3013018"/>
            <a:ext cx="375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스타일 충돌을 막는(캐스캐이딩)의 원칙</a:t>
            </a:r>
            <a:endParaRPr sz="1200"/>
          </a:p>
        </p:txBody>
      </p:sp>
      <p:sp>
        <p:nvSpPr>
          <p:cNvPr id="318" name="Google Shape;318;g3aedc2b5441_0_0"/>
          <p:cNvSpPr/>
          <p:nvPr/>
        </p:nvSpPr>
        <p:spPr>
          <a:xfrm>
            <a:off x="497050" y="3641900"/>
            <a:ext cx="82548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① </a:t>
            </a:r>
            <a:r>
              <a:rPr b="1" lang="en-US" sz="10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스타일 우선순위 </a:t>
            </a:r>
            <a:r>
              <a:rPr lang="en-US" sz="10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- 스타일 규칙의 중요도와 적용 범위에 따라 우선순위가 결정되고 그 우선순위에 따라 위에서 아래로 스타일 적용</a:t>
            </a:r>
            <a:endParaRPr sz="1000">
              <a:solidFill>
                <a:srgbClr val="211D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② </a:t>
            </a:r>
            <a:r>
              <a:rPr b="1" lang="en-US" sz="10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스타일 상속 </a:t>
            </a:r>
            <a:r>
              <a:rPr lang="en-US" sz="10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- 태그들의 포함 관계에 따라 부모 요소의 스타일을 자식 요소로, 위에서 아래로 전달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g3aedc2b5441_0_0"/>
          <p:cNvSpPr/>
          <p:nvPr/>
        </p:nvSpPr>
        <p:spPr>
          <a:xfrm>
            <a:off x="497050" y="4571500"/>
            <a:ext cx="8364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※ 스타일 시트에서 ‘캐스캐이딩’은 가장 기본적인 개념이기 때문에 일반적으로 ‘스타일 시트’는 ‘캐스캐이딩 스타일 시트(CSS)’와 같은 의미로 사용됨</a:t>
            </a:r>
            <a:endParaRPr sz="3400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edc2b5441_0_91"/>
          <p:cNvSpPr txBox="1"/>
          <p:nvPr>
            <p:ph type="title"/>
          </p:nvPr>
        </p:nvSpPr>
        <p:spPr>
          <a:xfrm>
            <a:off x="233775" y="134838"/>
            <a:ext cx="639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캐스케이딩 스타일 시트</a:t>
            </a:r>
            <a:endParaRPr/>
          </a:p>
        </p:txBody>
      </p:sp>
      <p:sp>
        <p:nvSpPr>
          <p:cNvPr id="325" name="Google Shape;325;g3aedc2b5441_0_91"/>
          <p:cNvSpPr txBox="1"/>
          <p:nvPr/>
        </p:nvSpPr>
        <p:spPr>
          <a:xfrm>
            <a:off x="316924" y="709184"/>
            <a:ext cx="37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 1: 스타일 우선 순위</a:t>
            </a:r>
            <a:endParaRPr/>
          </a:p>
        </p:txBody>
      </p:sp>
      <p:sp>
        <p:nvSpPr>
          <p:cNvPr id="326" name="Google Shape;326;g3aedc2b5441_0_91"/>
          <p:cNvSpPr txBox="1"/>
          <p:nvPr/>
        </p:nvSpPr>
        <p:spPr>
          <a:xfrm>
            <a:off x="316927" y="1299727"/>
            <a:ext cx="534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얼마나 한정지을 수 있는가에 따라</a:t>
            </a:r>
            <a:endParaRPr/>
          </a:p>
        </p:txBody>
      </p:sp>
      <p:sp>
        <p:nvSpPr>
          <p:cNvPr id="327" name="Google Shape;327;g3aedc2b5441_0_91"/>
          <p:cNvSpPr/>
          <p:nvPr/>
        </p:nvSpPr>
        <p:spPr>
          <a:xfrm>
            <a:off x="633534" y="2421070"/>
            <a:ext cx="2460000" cy="32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인라인 스타일</a:t>
            </a:r>
            <a:endParaRPr/>
          </a:p>
        </p:txBody>
      </p:sp>
      <p:sp>
        <p:nvSpPr>
          <p:cNvPr id="328" name="Google Shape;328;g3aedc2b5441_0_91"/>
          <p:cNvSpPr/>
          <p:nvPr/>
        </p:nvSpPr>
        <p:spPr>
          <a:xfrm>
            <a:off x="633534" y="3045316"/>
            <a:ext cx="2460000" cy="32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id 스타일</a:t>
            </a:r>
            <a:endParaRPr/>
          </a:p>
        </p:txBody>
      </p:sp>
      <p:sp>
        <p:nvSpPr>
          <p:cNvPr id="329" name="Google Shape;329;g3aedc2b5441_0_91"/>
          <p:cNvSpPr/>
          <p:nvPr/>
        </p:nvSpPr>
        <p:spPr>
          <a:xfrm>
            <a:off x="633534" y="3669562"/>
            <a:ext cx="2460000" cy="32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 스타일</a:t>
            </a:r>
            <a:endParaRPr/>
          </a:p>
        </p:txBody>
      </p:sp>
      <p:sp>
        <p:nvSpPr>
          <p:cNvPr id="330" name="Google Shape;330;g3aedc2b5441_0_91"/>
          <p:cNvSpPr/>
          <p:nvPr/>
        </p:nvSpPr>
        <p:spPr>
          <a:xfrm>
            <a:off x="633534" y="4293806"/>
            <a:ext cx="2460000" cy="32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타입 스타일</a:t>
            </a:r>
            <a:endParaRPr/>
          </a:p>
        </p:txBody>
      </p:sp>
      <p:sp>
        <p:nvSpPr>
          <p:cNvPr id="331" name="Google Shape;331;g3aedc2b5441_0_91"/>
          <p:cNvSpPr/>
          <p:nvPr/>
        </p:nvSpPr>
        <p:spPr>
          <a:xfrm>
            <a:off x="1705463" y="2794803"/>
            <a:ext cx="315900" cy="204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g3aedc2b5441_0_91"/>
          <p:cNvSpPr/>
          <p:nvPr/>
        </p:nvSpPr>
        <p:spPr>
          <a:xfrm>
            <a:off x="1705463" y="3419049"/>
            <a:ext cx="315900" cy="204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3" name="Google Shape;333;g3aedc2b5441_0_91"/>
          <p:cNvSpPr/>
          <p:nvPr/>
        </p:nvSpPr>
        <p:spPr>
          <a:xfrm>
            <a:off x="1705463" y="4043294"/>
            <a:ext cx="315900" cy="204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g3aedc2b5441_0_91"/>
          <p:cNvSpPr txBox="1"/>
          <p:nvPr/>
        </p:nvSpPr>
        <p:spPr>
          <a:xfrm>
            <a:off x="3365363" y="2421070"/>
            <a:ext cx="3971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해당 태그에만 적용되는 스타일</a:t>
            </a:r>
            <a:endParaRPr/>
          </a:p>
        </p:txBody>
      </p:sp>
      <p:sp>
        <p:nvSpPr>
          <p:cNvPr id="335" name="Google Shape;335;g3aedc2b5441_0_91"/>
          <p:cNvSpPr txBox="1"/>
          <p:nvPr/>
        </p:nvSpPr>
        <p:spPr>
          <a:xfrm>
            <a:off x="3344094" y="2964250"/>
            <a:ext cx="3971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부분에만 적용되는 스타일. </a:t>
            </a:r>
            <a:b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안에서 한번만 사용됨</a:t>
            </a:r>
            <a:endParaRPr/>
          </a:p>
        </p:txBody>
      </p:sp>
      <p:sp>
        <p:nvSpPr>
          <p:cNvPr id="336" name="Google Shape;336;g3aedc2b5441_0_91"/>
          <p:cNvSpPr txBox="1"/>
          <p:nvPr/>
        </p:nvSpPr>
        <p:spPr>
          <a:xfrm>
            <a:off x="3365364" y="3553994"/>
            <a:ext cx="3971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부분에만 적용되는 스타일. </a:t>
            </a:r>
            <a:b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안에서 여러 번 사용됨</a:t>
            </a:r>
            <a:endParaRPr/>
          </a:p>
        </p:txBody>
      </p:sp>
      <p:sp>
        <p:nvSpPr>
          <p:cNvPr id="337" name="Google Shape;337;g3aedc2b5441_0_91"/>
          <p:cNvSpPr txBox="1"/>
          <p:nvPr/>
        </p:nvSpPr>
        <p:spPr>
          <a:xfrm>
            <a:off x="3365366" y="4208227"/>
            <a:ext cx="39714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태그에만 적용되는 스타일</a:t>
            </a:r>
            <a:endParaRPr sz="1050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안의 같은 태그에 모두 적용됨</a:t>
            </a:r>
            <a:endParaRPr/>
          </a:p>
        </p:txBody>
      </p:sp>
      <p:sp>
        <p:nvSpPr>
          <p:cNvPr id="338" name="Google Shape;338;g3aedc2b5441_0_91"/>
          <p:cNvSpPr txBox="1"/>
          <p:nvPr/>
        </p:nvSpPr>
        <p:spPr>
          <a:xfrm>
            <a:off x="316932" y="5193318"/>
            <a:ext cx="244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 소스 순서에 따라</a:t>
            </a:r>
            <a:endParaRPr/>
          </a:p>
        </p:txBody>
      </p:sp>
      <p:sp>
        <p:nvSpPr>
          <p:cNvPr id="339" name="Google Shape;339;g3aedc2b5441_0_91"/>
          <p:cNvSpPr/>
          <p:nvPr/>
        </p:nvSpPr>
        <p:spPr>
          <a:xfrm>
            <a:off x="373547" y="5683025"/>
            <a:ext cx="54378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중요도와 명시도가 같다면 소스 순서에 따라 결정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소스에서 나중에 온 스타일이 먼저 온 스타일을 덮어씀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g3aedc2b5441_0_91"/>
          <p:cNvSpPr/>
          <p:nvPr/>
        </p:nvSpPr>
        <p:spPr>
          <a:xfrm>
            <a:off x="633534" y="1796824"/>
            <a:ext cx="2460000" cy="327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!important</a:t>
            </a:r>
            <a:endParaRPr b="1" sz="11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1" name="Google Shape;341;g3aedc2b5441_0_91"/>
          <p:cNvSpPr txBox="1"/>
          <p:nvPr/>
        </p:nvSpPr>
        <p:spPr>
          <a:xfrm>
            <a:off x="3365363" y="1796824"/>
            <a:ext cx="4419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스타일보다 우선 적용되는 스타일</a:t>
            </a:r>
            <a:endParaRPr/>
          </a:p>
        </p:txBody>
      </p:sp>
      <p:sp>
        <p:nvSpPr>
          <p:cNvPr id="342" name="Google Shape;342;g3aedc2b5441_0_91"/>
          <p:cNvSpPr/>
          <p:nvPr/>
        </p:nvSpPr>
        <p:spPr>
          <a:xfrm>
            <a:off x="1705463" y="2170557"/>
            <a:ext cx="315900" cy="204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edc2b5441_0_138"/>
          <p:cNvSpPr txBox="1"/>
          <p:nvPr>
            <p:ph type="title"/>
          </p:nvPr>
        </p:nvSpPr>
        <p:spPr>
          <a:xfrm>
            <a:off x="233775" y="224550"/>
            <a:ext cx="639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캐스케이딩 스타일 시트</a:t>
            </a:r>
            <a:endParaRPr/>
          </a:p>
        </p:txBody>
      </p:sp>
      <p:sp>
        <p:nvSpPr>
          <p:cNvPr id="348" name="Google Shape;348;g3aedc2b5441_0_138"/>
          <p:cNvSpPr txBox="1"/>
          <p:nvPr/>
        </p:nvSpPr>
        <p:spPr>
          <a:xfrm>
            <a:off x="316924" y="798896"/>
            <a:ext cx="375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원칙 2: 스타일 상속</a:t>
            </a:r>
            <a:endParaRPr/>
          </a:p>
        </p:txBody>
      </p:sp>
      <p:sp>
        <p:nvSpPr>
          <p:cNvPr id="349" name="Google Shape;349;g3aedc2b5441_0_138"/>
          <p:cNvSpPr/>
          <p:nvPr/>
        </p:nvSpPr>
        <p:spPr>
          <a:xfrm>
            <a:off x="368250" y="1542850"/>
            <a:ext cx="84075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자식 요소에서 별도로 스타일을 지정하지 않으면 부모 요소에 있는 스타일 속성들이 자식 요소로 전달됨.</a:t>
            </a:r>
            <a:endParaRPr sz="1500"/>
          </a:p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상속을 이용하면 스타일 시트를 효과적으로 만들 수 있다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921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주의할 것은 스타일의 모든 속성이 부모 요소에서 자식 요소로 상속되는 것은 아니라는 점</a:t>
            </a:r>
            <a:b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(예, 글자 색은 상속되지만 배경 색은 상속되지 않음)</a:t>
            </a:r>
            <a:endParaRPr sz="1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/>
        </p:nvSpPr>
        <p:spPr>
          <a:xfrm>
            <a:off x="742950" y="1247777"/>
            <a:ext cx="8212138" cy="3448048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h1, p {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font-family: serif;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color:       black;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h1 {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border-bottom: 1px solid gray;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color:       red;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body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background-color: yellow;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}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55" name="Google Shape;355;p3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638175" y="914404"/>
            <a:ext cx="12234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coffee.css</a:t>
            </a:r>
            <a:endParaRPr b="0" i="1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 txBox="1"/>
          <p:nvPr/>
        </p:nvSpPr>
        <p:spPr>
          <a:xfrm>
            <a:off x="742950" y="495301"/>
            <a:ext cx="8212138" cy="5819773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&lt;title&gt;Web Programming&lt;/title&gt;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&lt;link type="text/css" rel="stylesheet" href="coffee.css"&gt;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&lt;h1&gt;Welcome to Web Coffee!&lt;/h1&gt;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&lt;img src="coffee.gif" width="100" height="100"&gt;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하우스 로스팅 원두의 신선한 커피를 맛보세요!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&lt;em&gt;공인 1급 Barista&lt;/em&gt;가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최고급 원두만을 직접 엄선하여 사용합니다.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&lt;h2&gt;메뉴&lt;/h2&gt;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아메리카노,카페라떼,카푸치노,카페모카,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CSS의 속성들</a:t>
            </a:r>
            <a:endParaRPr/>
          </a:p>
        </p:txBody>
      </p:sp>
      <p:graphicFrame>
        <p:nvGraphicFramePr>
          <p:cNvPr id="367" name="Google Shape;367;p34"/>
          <p:cNvGraphicFramePr/>
          <p:nvPr/>
        </p:nvGraphicFramePr>
        <p:xfrm>
          <a:off x="1095375" y="13335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{C3D58530-03F9-402E-8D95-ACFEB27E78B6}</a:tableStyleId>
              </a:tblPr>
              <a:tblGrid>
                <a:gridCol w="1780175"/>
                <a:gridCol w="5525500"/>
              </a:tblGrid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특성 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color 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 색상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font-weight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볼드체 설정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padding 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요소의 가장자리와 내용간의 간격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font-size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폰트의 크기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backgroud-color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배경색 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border 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요소를 감싸는 경계선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font-style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이탤릭체 설정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backgroud-image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배경 이미지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text-align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 정렬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888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list-style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리스트 스타일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색상</a:t>
            </a:r>
            <a:endParaRPr/>
          </a:p>
        </p:txBody>
      </p:sp>
      <p:graphicFrame>
        <p:nvGraphicFramePr>
          <p:cNvPr id="373" name="Google Shape;373;p35"/>
          <p:cNvGraphicFramePr/>
          <p:nvPr/>
        </p:nvGraphicFramePr>
        <p:xfrm>
          <a:off x="1162050" y="1409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{C3D58530-03F9-402E-8D95-ACFEB27E78B6}</a:tableStyleId>
              </a:tblPr>
              <a:tblGrid>
                <a:gridCol w="1618550"/>
                <a:gridCol w="4675350"/>
              </a:tblGrid>
              <a:tr h="5398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방법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8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이름으로 표현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“red“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5398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16진수로 표현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#FF0000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98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10진수로 표현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rgb(255, 0, 0)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5398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퍼센트로 표현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rgb(100%, 0%, 0%)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EMB00001f04bd62" id="374" name="Google Shape;37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676" y="4411662"/>
            <a:ext cx="2095500" cy="1788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16진수로 색상 나타내기</a:t>
            </a:r>
            <a:endParaRPr/>
          </a:p>
        </p:txBody>
      </p:sp>
      <p:sp>
        <p:nvSpPr>
          <p:cNvPr id="380" name="Google Shape;380;p3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16진수 코드는 빨간색, 녹색, 청색 값을 각각 2자리의 16진수로 표시한 것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381" name="Google Shape;38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9213" y="2157413"/>
            <a:ext cx="6505575" cy="1362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6"/>
          <p:cNvSpPr txBox="1"/>
          <p:nvPr/>
        </p:nvSpPr>
        <p:spPr>
          <a:xfrm>
            <a:off x="638175" y="3990975"/>
            <a:ext cx="8212138" cy="11430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	background-color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b="0" i="0" lang="en-US" sz="16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#ffd800;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색상의 이름으로 나타내기</a:t>
            </a:r>
            <a:endParaRPr/>
          </a:p>
        </p:txBody>
      </p:sp>
      <p:pic>
        <p:nvPicPr>
          <p:cNvPr descr="EMB00001f04bda3" id="388" name="Google Shape;38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275" y="1265237"/>
            <a:ext cx="3609975" cy="320439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7"/>
          <p:cNvSpPr txBox="1"/>
          <p:nvPr/>
        </p:nvSpPr>
        <p:spPr>
          <a:xfrm>
            <a:off x="638175" y="4791075"/>
            <a:ext cx="8212138" cy="11430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	background-color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  <a:r>
              <a:rPr b="0" i="0" lang="en-US" sz="16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aqua;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RGB 값으로 표시하기</a:t>
            </a:r>
            <a:endParaRPr/>
          </a:p>
        </p:txBody>
      </p:sp>
      <p:sp>
        <p:nvSpPr>
          <p:cNvPr id="395" name="Google Shape;395;p38"/>
          <p:cNvSpPr txBox="1"/>
          <p:nvPr/>
        </p:nvSpPr>
        <p:spPr>
          <a:xfrm>
            <a:off x="638175" y="1390651"/>
            <a:ext cx="8212138" cy="261937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	background-color: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rgb(60%, 40%, 10%);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}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body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{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	background-color: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b="0" i="0" lang="en-US" sz="1600" u="none" cap="none" strike="noStrik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rgb(153, 102, 25);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}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401" name="Google Shape;401;p39"/>
          <p:cNvSpPr txBox="1"/>
          <p:nvPr/>
        </p:nvSpPr>
        <p:spPr>
          <a:xfrm>
            <a:off x="666750" y="1076326"/>
            <a:ext cx="8212138" cy="53435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h1  {  background-color: #6495ed;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p.a {   background-color: #ff0000;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p.b {   background-color: #00ff00;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p.c {   background-color: #0000ff;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p.d {   background-color: #888888;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&lt;h1&gt;CSS Color Chart&lt;/h1&gt;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class="a"&gt;Color #1&lt;/p&gt;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class="b"&gt;Color #2&lt;/p&gt;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class="c"&gt;Color #3&lt;/p&gt;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class="d"&gt;Color #4&lt;/p&gt;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EMB00001f04be35" id="402" name="Google Shape;40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2525" y="4219575"/>
            <a:ext cx="4115613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폰트</a:t>
            </a:r>
            <a:endParaRPr/>
          </a:p>
        </p:txBody>
      </p:sp>
      <p:graphicFrame>
        <p:nvGraphicFramePr>
          <p:cNvPr id="408" name="Google Shape;408;p40"/>
          <p:cNvGraphicFramePr/>
          <p:nvPr/>
        </p:nvGraphicFramePr>
        <p:xfrm>
          <a:off x="116205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{C3D58530-03F9-402E-8D95-ACFEB27E78B6}</a:tableStyleId>
              </a:tblPr>
              <a:tblGrid>
                <a:gridCol w="1558550"/>
                <a:gridCol w="6137650"/>
              </a:tblGrid>
              <a:tr h="43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속성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2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font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한줄에서 모든 폰트 속성을 설정할 때 사용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4332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font-family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폰트 패밀리 설정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2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font-size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폰트의 크기 설정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4332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font-style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폰트 스타일 설정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32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font-weight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폰트의 볼드체 여부 설정</a:t>
                      </a:r>
                      <a:endParaRPr sz="16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폰트 지정</a:t>
            </a:r>
            <a:endParaRPr/>
          </a:p>
        </p:txBody>
      </p:sp>
      <p:pic>
        <p:nvPicPr>
          <p:cNvPr id="414" name="Google Shape;41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088" y="1362075"/>
            <a:ext cx="6415087" cy="1834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1f04be76" id="415" name="Google Shape;415;p41"/>
          <p:cNvPicPr preferRelativeResize="0"/>
          <p:nvPr/>
        </p:nvPicPr>
        <p:blipFill rotWithShape="1">
          <a:blip r:embed="rId4">
            <a:alphaModFix/>
          </a:blip>
          <a:srcRect b="0" l="0" r="0" t="10058"/>
          <a:stretch/>
        </p:blipFill>
        <p:spPr>
          <a:xfrm>
            <a:off x="4767263" y="3306763"/>
            <a:ext cx="2728912" cy="3296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폰트 패밀리</a:t>
            </a:r>
            <a:endParaRPr/>
          </a:p>
        </p:txBody>
      </p:sp>
      <p:sp>
        <p:nvSpPr>
          <p:cNvPr id="421" name="Google Shape;421;p4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serif 폰트는 우아하고 전통적인 느낌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sans-serif은 깔끔하고 가독성이 좋다.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monospace는 타자기 서체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cursive와 fantasy 폰트는 장난스러우며 스타일리쉬한 느낌</a:t>
            </a:r>
            <a:endParaRPr/>
          </a:p>
        </p:txBody>
      </p:sp>
      <p:pic>
        <p:nvPicPr>
          <p:cNvPr id="422" name="Google Shape;42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3381375"/>
            <a:ext cx="70866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edc2b5441_0_227"/>
          <p:cNvSpPr txBox="1"/>
          <p:nvPr>
            <p:ph type="title"/>
          </p:nvPr>
        </p:nvSpPr>
        <p:spPr>
          <a:xfrm>
            <a:off x="233775" y="593367"/>
            <a:ext cx="639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웹 폰트 사용하기</a:t>
            </a:r>
            <a:endParaRPr/>
          </a:p>
        </p:txBody>
      </p:sp>
      <p:sp>
        <p:nvSpPr>
          <p:cNvPr id="428" name="Google Shape;428;g3aedc2b5441_0_227"/>
          <p:cNvSpPr txBox="1"/>
          <p:nvPr/>
        </p:nvSpPr>
        <p:spPr>
          <a:xfrm>
            <a:off x="861379" y="4362275"/>
            <a:ext cx="1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9" name="Google Shape;429;g3aedc2b5441_0_227"/>
          <p:cNvSpPr txBox="1"/>
          <p:nvPr/>
        </p:nvSpPr>
        <p:spPr>
          <a:xfrm>
            <a:off x="471881" y="1218322"/>
            <a:ext cx="179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폰트란</a:t>
            </a:r>
            <a:endParaRPr/>
          </a:p>
        </p:txBody>
      </p:sp>
      <p:sp>
        <p:nvSpPr>
          <p:cNvPr id="430" name="Google Shape;430;g3aedc2b5441_0_227"/>
          <p:cNvSpPr/>
          <p:nvPr/>
        </p:nvSpPr>
        <p:spPr>
          <a:xfrm>
            <a:off x="455316" y="1596080"/>
            <a:ext cx="41166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웹 문서 안에 글꼴 정보도 함께 저장했다가 사용자가 웹 문서에 접속하면 글꼴을 사용자 시스템으로 다운로드시켜 사용하는 글꼴.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사용자 시스템에 없는 글꼴이더라도 웹 제작자가 의도한 대로 텍스트를 표시할 수 있다. </a:t>
            </a:r>
            <a:endParaRPr sz="1400">
              <a:solidFill>
                <a:srgbClr val="211D1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3aedc2b5441_0_227"/>
          <p:cNvSpPr txBox="1"/>
          <p:nvPr/>
        </p:nvSpPr>
        <p:spPr>
          <a:xfrm>
            <a:off x="471881" y="4002086"/>
            <a:ext cx="179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아이콘 폰트란</a:t>
            </a:r>
            <a:endParaRPr/>
          </a:p>
        </p:txBody>
      </p:sp>
      <p:sp>
        <p:nvSpPr>
          <p:cNvPr id="432" name="Google Shape;432;g3aedc2b5441_0_227"/>
          <p:cNvSpPr/>
          <p:nvPr/>
        </p:nvSpPr>
        <p:spPr>
          <a:xfrm>
            <a:off x="455315" y="4379844"/>
            <a:ext cx="76569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아이콘을 이미지가 아닌 글자 형태로 사용</a:t>
            </a:r>
            <a:endParaRPr sz="1400">
              <a:solidFill>
                <a:srgbClr val="211D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웹에 올라와 있는 아이콘 폰트 정보를 링크해서 사용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, 스크린샷, 도표, 디자인이(가) 표시된 사진&#10;&#10;자동 생성된 설명" id="433" name="Google Shape;433;g3aedc2b5441_0_227"/>
          <p:cNvPicPr preferRelativeResize="0"/>
          <p:nvPr/>
        </p:nvPicPr>
        <p:blipFill rotWithShape="1">
          <a:blip r:embed="rId3">
            <a:alphaModFix/>
          </a:blip>
          <a:srcRect b="0" l="0" r="0" t="9747"/>
          <a:stretch/>
        </p:blipFill>
        <p:spPr>
          <a:xfrm>
            <a:off x="4984038" y="4002086"/>
            <a:ext cx="3479959" cy="2642235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텍스트, 스크린샷, 소프트웨어, 폰트이(가) 표시된 사진&#10;&#10;자동 생성된 설명" id="434" name="Google Shape;434;g3aedc2b5441_0_227"/>
          <p:cNvPicPr preferRelativeResize="0"/>
          <p:nvPr/>
        </p:nvPicPr>
        <p:blipFill rotWithShape="1">
          <a:blip r:embed="rId4">
            <a:alphaModFix/>
          </a:blip>
          <a:srcRect b="0" l="0" r="0" t="10538"/>
          <a:stretch/>
        </p:blipFill>
        <p:spPr>
          <a:xfrm>
            <a:off x="4984039" y="1168468"/>
            <a:ext cx="3479959" cy="2619374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웹폰트</a:t>
            </a:r>
            <a:endParaRPr/>
          </a:p>
        </p:txBody>
      </p:sp>
      <p:sp>
        <p:nvSpPr>
          <p:cNvPr id="440" name="Google Shape;440;p43"/>
          <p:cNvSpPr txBox="1"/>
          <p:nvPr/>
        </p:nvSpPr>
        <p:spPr>
          <a:xfrm>
            <a:off x="666750" y="1076326"/>
            <a:ext cx="8212138" cy="41147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&lt;title&gt;Web Font Test&lt;/title&gt;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@font-face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font-family: "Vera Serif Bold";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src: url("http://developer.mozilla.org/@api/deki/files/2934/=VeraSeBd.ttf");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body { font-family: "Vera Serif Bold", serif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이것이 모질라에서 제공하는 Vera Serif Bold입니다.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EMB00001f04be79" id="441" name="Google Shape;44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599" y="5305424"/>
            <a:ext cx="6441089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텍스트, 스크린샷, 소프트웨어, 컴퓨터 아이콘이(가) 표시된 사진&#10;&#10;자동 생성된 설명" id="446" name="Google Shape;446;g3aedc2b5441_0_343"/>
          <p:cNvPicPr preferRelativeResize="0"/>
          <p:nvPr/>
        </p:nvPicPr>
        <p:blipFill rotWithShape="1">
          <a:blip r:embed="rId3">
            <a:alphaModFix/>
          </a:blip>
          <a:srcRect b="0" l="75607" r="0" t="9082"/>
          <a:stretch/>
        </p:blipFill>
        <p:spPr>
          <a:xfrm>
            <a:off x="1223093" y="3288665"/>
            <a:ext cx="1048226" cy="3432809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7" name="Google Shape;447;g3aedc2b5441_0_343"/>
          <p:cNvSpPr txBox="1"/>
          <p:nvPr>
            <p:ph type="title"/>
          </p:nvPr>
        </p:nvSpPr>
        <p:spPr>
          <a:xfrm>
            <a:off x="233775" y="593367"/>
            <a:ext cx="639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웹 폰트 사용하기</a:t>
            </a:r>
            <a:endParaRPr/>
          </a:p>
        </p:txBody>
      </p:sp>
      <p:sp>
        <p:nvSpPr>
          <p:cNvPr id="448" name="Google Shape;448;g3aedc2b5441_0_343"/>
          <p:cNvSpPr txBox="1"/>
          <p:nvPr/>
        </p:nvSpPr>
        <p:spPr>
          <a:xfrm>
            <a:off x="861379" y="4362275"/>
            <a:ext cx="1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9" name="Google Shape;449;g3aedc2b5441_0_343"/>
          <p:cNvSpPr txBox="1"/>
          <p:nvPr/>
        </p:nvSpPr>
        <p:spPr>
          <a:xfrm>
            <a:off x="471881" y="1218322"/>
            <a:ext cx="179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구글 폰트 사용하기</a:t>
            </a:r>
            <a:endParaRPr/>
          </a:p>
        </p:txBody>
      </p:sp>
      <p:sp>
        <p:nvSpPr>
          <p:cNvPr id="450" name="Google Shape;450;g3aedc2b5441_0_343"/>
          <p:cNvSpPr/>
          <p:nvPr/>
        </p:nvSpPr>
        <p:spPr>
          <a:xfrm>
            <a:off x="471881" y="1641645"/>
            <a:ext cx="37035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200"/>
              <a:buFont typeface="Malgun Gothic"/>
              <a:buAutoNum type="arabicPeriod"/>
            </a:pPr>
            <a:r>
              <a:rPr lang="en-US" sz="1200" u="sng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https://fonts.google.com/</a:t>
            </a:r>
            <a:r>
              <a:rPr lang="en-US" sz="12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 로 접속</a:t>
            </a:r>
            <a:endParaRPr sz="1200">
              <a:solidFill>
                <a:srgbClr val="211D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200"/>
              <a:buFont typeface="Malgun Gothic"/>
              <a:buAutoNum type="arabicPeriod"/>
            </a:pPr>
            <a:r>
              <a:rPr lang="en-US" sz="12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한글 폰트 검색</a:t>
            </a:r>
            <a:endParaRPr sz="1200">
              <a:solidFill>
                <a:srgbClr val="211D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200"/>
              <a:buFont typeface="Malgun Gothic"/>
              <a:buAutoNum type="arabicPeriod"/>
            </a:pPr>
            <a:r>
              <a:rPr lang="en-US" sz="12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Link 항목에 있는 소스 복사 &amp; 글꼴 이름 기억</a:t>
            </a:r>
            <a:endParaRPr sz="1200">
              <a:solidFill>
                <a:srgbClr val="211D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200"/>
              <a:buFont typeface="Malgun Gothic"/>
              <a:buAutoNum type="arabicPeriod"/>
            </a:pPr>
            <a:r>
              <a:rPr lang="en-US" sz="12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웹 문서의 &lt;style&gt; 태그 안에 붙여넣음</a:t>
            </a:r>
            <a:endParaRPr sz="1200">
              <a:solidFill>
                <a:srgbClr val="211D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200"/>
              <a:buFont typeface="Malgun Gothic"/>
              <a:buAutoNum type="arabicPeriod"/>
            </a:pPr>
            <a:r>
              <a:rPr lang="en-US" sz="1200">
                <a:solidFill>
                  <a:srgbClr val="211D1E"/>
                </a:solidFill>
                <a:latin typeface="Arial"/>
                <a:ea typeface="Arial"/>
                <a:cs typeface="Arial"/>
                <a:sym typeface="Arial"/>
              </a:rPr>
              <a:t> font-family 속성에서 웹 폰트 글꼴 이름 사용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g3aedc2b5441_0_343"/>
          <p:cNvSpPr txBox="1"/>
          <p:nvPr/>
        </p:nvSpPr>
        <p:spPr>
          <a:xfrm>
            <a:off x="4127569" y="1278404"/>
            <a:ext cx="3793200" cy="36018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3500" marR="635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&lt;style&gt;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200">
                <a:solidFill>
                  <a:srgbClr val="AF00D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@import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795E2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url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200">
                <a:solidFill>
                  <a:srgbClr val="A31515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'https://fonts.googleapis.com/css2?......'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{ …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h1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{ … }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.wfont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lang="en-US" sz="1200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font-family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200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'Dancing Script'</a:t>
            </a: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cursive;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}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&lt;/style&gt;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&lt;h1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"wfont"</a:t>
            </a:r>
            <a:r>
              <a:rPr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&lt;/h1&gt;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&lt;h1&gt;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CSS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&lt;/h1&gt;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aedc2b5441_0_343"/>
          <p:cNvSpPr/>
          <p:nvPr/>
        </p:nvSpPr>
        <p:spPr>
          <a:xfrm>
            <a:off x="1223093" y="5573486"/>
            <a:ext cx="1048200" cy="4527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g3aedc2b5441_0_343"/>
          <p:cNvSpPr/>
          <p:nvPr/>
        </p:nvSpPr>
        <p:spPr>
          <a:xfrm>
            <a:off x="1223093" y="4758524"/>
            <a:ext cx="1048200" cy="6150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54" name="Google Shape;454;g3aedc2b5441_0_343"/>
          <p:cNvCxnSpPr>
            <a:stCxn id="446" idx="3"/>
          </p:cNvCxnSpPr>
          <p:nvPr/>
        </p:nvCxnSpPr>
        <p:spPr>
          <a:xfrm flipH="1" rot="10800000">
            <a:off x="2271320" y="1726070"/>
            <a:ext cx="2057400" cy="32790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5" name="Google Shape;455;g3aedc2b5441_0_343"/>
          <p:cNvCxnSpPr>
            <a:stCxn id="452" idx="3"/>
          </p:cNvCxnSpPr>
          <p:nvPr/>
        </p:nvCxnSpPr>
        <p:spPr>
          <a:xfrm flipH="1" rot="10800000">
            <a:off x="2271293" y="2691536"/>
            <a:ext cx="2052600" cy="31083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텍스트, 물, 하늘, 스카이라인이(가) 표시된 사진&#10;&#10;자동 생성된 설명" id="456" name="Google Shape;456;g3aedc2b5441_0_343"/>
          <p:cNvPicPr preferRelativeResize="0"/>
          <p:nvPr/>
        </p:nvPicPr>
        <p:blipFill rotWithShape="1">
          <a:blip r:embed="rId5">
            <a:alphaModFix/>
          </a:blip>
          <a:srcRect b="0" l="0" r="0" t="11933"/>
          <a:stretch/>
        </p:blipFill>
        <p:spPr>
          <a:xfrm>
            <a:off x="5512476" y="4362275"/>
            <a:ext cx="2720407" cy="2269101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edc2b5441_0_357"/>
          <p:cNvSpPr txBox="1"/>
          <p:nvPr>
            <p:ph type="title"/>
          </p:nvPr>
        </p:nvSpPr>
        <p:spPr>
          <a:xfrm>
            <a:off x="233775" y="593367"/>
            <a:ext cx="639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아이콘 폰트 사용하기</a:t>
            </a:r>
            <a:endParaRPr/>
          </a:p>
        </p:txBody>
      </p:sp>
      <p:sp>
        <p:nvSpPr>
          <p:cNvPr id="462" name="Google Shape;462;g3aedc2b5441_0_357"/>
          <p:cNvSpPr txBox="1"/>
          <p:nvPr/>
        </p:nvSpPr>
        <p:spPr>
          <a:xfrm>
            <a:off x="861379" y="4362275"/>
            <a:ext cx="1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3" name="Google Shape;463;g3aedc2b5441_0_357"/>
          <p:cNvSpPr txBox="1"/>
          <p:nvPr/>
        </p:nvSpPr>
        <p:spPr>
          <a:xfrm>
            <a:off x="471880" y="1218322"/>
            <a:ext cx="308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폰트어썸 사이트에서 아이콘 폰트 사용하기</a:t>
            </a:r>
            <a:endParaRPr/>
          </a:p>
        </p:txBody>
      </p:sp>
      <p:sp>
        <p:nvSpPr>
          <p:cNvPr id="464" name="Google Shape;464;g3aedc2b5441_0_357"/>
          <p:cNvSpPr/>
          <p:nvPr/>
        </p:nvSpPr>
        <p:spPr>
          <a:xfrm>
            <a:off x="471881" y="1641645"/>
            <a:ext cx="3703500" cy="16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400"/>
              <a:buFont typeface="Malgun Gothic"/>
              <a:buAutoNum type="arabicPeriod"/>
            </a:pPr>
            <a:r>
              <a:rPr lang="en-US" sz="1400">
                <a:solidFill>
                  <a:srgbClr val="211D1E"/>
                </a:solidFill>
                <a:latin typeface="Malgun Gothic"/>
                <a:ea typeface="Malgun Gothic"/>
                <a:cs typeface="Malgun Gothic"/>
                <a:sym typeface="Malgun Gothic"/>
              </a:rPr>
              <a:t>fontawesome cdn 검색해서 링크 주소 알아내서 </a:t>
            </a:r>
            <a:br>
              <a:rPr lang="en-US" sz="1400">
                <a:solidFill>
                  <a:srgbClr val="211D1E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sz="1400">
                <a:solidFill>
                  <a:srgbClr val="211D1E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&lt;link&gt; 태그로 연결하기</a:t>
            </a:r>
            <a:endParaRPr sz="1400">
              <a:solidFill>
                <a:srgbClr val="211D1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400"/>
              <a:buFont typeface="Malgun Gothic"/>
              <a:buAutoNum type="arabicPeriod"/>
            </a:pPr>
            <a:r>
              <a:rPr lang="en-US" sz="1400">
                <a:solidFill>
                  <a:srgbClr val="211D1E"/>
                </a:solidFill>
                <a:latin typeface="Malgun Gothic"/>
                <a:ea typeface="Malgun Gothic"/>
                <a:cs typeface="Malgun Gothic"/>
                <a:sym typeface="Malgun Gothic"/>
              </a:rPr>
              <a:t>fontawesome.com 사이트로 접속해서 아이콘 검색</a:t>
            </a:r>
            <a:endParaRPr sz="1400">
              <a:solidFill>
                <a:srgbClr val="211D1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400"/>
              <a:buFont typeface="Malgun Gothic"/>
              <a:buAutoNum type="arabicPeriod"/>
            </a:pPr>
            <a:r>
              <a:rPr lang="en-US" sz="1400">
                <a:solidFill>
                  <a:srgbClr val="211D1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아이콘 정보 화면에서 &lt;i&gt;…&lt;/i&gt; 코드 복사</a:t>
            </a:r>
            <a:endParaRPr sz="1400">
              <a:solidFill>
                <a:srgbClr val="211D1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11D1E"/>
              </a:buClr>
              <a:buSzPts val="1400"/>
              <a:buFont typeface="Malgun Gothic"/>
              <a:buAutoNum type="arabicPeriod"/>
            </a:pPr>
            <a:r>
              <a:rPr lang="en-US" sz="1400">
                <a:solidFill>
                  <a:srgbClr val="211D1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아이콘 위치에 복사한 코드 붙여넣기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5" name="Google Shape;465;g3aedc2b5441_0_357"/>
          <p:cNvSpPr txBox="1"/>
          <p:nvPr/>
        </p:nvSpPr>
        <p:spPr>
          <a:xfrm>
            <a:off x="4175408" y="1314651"/>
            <a:ext cx="4742100" cy="4725300"/>
          </a:xfrm>
          <a:prstGeom prst="rect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63500" marR="635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&lt;head&gt;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…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    </a:t>
            </a:r>
            <a:endParaRPr/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&lt;link</a:t>
            </a:r>
            <a:r>
              <a:rPr lang="en-US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rel</a:t>
            </a:r>
            <a:r>
              <a:rPr lang="en-US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"stylesheet"</a:t>
            </a:r>
            <a:r>
              <a:rPr lang="en-US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"https://cdnjs.cloudflare.com/... </a:t>
            </a:r>
            <a:r>
              <a:rPr lang="en-US" sz="12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/&gt;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&lt;/head&gt;</a:t>
            </a:r>
            <a:endParaRPr/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&lt;li&gt;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                 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    &lt;i</a:t>
            </a:r>
            <a:r>
              <a:rPr lang="en-US" sz="1200">
                <a:solidFill>
                  <a:srgbClr val="3B3B3B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1200">
                <a:solidFill>
                  <a:srgbClr val="3B3B3B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"fa-solid fa-house-chimney"</a:t>
            </a:r>
            <a:r>
              <a:rPr lang="en-US" sz="1200">
                <a:solidFill>
                  <a:srgbClr val="80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&gt;&lt;/i&gt;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&lt;a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"#"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메뉴1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&lt;/a&gt;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&lt;/li&gt;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&lt;li&gt;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    &lt;i</a:t>
            </a:r>
            <a:r>
              <a:rPr lang="en-US" sz="1200">
                <a:solidFill>
                  <a:srgbClr val="3B3B3B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1200">
                <a:solidFill>
                  <a:srgbClr val="3B3B3B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"fa-regular fa-calendar-check"</a:t>
            </a:r>
            <a:r>
              <a:rPr lang="en-US" sz="1200">
                <a:solidFill>
                  <a:srgbClr val="80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&gt;&lt;/i&gt;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&lt;a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"#"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메뉴2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&lt;/a&gt;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        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&lt;/li&gt;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&lt;li&gt;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    &lt;i</a:t>
            </a:r>
            <a:r>
              <a:rPr lang="en-US" sz="1200">
                <a:solidFill>
                  <a:srgbClr val="3B3B3B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en-US" sz="1200">
                <a:solidFill>
                  <a:srgbClr val="3B3B3B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"fa-solid fa-battery-quarter"</a:t>
            </a:r>
            <a:r>
              <a:rPr lang="en-US" sz="1200">
                <a:solidFill>
                  <a:srgbClr val="800000"/>
                </a:solidFill>
                <a:highlight>
                  <a:srgbClr val="D3D3D3"/>
                </a:highlight>
                <a:latin typeface="Arial"/>
                <a:ea typeface="Arial"/>
                <a:cs typeface="Arial"/>
                <a:sym typeface="Arial"/>
              </a:rPr>
              <a:t>&gt;&lt;/i&gt;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&lt;a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E5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"#"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1200">
                <a:solidFill>
                  <a:srgbClr val="3B3B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메뉴3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&lt;/a&gt;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&lt;/li&gt;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63500" marR="635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&lt;/body&gt;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스크린샷, 텍스트, 번호, 폰트이(가) 표시된 사진&#10;&#10;자동 생성된 설명" id="466" name="Google Shape;466;g3aedc2b5441_0_357"/>
          <p:cNvPicPr preferRelativeResize="0"/>
          <p:nvPr/>
        </p:nvPicPr>
        <p:blipFill rotWithShape="1">
          <a:blip r:embed="rId3">
            <a:alphaModFix/>
          </a:blip>
          <a:srcRect b="14667" l="0" r="24862" t="38811"/>
          <a:stretch/>
        </p:blipFill>
        <p:spPr>
          <a:xfrm>
            <a:off x="543599" y="4711875"/>
            <a:ext cx="3219927" cy="97028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폰트 크기 설정</a:t>
            </a:r>
            <a:endParaRPr/>
          </a:p>
        </p:txBody>
      </p:sp>
      <p:sp>
        <p:nvSpPr>
          <p:cNvPr id="472" name="Google Shape;472;p4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폰트의 단위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pt – 포인트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px - 픽셀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% - 퍼센트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em – 배수(scale factor)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키워드 – xx-small, x-small, small, medium, large, x-large, xx-large</a:t>
            </a:r>
            <a:endParaRPr/>
          </a:p>
        </p:txBody>
      </p:sp>
      <p:pic>
        <p:nvPicPr>
          <p:cNvPr id="473" name="Google Shape;47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4925" y="4367213"/>
            <a:ext cx="434340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폰트 크기 예제</a:t>
            </a:r>
            <a:endParaRPr/>
          </a:p>
        </p:txBody>
      </p:sp>
      <p:sp>
        <p:nvSpPr>
          <p:cNvPr id="479" name="Google Shape;479;p45"/>
          <p:cNvSpPr txBox="1"/>
          <p:nvPr/>
        </p:nvSpPr>
        <p:spPr>
          <a:xfrm>
            <a:off x="666750" y="1076326"/>
            <a:ext cx="8212138" cy="47624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body {            font-size: medium;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p#t1 {            font-size: 1.0em;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p#t2 {            font-size: 1.5em;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p#t3 {            font-size: 2.0em;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id="t1"&gt;paragraph.&lt;/p&gt;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id="t2"&gt;paragraph.&lt;/p&gt;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id="t3"&gt;paragraph.&lt;/p&gt;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EMB00001f04be7b" id="480" name="Google Shape;48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2213" y="3300411"/>
            <a:ext cx="2681287" cy="2773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폰트 속성</a:t>
            </a:r>
            <a:endParaRPr/>
          </a:p>
        </p:txBody>
      </p:sp>
      <p:sp>
        <p:nvSpPr>
          <p:cNvPr id="486" name="Google Shape;486;p4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font-weight – 볼드체 여부(normal, bold)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font-style – 이탤릭체 여부(normal, italic,  oblique)</a:t>
            </a:r>
            <a:endParaRPr/>
          </a:p>
        </p:txBody>
      </p:sp>
      <p:pic>
        <p:nvPicPr>
          <p:cNvPr id="487" name="Google Shape;48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0" y="2400300"/>
            <a:ext cx="6343650" cy="1178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0" y="5186473"/>
            <a:ext cx="6343650" cy="1162524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6"/>
          <p:cNvSpPr txBox="1"/>
          <p:nvPr/>
        </p:nvSpPr>
        <p:spPr>
          <a:xfrm>
            <a:off x="1125550" y="3705675"/>
            <a:ext cx="48453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normal: 기본값, 보통 굵기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bold : 굵게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bolder : 원래보다 더 굵게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lighter : 원래보다 더 가늘게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100~900  : 굵기를 숫자로 표현하며 100은 가장 가늘게, 900은 가장 굵게</a:t>
            </a:r>
            <a:endParaRPr sz="110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폰트 축약 기법</a:t>
            </a:r>
            <a:endParaRPr/>
          </a:p>
        </p:txBody>
      </p:sp>
      <p:sp>
        <p:nvSpPr>
          <p:cNvPr id="495" name="Google Shape;495;p4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96" name="Google Shape;496;p47"/>
          <p:cNvSpPr txBox="1"/>
          <p:nvPr/>
        </p:nvSpPr>
        <p:spPr>
          <a:xfrm>
            <a:off x="666750" y="1076326"/>
            <a:ext cx="8212138" cy="4762499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p.style1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font: italic 30px arial,sans-serif;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p.style2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font: bold 40px Georgia,serif;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class="style1"&gt;font: italic 30px arial,sans-serif&lt;/p&gt;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class="style2"&gt;font: bold 40px Georgia,serif&lt;/p&gt;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EMB00001f04be7e" id="497" name="Google Shape;49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2819" y="2305049"/>
            <a:ext cx="4450921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스타일</a:t>
            </a:r>
            <a:endParaRPr/>
          </a:p>
        </p:txBody>
      </p:sp>
      <p:graphicFrame>
        <p:nvGraphicFramePr>
          <p:cNvPr id="503" name="Google Shape;503;p48"/>
          <p:cNvGraphicFramePr/>
          <p:nvPr/>
        </p:nvGraphicFramePr>
        <p:xfrm>
          <a:off x="1181100" y="1400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{C3D58530-03F9-402E-8D95-ACFEB27E78B6}</a:tableStyleId>
              </a:tblPr>
              <a:tblGrid>
                <a:gridCol w="1651150"/>
                <a:gridCol w="6006950"/>
              </a:tblGrid>
              <a:tr h="31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속성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설명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color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텍스트의 색상을 지정한다.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direction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 작성 방향을 지정한다. (가로쓰기, 세로쓰기)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letter-spacing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글자간 간격을 지정한다.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line-height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 줄의 높이를 지정한다.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text-align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텍스트의 수평 정렬을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text-decoration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 장식을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80008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text-indent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텍스트의 들여쓰기를 지정하낟.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text-shadow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그림자 효과를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3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sng" cap="none" strike="noStrike">
                          <a:solidFill>
                            <a:srgbClr val="FF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text-transform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00000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대소문자 변환을 지정한다. </a:t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17900" marB="17900" marR="64775" marL="64775" anchor="ctr">
                    <a:lnL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AE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375">
                      <a:solidFill>
                        <a:srgbClr val="CA56A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정렬</a:t>
            </a:r>
            <a:endParaRPr/>
          </a:p>
        </p:txBody>
      </p:sp>
      <p:sp>
        <p:nvSpPr>
          <p:cNvPr id="509" name="Google Shape;509;p4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10" name="Google Shape;510;p49"/>
          <p:cNvSpPr txBox="1"/>
          <p:nvPr/>
        </p:nvSpPr>
        <p:spPr>
          <a:xfrm>
            <a:off x="666750" y="1076326"/>
            <a:ext cx="8212138" cy="52673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h1 {          text-align: center;            color: red;        }  // 중앙정렬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p.date {      text-align: right;            color: indigo;        }  // 오른쪽정렬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p.poet {      text-align: justify;            color: blue;        }  // 양쪽정렬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&lt;h1&gt;CSS 텍스트 정렬 예제&lt;/h1&gt;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class="date"&gt;2013년 9월 1일&lt;/p&gt;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 class="poet"&gt;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삶이 그대를 속일지라도 슬퍼하거나 노여워하지 말라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&lt;p&gt;&lt;em&gt;참고 푸시킨의 시&lt;/em&gt;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EMB00001f04be7f" id="511" name="Google Shape;51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1256" y="4241799"/>
            <a:ext cx="4172744" cy="2381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장식</a:t>
            </a:r>
            <a:endParaRPr/>
          </a:p>
        </p:txBody>
      </p:sp>
      <p:sp>
        <p:nvSpPr>
          <p:cNvPr id="517" name="Google Shape;517;p5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18" name="Google Shape;518;p50"/>
          <p:cNvSpPr txBox="1"/>
          <p:nvPr/>
        </p:nvSpPr>
        <p:spPr>
          <a:xfrm>
            <a:off x="666750" y="1076326"/>
            <a:ext cx="8212138" cy="43910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h1 { text-decoration:overline; }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h2 { text-decoration:line-through; }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h3 { text-decoration:underline; }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&lt;h1&gt;텍스트 장식의 예입니다.&lt;/h1&gt;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&lt;h2&gt;텍스트 장식의 예입니다.&lt;/h2&gt;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&lt;h3&gt;텍스트 장식의 예입니다.&lt;/h3&gt;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EMB00001f04be80" id="519" name="Google Shape;51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3214" y="4356099"/>
            <a:ext cx="4265674" cy="19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변환</a:t>
            </a:r>
            <a:endParaRPr/>
          </a:p>
        </p:txBody>
      </p:sp>
      <p:sp>
        <p:nvSpPr>
          <p:cNvPr id="525" name="Google Shape;525;p51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26" name="Google Shape;526;p51"/>
          <p:cNvSpPr txBox="1"/>
          <p:nvPr/>
        </p:nvSpPr>
        <p:spPr>
          <a:xfrm>
            <a:off x="666750" y="1076326"/>
            <a:ext cx="8212138" cy="43910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p.upper { text-transform:uppercase;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p.lower { text-transform:lowercase;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p.capit { text-transform:capitalize;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&lt;p class="upper"&gt;text_transform is uppercase.&lt;/p&gt;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&lt;p class="lower"&gt;text_transform is lowercase.&lt;/p&gt;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	&lt;p class="capit"&gt;text_transform is capitalize.&lt;/p&gt;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EMB00001f04be81" id="527" name="Google Shape;52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3620" y="4922836"/>
            <a:ext cx="4435268" cy="1573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그림자</a:t>
            </a:r>
            <a:endParaRPr/>
          </a:p>
        </p:txBody>
      </p:sp>
      <p:sp>
        <p:nvSpPr>
          <p:cNvPr id="533" name="Google Shape;533;p52"/>
          <p:cNvSpPr txBox="1"/>
          <p:nvPr/>
        </p:nvSpPr>
        <p:spPr>
          <a:xfrm>
            <a:off x="666750" y="1076326"/>
            <a:ext cx="8212138" cy="3514724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h1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text-shadow: 5px 5px 5px #FF0000;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   &lt;h1&gt;Text-shadow 처리!&lt;/h1&gt;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EMB00001f04be83" id="534" name="Google Shape;53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6097" y="4743450"/>
            <a:ext cx="6452791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6576" y="1881188"/>
            <a:ext cx="3262312" cy="1038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-US">
                <a:latin typeface="Century Schoolbook"/>
                <a:ea typeface="Century Schoolbook"/>
                <a:cs typeface="Century Schoolbook"/>
                <a:sym typeface="Century Schoolbook"/>
              </a:rPr>
              <a:t>Word Wrapping</a:t>
            </a:r>
            <a:endParaRPr i="1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41" name="Google Shape;541;p5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42" name="Google Shape;542;p53"/>
          <p:cNvSpPr txBox="1"/>
          <p:nvPr/>
        </p:nvSpPr>
        <p:spPr>
          <a:xfrm>
            <a:off x="666750" y="1076325"/>
            <a:ext cx="8212138" cy="498157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p.test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width: 11em;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border: 1px solid #000000;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word-wrap: break-word;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&lt;p class="test"&gt;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매우 긴 단어가 있는 경우에 자동으로 잘라준다.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aaaaaaaaaaaaaaaaaaaaaaaaaaaaaaaaaaaaaaaaaa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f04be85" id="543" name="Google Shape;54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1150" y="2276475"/>
            <a:ext cx="3362325" cy="175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다중 컬럼</a:t>
            </a:r>
            <a:endParaRPr/>
          </a:p>
        </p:txBody>
      </p:sp>
      <p:sp>
        <p:nvSpPr>
          <p:cNvPr id="549" name="Google Shape;549;p5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50" name="Google Shape;550;p54"/>
          <p:cNvSpPr txBox="1"/>
          <p:nvPr/>
        </p:nvSpPr>
        <p:spPr>
          <a:xfrm>
            <a:off x="666750" y="1076325"/>
            <a:ext cx="8212138" cy="5457825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&lt;!DOCTYPE 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.poet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    column-count: 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&lt;/style&gt;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&lt;div class="poet"&gt;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 한 잔의 술을 마시고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우리는 버지니아 울프의 생애와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목마를 타고 떠난 숙녀의 옷자락을 이야기한다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가을바람 소리는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내 쓰러진 술병 속에서 목메어 우는데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   &lt;/div&gt;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&lt;/html&gt;</a:t>
            </a:r>
            <a:endParaRPr b="0" i="0" sz="1600" u="none" cap="none" strike="noStrike">
              <a:solidFill>
                <a:srgbClr val="000000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f04be88" id="551" name="Google Shape;55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5775" y="2695575"/>
            <a:ext cx="4860854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