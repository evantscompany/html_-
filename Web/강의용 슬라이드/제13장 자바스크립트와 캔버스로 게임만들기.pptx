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9144000"/>
  <p:notesSz cx="6934200" cy="9220200"/>
  <p:embeddedFontLst>
    <p:embeddedFont>
      <p:font typeface="Century Schoolbook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61" roundtripDataSignature="AMtx7mjZWVC+yVFpkgpaa2gGboGJtWBV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Schoolbook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enturySchoolbook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enturySchoolbook-italic.fntdata"/><Relationship Id="rId14" Type="http://schemas.openxmlformats.org/officeDocument/2006/relationships/slide" Target="slides/slide9.xml"/><Relationship Id="rId58" Type="http://schemas.openxmlformats.org/officeDocument/2006/relationships/font" Target="fonts/CenturySchoolboo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0fbc96be1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70fbc96be1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0fbc96be1_0_9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70fbc96be1_0_9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0fbc96be1_0_18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70fbc96be1_0_18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0fbc96be1_0_18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70fbc96be1_0_18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fbc96be1_0_19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70fbc96be1_0_19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0fbc96be1_0_20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70fbc96be1_0_20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0fbc96be1_0_20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70fbc96be1_0_20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fbc96be1_0_21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70fbc96be1_0_21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0fbc96be1_0_2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70fbc96be1_0_2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0fbc96be1_0_22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70fbc96be1_0_22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0fbc96be1_0_23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70fbc96be1_0_23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0fbc96be1_0_24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70fbc96be1_0_24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0fbc96be1_0_24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70fbc96be1_0_24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0fbc96be1_0_25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70fbc96be1_0_25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0fbc96be1_0_26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70fbc96be1_0_26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0fbc96be1_0_27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70fbc96be1_0_27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0fbc96be1_0_28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70fbc96be1_0_28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0fbc96be1_0_28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70fbc96be1_0_28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fbc96be1_0_29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70fbc96be1_0_29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0fbc96be1_0_30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70fbc96be1_0_30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0fbc96be1_0_31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70fbc96be1_0_31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0fbc96be1_0_31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70fbc96be1_0_31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0fbc96be1_0_32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70fbc96be1_0_32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0fbc96be1_0_32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70fbc96be1_0_32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0fbc96be1_0_33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70fbc96be1_0_33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0fbc96be1_0_34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70fbc96be1_0_34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0fbc96be1_0_34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70fbc96be1_0_34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0fbc96be1_0_35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70fbc96be1_0_35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0fbc96be1_0_36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70fbc96be1_0_36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0fbc96be1_0_37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70fbc96be1_0_37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0fbc96be1_0_37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70fbc96be1_0_37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0fbc96be1_0_38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70fbc96be1_0_38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0fbc96be1_0_39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70fbc96be1_0_39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0fbc96be1_0_39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70fbc96be1_0_39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0fbc96be1_0_40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70fbc96be1_0_40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0fbc96be1_0_4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70fbc96be1_0_4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0fbc96be1_0_42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g370fbc96be1_0_42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0fbc96be1_0_42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70fbc96be1_0_42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0fbc96be1_0_43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70fbc96be1_0_43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0fbc96be1_0_44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70fbc96be1_0_44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0fbc96be1_0_45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70fbc96be1_0_45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0fbc96be1_0_45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70fbc96be1_0_45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70fbc96be1_0_46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70fbc96be1_0_46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0fbc96be1_0_47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70fbc96be1_0_47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0fbc96be1_0_47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g370fbc96be1_0_47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0fbc96be1_0_48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g370fbc96be1_0_48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0fbc96be1_0_49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70fbc96be1_0_49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202a3cd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202a3cd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202a3cd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202a3cd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202a3cd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202a3cd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202a3cd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202a3cd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202a3cd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202a3cd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202a3cd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202a3cd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202a3cd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202a3cd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202a3cd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202a3cd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202a3cd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202a3cd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202a3cd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202a3cd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202a3cd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202a3cd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202a3cd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202a3cd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202a3cd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202a3cd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202a3cd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202a3cd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202a3cd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202a3cd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202a3cd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202a3cd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202a3cd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202a3cd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202a3cd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202a3cd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9395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13.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자바스크립트와 캔버스로 게임만들기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캔버스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캔버스는 &lt;canvas&gt; 요소로 생성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캔버스는 HTML 페이지 상에서 사각형태의 영역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실제 그림은 자바스크립트를 통하여 코드로 그려야 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0c7c1334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541711"/>
            <a:ext cx="2452042" cy="853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7c1335"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3285331"/>
            <a:ext cx="2631104" cy="1443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0fbc96be1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캔버스 생성</a:t>
            </a:r>
            <a:endParaRPr/>
          </a:p>
        </p:txBody>
      </p:sp>
      <p:sp>
        <p:nvSpPr>
          <p:cNvPr id="77" name="Google Shape;77;g370fbc96be1_0_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캔버스는 &lt;canvas&gt; 요소로 생성된다. 캔버스는 HTML 페이지 상에서 사각 형태의 영역이다. </a:t>
            </a:r>
            <a:endParaRPr/>
          </a:p>
        </p:txBody>
      </p:sp>
      <p:pic>
        <p:nvPicPr>
          <p:cNvPr id="78" name="Google Shape;78;g370fbc96be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28" y="2823028"/>
            <a:ext cx="7806841" cy="2050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컨텍스트 객체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컨텍스트(context) 객체 : </a:t>
            </a:r>
            <a:r>
              <a:rPr lang="en-US"/>
              <a:t>자바스크립트에서 물감과 붓의 역할을 한다.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/>
              <a:t>var canvas = document.getElementById("myCanvas");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/>
              <a:t>var context = canvas.getContext("2d");</a:t>
            </a:r>
            <a:endParaRPr/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398272"/>
            <a:ext cx="3429000" cy="248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fbc96be1_0_9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캔버스 좌표계</a:t>
            </a:r>
            <a:endParaRPr/>
          </a:p>
        </p:txBody>
      </p:sp>
      <p:sp>
        <p:nvSpPr>
          <p:cNvPr id="91" name="Google Shape;91;g370fbc96be1_0_9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수학에서와는 다르게 캔버스의 좌측 상단의 좌표가 (0, 0)이다. 화면의 아래로 가면서 y 좌표는 증가한다.</a:t>
            </a:r>
            <a:endParaRPr/>
          </a:p>
        </p:txBody>
      </p:sp>
      <p:pic>
        <p:nvPicPr>
          <p:cNvPr id="92" name="Google Shape;92;g370fbc96be1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526" y="2564945"/>
            <a:ext cx="4362136" cy="3423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70fbc96be1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234021"/>
            <a:ext cx="2462543" cy="11672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70fbc96be1_0_18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Canvas API</a:t>
            </a:r>
            <a:endParaRPr/>
          </a:p>
        </p:txBody>
      </p:sp>
      <p:sp>
        <p:nvSpPr>
          <p:cNvPr id="99" name="Google Shape;99;g370fbc96be1_0_18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캔버스 요소를 통해 그래픽을 제공하는 라이브러리를 일반적으로 Canvas API라고 한다. Canvas API에서 그림을 그리는 방법에는 2가지가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첫 번째 방법은 도형을 캔버스에 직접 그리는 방법이다. 이 방법에서는 사각형만 그릴 수 있다. fillRect()나 strokeRect()를 이용한다.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두 번째 방법은 비어있는 경로(path)를 만들고 여기에 그리기 명령들을 축적한 후에 한 번에 전부 캔버스에 그리는 방법이다.</a:t>
            </a:r>
            <a:endParaRPr/>
          </a:p>
        </p:txBody>
      </p:sp>
      <p:pic>
        <p:nvPicPr>
          <p:cNvPr id="100" name="Google Shape;100;g370fbc96be1_0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4" y="5142971"/>
            <a:ext cx="3148106" cy="133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0fbc96be1_0_18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직사각형 그리기</a:t>
            </a:r>
            <a:endParaRPr/>
          </a:p>
        </p:txBody>
      </p:sp>
      <p:sp>
        <p:nvSpPr>
          <p:cNvPr id="106" name="Google Shape;106;g370fbc96be1_0_18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직사각형 그리기는 &lt;canvas&gt;에서는 기본으로 제공하는 그리기 기능이다. 캔버스 위에 직사각형을 그리는 3가지 함수가 있다.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fillRect(x, y, width, height): 채워진 직사각형을 그린다.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strokeRect(x, y, width, height): 직사각형의 윤곽선만을 그린다.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clearRect(x, y, width, height): 특정 직사각형 영역을 지운다. </a:t>
            </a:r>
            <a:endParaRPr/>
          </a:p>
        </p:txBody>
      </p:sp>
      <p:sp>
        <p:nvSpPr>
          <p:cNvPr id="107" name="Google Shape;107;g370fbc96be1_0_188"/>
          <p:cNvSpPr/>
          <p:nvPr/>
        </p:nvSpPr>
        <p:spPr>
          <a:xfrm>
            <a:off x="4689348" y="4225705"/>
            <a:ext cx="2978700" cy="1038900"/>
          </a:xfrm>
          <a:prstGeom prst="rect">
            <a:avLst/>
          </a:prstGeom>
          <a:solidFill>
            <a:srgbClr val="CCFFCC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0fbc96be1_0_19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113" name="Google Shape;113;g370fbc96be1_0_194"/>
          <p:cNvSpPr txBox="1"/>
          <p:nvPr/>
        </p:nvSpPr>
        <p:spPr>
          <a:xfrm>
            <a:off x="553900" y="1636801"/>
            <a:ext cx="8212200" cy="3697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"border: 1px dotted red"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"orange"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14" name="Google Shape;114;g370fbc96be1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3693" y="4486195"/>
            <a:ext cx="3292692" cy="202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0fbc96be1_0_20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경로 그리기</a:t>
            </a:r>
            <a:endParaRPr/>
          </a:p>
        </p:txBody>
      </p:sp>
      <p:sp>
        <p:nvSpPr>
          <p:cNvPr id="120" name="Google Shape;120;g370fbc96be1_0_20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Canvas API에서는 사각형 이외의 도형들은 모두 경로를 이용하여서 그려야 한다. 경로(path)는 기본적으로 점들의 집합이며, 도형과 곡선들이 포함된다.</a:t>
            </a:r>
            <a:endParaRPr/>
          </a:p>
        </p:txBody>
      </p:sp>
      <p:pic>
        <p:nvPicPr>
          <p:cNvPr id="121" name="Google Shape;121;g370fbc96be1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424" y="2510990"/>
            <a:ext cx="6799151" cy="3317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0fbc96be1_0_20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경로에 사용되는 함수</a:t>
            </a:r>
            <a:endParaRPr/>
          </a:p>
        </p:txBody>
      </p:sp>
      <p:sp>
        <p:nvSpPr>
          <p:cNvPr id="127" name="Google Shape;127;g370fbc96be1_0_20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beginPath(): 새로운 경로를 만든다.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lineTo(), arcTo(), ...: 경로에 도형을 그리는 명령을 추가한다.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moveTo(): 펜을 든 후에 좌표 (x, y)로 이동한다.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closePath(): 현재 경로의 시작 부분과 끝을 직선으로 연결하여 경로를 닫는다.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stroke(): 경로에 포함된 도형의 윤곽선만을 그린다.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fill(): 경로에 포함된 도형의 내부를 채워서 그린다.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0fbc96be1_0_21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133" name="Google Shape;133;g370fbc96be1_0_211"/>
          <p:cNvSpPr txBox="1"/>
          <p:nvPr/>
        </p:nvSpPr>
        <p:spPr>
          <a:xfrm>
            <a:off x="553900" y="1636802"/>
            <a:ext cx="8212200" cy="4179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"border: 1px dotted red"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4" name="Google Shape;134;g370fbc96be1_0_2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70fbc96be1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2446" y="4586446"/>
            <a:ext cx="3282232" cy="2042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0fbc96be1_0_2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펜이동하기</a:t>
            </a:r>
            <a:endParaRPr/>
          </a:p>
        </p:txBody>
      </p:sp>
      <p:sp>
        <p:nvSpPr>
          <p:cNvPr id="141" name="Google Shape;141;g370fbc96be1_0_218"/>
          <p:cNvSpPr txBox="1"/>
          <p:nvPr>
            <p:ph idx="1" type="body"/>
          </p:nvPr>
        </p:nvSpPr>
        <p:spPr>
          <a:xfrm>
            <a:off x="685800" y="11049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실제로 어떤 것도 그리지 않지만, 아주 유용한 함수가 있다. 바로 moveTo() 함수가 있다. moveTo(x, y): 펜을 들어서 좌표 (x, y)로 이동한다. </a:t>
            </a:r>
            <a:endParaRPr/>
          </a:p>
        </p:txBody>
      </p:sp>
      <p:sp>
        <p:nvSpPr>
          <p:cNvPr id="142" name="Google Shape;142;g370fbc96be1_0_218"/>
          <p:cNvSpPr txBox="1"/>
          <p:nvPr/>
        </p:nvSpPr>
        <p:spPr>
          <a:xfrm>
            <a:off x="692875" y="1791075"/>
            <a:ext cx="8212200" cy="4954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"border: 1px dotted red"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3" name="Google Shape;143;g370fbc96be1_0_2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70fbc96be1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044" y="4490519"/>
            <a:ext cx="3225956" cy="200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0fbc96be1_0_22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직선그리기</a:t>
            </a:r>
            <a:endParaRPr/>
          </a:p>
        </p:txBody>
      </p:sp>
      <p:sp>
        <p:nvSpPr>
          <p:cNvPr id="150" name="Google Shape;150;g370fbc96be1_0_226"/>
          <p:cNvSpPr txBox="1"/>
          <p:nvPr>
            <p:ph idx="1" type="body"/>
          </p:nvPr>
        </p:nvSpPr>
        <p:spPr>
          <a:xfrm>
            <a:off x="685800" y="952500"/>
            <a:ext cx="821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경로에 직선을 추가하려면 lineTo()를 사용할 수 있다. lineTo(x, y): 현재의 위치에서 x와 y로 지정된 위치까지 선을 그린다.</a:t>
            </a:r>
            <a:endParaRPr/>
          </a:p>
        </p:txBody>
      </p:sp>
      <p:sp>
        <p:nvSpPr>
          <p:cNvPr id="151" name="Google Shape;151;g370fbc96be1_0_226"/>
          <p:cNvSpPr txBox="1"/>
          <p:nvPr/>
        </p:nvSpPr>
        <p:spPr>
          <a:xfrm>
            <a:off x="692873" y="1757746"/>
            <a:ext cx="8212200" cy="5052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'myCanvas’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"orange"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closePath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2" name="Google Shape;152;g370fbc96be1_0_22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70fbc96be1_0_22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70fbc96be1_0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3022" y="3875260"/>
            <a:ext cx="3670978" cy="1719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fbc96be1_0_23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원그리기</a:t>
            </a:r>
            <a:endParaRPr/>
          </a:p>
        </p:txBody>
      </p:sp>
      <p:sp>
        <p:nvSpPr>
          <p:cNvPr id="160" name="Google Shape;160;g370fbc96be1_0_23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경로에 원을 추가하기 위해서는 다음의 메소드를 사용한다.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arc(x, y, radius, startAngle, endAngle, antiClockwise) - (x, y)를 중심으로 하여 반지름이 radius인 원을 그린다. start는 시작 각도이고 end는 종료각도이다. </a:t>
            </a:r>
            <a:endParaRPr/>
          </a:p>
        </p:txBody>
      </p:sp>
      <p:pic>
        <p:nvPicPr>
          <p:cNvPr id="161" name="Google Shape;161;g370fbc96be1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4604" y="3272010"/>
            <a:ext cx="3494791" cy="282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0fbc96be1_0_24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원그리기</a:t>
            </a:r>
            <a:endParaRPr/>
          </a:p>
        </p:txBody>
      </p:sp>
      <p:sp>
        <p:nvSpPr>
          <p:cNvPr id="167" name="Google Shape;167;g370fbc96be1_0_241"/>
          <p:cNvSpPr txBox="1"/>
          <p:nvPr/>
        </p:nvSpPr>
        <p:spPr>
          <a:xfrm>
            <a:off x="583275" y="1105275"/>
            <a:ext cx="8212200" cy="5318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context.beginPath();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context.arc(100, 100, 80, 0, 2.0 * Math.PI,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context.beginPath();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context.arc(100, 100, 60, 0, 1.5 * Math.PI,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context.closePath();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context.beginPath();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context.arc(100, 100, 40, 0, 1.5 * Math.PI,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"green";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8" name="Google Shape;168;g370fbc96be1_0_24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0fbc96be1_0_24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70fbc96be1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731" y="4924158"/>
            <a:ext cx="3159360" cy="1731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0fbc96be1_0_24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곡선그리기</a:t>
            </a:r>
            <a:endParaRPr/>
          </a:p>
        </p:txBody>
      </p:sp>
      <p:sp>
        <p:nvSpPr>
          <p:cNvPr id="176" name="Google Shape;176;g370fbc96be1_0_24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베지어 곡선 같은 3차 곡선도 그릴 수 있다. 베지어 곡선은 4개의 제어점 안에 그려지는 3차 곡선이다. </a:t>
            </a:r>
            <a:endParaRPr/>
          </a:p>
        </p:txBody>
      </p:sp>
      <p:pic>
        <p:nvPicPr>
          <p:cNvPr id="177" name="Google Shape;177;g370fbc96be1_0_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532" y="2837507"/>
            <a:ext cx="43053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0fbc96be1_0_25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곡선그리기</a:t>
            </a:r>
            <a:endParaRPr/>
          </a:p>
        </p:txBody>
      </p:sp>
      <p:sp>
        <p:nvSpPr>
          <p:cNvPr id="183" name="Google Shape;183;g370fbc96be1_0_255"/>
          <p:cNvSpPr txBox="1"/>
          <p:nvPr/>
        </p:nvSpPr>
        <p:spPr>
          <a:xfrm>
            <a:off x="583279" y="1791078"/>
            <a:ext cx="8212200" cy="3279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context.beginPath();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context.moveTo(90, 130);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context.bezierCurveTo(140, 10, 288, 10, 288, 130);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context.lineWidth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'black';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context.stroke();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4" name="Google Shape;184;g370fbc96be1_0_2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0fbc96be1_0_2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70fbc96be1_0_2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70fbc96be1_0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7973" y="4553312"/>
            <a:ext cx="3631139" cy="1850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0fbc96be1_0_26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직사각형</a:t>
            </a:r>
            <a:endParaRPr/>
          </a:p>
        </p:txBody>
      </p:sp>
      <p:sp>
        <p:nvSpPr>
          <p:cNvPr id="193" name="Google Shape;193;g370fbc96be1_0_26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경로에 직사각형도 추가할 수 있다. rect() 함수를 사용한다. 만약 채워진 사각형을 그리고 싶으면 stroke() 대신에 fill()을 호출하면 된다. </a:t>
            </a:r>
            <a:endParaRPr/>
          </a:p>
        </p:txBody>
      </p:sp>
      <p:sp>
        <p:nvSpPr>
          <p:cNvPr id="194" name="Google Shape;194;g370fbc96be1_0_264"/>
          <p:cNvSpPr txBox="1"/>
          <p:nvPr/>
        </p:nvSpPr>
        <p:spPr>
          <a:xfrm>
            <a:off x="553900" y="2219599"/>
            <a:ext cx="8212200" cy="3548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"yellow"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5" name="Google Shape;195;g370fbc96be1_0_26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70fbc96be1_0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8831" y="4571372"/>
            <a:ext cx="3898391" cy="179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0fbc96be1_0_27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텍스트 그리기</a:t>
            </a:r>
            <a:endParaRPr/>
          </a:p>
        </p:txBody>
      </p:sp>
      <p:sp>
        <p:nvSpPr>
          <p:cNvPr id="202" name="Google Shape;202;g370fbc96be1_0_27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font - 텍스트를 그리는데 사용되는 폰트 속성을 정의한다.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fillText(text,x,y) - 캔버스에 채워진 텍스트를 그린다.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strokeText(text,x,y) - 캔버스에 텍스트의 외곽선만을 그린다. </a:t>
            </a:r>
            <a:endParaRPr/>
          </a:p>
        </p:txBody>
      </p:sp>
      <p:sp>
        <p:nvSpPr>
          <p:cNvPr id="203" name="Google Shape;203;g370fbc96be1_0_272"/>
          <p:cNvSpPr txBox="1"/>
          <p:nvPr/>
        </p:nvSpPr>
        <p:spPr>
          <a:xfrm>
            <a:off x="553910" y="2913707"/>
            <a:ext cx="8212200" cy="19119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context.font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'italic 38pt Arial'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context.fillText(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'Hello World!'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20,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4" name="Google Shape;204;g370fbc96be1_0_27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70fbc96be1_0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4042" y="4573902"/>
            <a:ext cx="3398571" cy="1565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0fbc96be1_0_28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이미지 그리기</a:t>
            </a:r>
            <a:endParaRPr/>
          </a:p>
        </p:txBody>
      </p:sp>
      <p:sp>
        <p:nvSpPr>
          <p:cNvPr id="211" name="Google Shape;211;g370fbc96be1_0_28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캔버스에 이미지를 그리기 위하여 drawImage(image, x, y) 을 사용한다.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2" name="Google Shape;212;g370fbc96be1_0_280"/>
          <p:cNvSpPr txBox="1"/>
          <p:nvPr/>
        </p:nvSpPr>
        <p:spPr>
          <a:xfrm>
            <a:off x="583279" y="2289017"/>
            <a:ext cx="8212200" cy="368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="400"&gt;&lt;/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image.src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"html5_logo.png";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image.onload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context.drawImage(image, 0,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3" name="Google Shape;213;g370fbc96be1_0_28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70fbc96be1_0_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7890" y="4279853"/>
            <a:ext cx="3576136" cy="2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0fbc96be1_0_28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색상</a:t>
            </a:r>
            <a:endParaRPr/>
          </a:p>
        </p:txBody>
      </p:sp>
      <p:sp>
        <p:nvSpPr>
          <p:cNvPr id="220" name="Google Shape;220;g370fbc96be1_0_288"/>
          <p:cNvSpPr txBox="1"/>
          <p:nvPr>
            <p:ph idx="1" type="body"/>
          </p:nvPr>
        </p:nvSpPr>
        <p:spPr>
          <a:xfrm>
            <a:off x="685800" y="1028700"/>
            <a:ext cx="82122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도형에 색을 적용하려면, 컨텍스트의 속성 fillStyle과 strokeStyle을 사용하면 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fillStyle = color: 도형을 채우는 색을 설정한다.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strokeStyle = color: 도형의 윤곽선 색을 설정한다.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1" name="Google Shape;221;g370fbc96be1_0_288"/>
          <p:cNvSpPr txBox="1"/>
          <p:nvPr/>
        </p:nvSpPr>
        <p:spPr>
          <a:xfrm>
            <a:off x="746241" y="2680237"/>
            <a:ext cx="8212200" cy="3957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'rgb('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-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',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   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-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+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', 0)'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22" name="Google Shape;222;g370fbc96be1_0_28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70fbc96be1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6450" y="5174056"/>
            <a:ext cx="3257550" cy="15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0fbc96be1_0_29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선 그리기 속성</a:t>
            </a:r>
            <a:endParaRPr/>
          </a:p>
        </p:txBody>
      </p:sp>
      <p:sp>
        <p:nvSpPr>
          <p:cNvPr id="229" name="Google Shape;229;g370fbc96be1_0_29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context.lineWidth – 선의 두께를 지정한다.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context.strokeStyle – 선의 색상을 지정한다.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context.lineCap– 양쪽 끝점의 모양을 지장한다. butt, round, square 중의 하나이다. </a:t>
            </a:r>
            <a:endParaRPr/>
          </a:p>
        </p:txBody>
      </p:sp>
      <p:pic>
        <p:nvPicPr>
          <p:cNvPr id="230" name="Google Shape;230;g370fbc96be1_0_2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7822" y="3341577"/>
            <a:ext cx="2518043" cy="252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0fbc96be1_0_30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36" name="Google Shape;236;g370fbc96be1_0_302"/>
          <p:cNvSpPr txBox="1"/>
          <p:nvPr/>
        </p:nvSpPr>
        <p:spPr>
          <a:xfrm>
            <a:off x="465925" y="1238048"/>
            <a:ext cx="8212200" cy="4192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7" name="Google Shape;237;g370fbc96be1_0_30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70fbc96be1_0_30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70fbc96be1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097" y="4712329"/>
            <a:ext cx="4663478" cy="1706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0fbc96be1_0_31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그라디언트</a:t>
            </a:r>
            <a:endParaRPr/>
          </a:p>
        </p:txBody>
      </p:sp>
      <p:sp>
        <p:nvSpPr>
          <p:cNvPr id="245" name="Google Shape;245;g370fbc96be1_0_31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createLinearGradient(x, y, x1, y1) - 시작점 좌표를 (x1, y1)로 하고, 종료점 좌표를 (x2, y2)로 하는 선형 그라디언트 객체를 생성한다.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createRadialGradient(x, y, r, x1, y1, r1) - 반지름이 r1이고 좌표 (x1, y1)을 중심으로 하는 시작원과, 반지름이 r2이고 좌표 (x2, y2)를 중심으로 하는 종료원을 사용하여 원형 그라디언트 객체가 생성된다.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gradient.addColorStop(position, color): gradient 객체에 새로운 색상 종료(color stop)을 생성한다. position은 0.0에서 1.0 사이의 숫자이고 그라디언트에서 상대적인 위치를 정의한다. color 인자는 색상을 나타내는 문자열이다. position 위치에 color를 지정한다.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0fbc96be1_0_31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선형 그라디언트</a:t>
            </a:r>
            <a:endParaRPr/>
          </a:p>
        </p:txBody>
      </p:sp>
      <p:sp>
        <p:nvSpPr>
          <p:cNvPr id="251" name="Google Shape;251;g370fbc96be1_0_315"/>
          <p:cNvSpPr txBox="1"/>
          <p:nvPr/>
        </p:nvSpPr>
        <p:spPr>
          <a:xfrm>
            <a:off x="465925" y="1847677"/>
            <a:ext cx="8212200" cy="3332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createLinearGradient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addColorStop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addColorStop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2" name="Google Shape;252;g370fbc96be1_0_3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g370fbc96be1_0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295869"/>
            <a:ext cx="4304113" cy="166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0fbc96be1_0_32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원형 그라디언트</a:t>
            </a:r>
            <a:endParaRPr/>
          </a:p>
        </p:txBody>
      </p:sp>
      <p:sp>
        <p:nvSpPr>
          <p:cNvPr id="259" name="Google Shape;259;g370fbc96be1_0_32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createRadialGradient(x0, y0, r0, x1, y1, r1): x0, y0, r0는 시작원의 좌표이고 x1, y1, r1은 종료원의 좌표이다. </a:t>
            </a:r>
            <a:endParaRPr/>
          </a:p>
        </p:txBody>
      </p:sp>
      <p:pic>
        <p:nvPicPr>
          <p:cNvPr id="260" name="Google Shape;260;g370fbc96be1_0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967" y="2776186"/>
            <a:ext cx="6200726" cy="248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0fbc96be1_0_32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66" name="Google Shape;266;g370fbc96be1_0_328"/>
          <p:cNvSpPr txBox="1"/>
          <p:nvPr/>
        </p:nvSpPr>
        <p:spPr>
          <a:xfrm>
            <a:off x="465925" y="1847677"/>
            <a:ext cx="8212200" cy="3351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createRadialGradient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addColorStop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addColorStop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gradient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fillRect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7" name="Google Shape;267;g370fbc96be1_0_32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70fbc96be1_0_32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70fbc96be1_0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212" y="4351133"/>
            <a:ext cx="4576223" cy="1986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0fbc96be1_0_33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패턴 채우기</a:t>
            </a:r>
            <a:endParaRPr/>
          </a:p>
        </p:txBody>
      </p:sp>
      <p:sp>
        <p:nvSpPr>
          <p:cNvPr id="275" name="Google Shape;275;g370fbc96be1_0_33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도형을 패턴으로 채워서 그리려면, 먼저 createPattern()을 이용하여서 패턴 객체를 생성한다. 이어서 컨텍스트의 fillStyle 속성을 패턴 객체로 설정한다. 최종적으로 fill() 메소드를 호출하여서 도형의 내부를 패턴으로 채우면 된다.</a:t>
            </a:r>
            <a:endParaRPr/>
          </a:p>
        </p:txBody>
      </p:sp>
      <p:sp>
        <p:nvSpPr>
          <p:cNvPr id="276" name="Google Shape;276;g370fbc96be1_0_336"/>
          <p:cNvSpPr txBox="1"/>
          <p:nvPr/>
        </p:nvSpPr>
        <p:spPr>
          <a:xfrm>
            <a:off x="612650" y="2491228"/>
            <a:ext cx="8212200" cy="357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image.src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"pattern.png";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image.onload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pattern = context.createPattern(image,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"repeat"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context.rect(0, 0, canvas.width, canvas.height);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context.fillStyle = pattern;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7" name="Google Shape;277;g370fbc96be1_0_3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70fbc96be1_0_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8989" y="5012242"/>
            <a:ext cx="2805835" cy="1666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0fbc96be1_0_34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도형 변환</a:t>
            </a:r>
            <a:endParaRPr/>
          </a:p>
        </p:txBody>
      </p:sp>
      <p:sp>
        <p:nvSpPr>
          <p:cNvPr id="284" name="Google Shape;284;g370fbc96be1_0_34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평행이동(translation)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신축(scaling)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회전(rotation)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밀림(shear)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반사(mirror)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행렬을 이용한 일반적인 변환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0fbc96be1_0_34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평행이동</a:t>
            </a:r>
            <a:endParaRPr/>
          </a:p>
        </p:txBody>
      </p:sp>
      <p:sp>
        <p:nvSpPr>
          <p:cNvPr id="290" name="Google Shape;290;g370fbc96be1_0_349"/>
          <p:cNvSpPr txBox="1"/>
          <p:nvPr/>
        </p:nvSpPr>
        <p:spPr>
          <a:xfrm>
            <a:off x="553900" y="1739026"/>
            <a:ext cx="8212200" cy="3691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="400"&gt;&lt;/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context.translate(50, 50);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1" name="Google Shape;291;g370fbc96be1_0_34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370fbc96be1_0_3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5044" y="4354717"/>
            <a:ext cx="3350751" cy="176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0fbc96be1_0_35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회전</a:t>
            </a:r>
            <a:endParaRPr/>
          </a:p>
        </p:txBody>
      </p:sp>
      <p:sp>
        <p:nvSpPr>
          <p:cNvPr id="298" name="Google Shape;298;g370fbc96be1_0_356"/>
          <p:cNvSpPr txBox="1"/>
          <p:nvPr/>
        </p:nvSpPr>
        <p:spPr>
          <a:xfrm>
            <a:off x="553900" y="1739026"/>
            <a:ext cx="8212200" cy="3874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="400"&gt;&lt;/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context.translate(50, 50);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context.rotate(Math.PI / 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9" name="Google Shape;299;g370fbc96be1_0_3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g370fbc96be1_0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1018" y="4441275"/>
            <a:ext cx="3319071" cy="201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fbc96be1_0_36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신축</a:t>
            </a:r>
            <a:endParaRPr/>
          </a:p>
        </p:txBody>
      </p:sp>
      <p:sp>
        <p:nvSpPr>
          <p:cNvPr id="306" name="Google Shape;306;g370fbc96be1_0_363"/>
          <p:cNvSpPr txBox="1"/>
          <p:nvPr/>
        </p:nvSpPr>
        <p:spPr>
          <a:xfrm>
            <a:off x="553900" y="1739026"/>
            <a:ext cx="8212200" cy="3826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="400"&gt;&lt;/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context.translate(50, 50);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context.scale(0.5, 0.5);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context.fillRect(0, 0, 100, 100);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7" name="Google Shape;307;g370fbc96be1_0_36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70fbc96be1_0_36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70fbc96be1_0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0842" y="4617581"/>
            <a:ext cx="3681455" cy="160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0fbc96be1_0_37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Lab: 그림판 만들기</a:t>
            </a:r>
            <a:endParaRPr/>
          </a:p>
        </p:txBody>
      </p:sp>
      <p:sp>
        <p:nvSpPr>
          <p:cNvPr id="315" name="Google Shape;315;g370fbc96be1_0_37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자바스크립트만을 이용하여서 다음과 같은 기본적인 그림판 프로그램을 작성해보자. 마우스 이벤트와 그래픽을 결합해보자. “화면 지우기” 버튼을 클릭하면 화면이 지워져야 한다. </a:t>
            </a:r>
            <a:endParaRPr/>
          </a:p>
        </p:txBody>
      </p:sp>
      <p:sp>
        <p:nvSpPr>
          <p:cNvPr id="316" name="Google Shape;316;g370fbc96be1_0_37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70fbc96be1_0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211" y="2711513"/>
            <a:ext cx="5481577" cy="299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0fbc96be1_0_37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Sol.</a:t>
            </a:r>
            <a:endParaRPr/>
          </a:p>
        </p:txBody>
      </p:sp>
      <p:sp>
        <p:nvSpPr>
          <p:cNvPr id="323" name="Google Shape;323;g370fbc96be1_0_378"/>
          <p:cNvSpPr txBox="1"/>
          <p:nvPr/>
        </p:nvSpPr>
        <p:spPr>
          <a:xfrm>
            <a:off x="553900" y="1739026"/>
            <a:ext cx="8212200" cy="4299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#myCanvas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rgb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239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209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dotted blue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clearRect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화면 지우기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8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&lt;canvas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"400"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&gt;&lt;/canvas&gt;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"myCanvas"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last_x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draw_mode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4" name="Google Shape;324;g370fbc96be1_0_37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70fbc96be1_0_37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0fbc96be1_0_38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Sol.</a:t>
            </a:r>
            <a:endParaRPr/>
          </a:p>
        </p:txBody>
      </p:sp>
      <p:sp>
        <p:nvSpPr>
          <p:cNvPr id="331" name="Google Shape;331;g370fbc96be1_0_385"/>
          <p:cNvSpPr txBox="1"/>
          <p:nvPr/>
        </p:nvSpPr>
        <p:spPr>
          <a:xfrm>
            <a:off x="553900" y="1053226"/>
            <a:ext cx="8212200" cy="5804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addEventListener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"mousemove"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(!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draw_mode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</a:t>
            </a:r>
            <a:r>
              <a:rPr b="0" i="0" lang="en-US" sz="14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offsetX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offsetY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addEventListener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"mousedown"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offsetX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offsetY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beginPath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last_y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draw_mode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addEventListener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"mouseup"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draw_mode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addEventListener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"mouseout"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draw_mode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2" name="Google Shape;332;g370fbc96be1_0_38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70fbc96be1_0_38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fbc96be1_0_39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애니메이션: Bouncing Ball 예제</a:t>
            </a:r>
            <a:endParaRPr/>
          </a:p>
        </p:txBody>
      </p:sp>
      <p:sp>
        <p:nvSpPr>
          <p:cNvPr id="339" name="Google Shape;339;g370fbc96be1_0_39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페이지에서 애니메이션 효과를 내려면 많은 기법들이 있다. 제일 먼저 떠오르는 것은 CSS3를 이용한 애니메이션이다. 또 캔버스와 자바스크립트를 사용하는 애니메이션이 있다. 여기서는 후자의 경우를 살펴보자.</a:t>
            </a:r>
            <a:endParaRPr/>
          </a:p>
        </p:txBody>
      </p:sp>
      <p:sp>
        <p:nvSpPr>
          <p:cNvPr id="340" name="Google Shape;340;g370fbc96be1_0_39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g370fbc96be1_0_3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7770" y="2860706"/>
            <a:ext cx="4988461" cy="2545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0fbc96be1_0_39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애니메이션 과정</a:t>
            </a:r>
            <a:endParaRPr/>
          </a:p>
        </p:txBody>
      </p:sp>
      <p:sp>
        <p:nvSpPr>
          <p:cNvPr id="347" name="Google Shape;347;g370fbc96be1_0_39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캔버스 지우기: context.clearRect(0, 0, 300, 200);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캔버스에 그림 그리기: 이것은 앞에서 학습했던 대로 웹 페이지 안에 캔버스 요소를 생성하고 여기에 자바스크립트로 그림을 그리면 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위치를 업데이트한다.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위의 절차를 반복한다. </a:t>
            </a:r>
            <a:endParaRPr/>
          </a:p>
        </p:txBody>
      </p:sp>
      <p:pic>
        <p:nvPicPr>
          <p:cNvPr id="348" name="Google Shape;348;g370fbc96be1_0_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192" y="3621197"/>
            <a:ext cx="4988461" cy="2545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0fbc96be1_0_40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Sol.</a:t>
            </a:r>
            <a:endParaRPr/>
          </a:p>
        </p:txBody>
      </p:sp>
      <p:sp>
        <p:nvSpPr>
          <p:cNvPr id="354" name="Google Shape;354;g370fbc96be1_0_405"/>
          <p:cNvSpPr txBox="1"/>
          <p:nvPr/>
        </p:nvSpPr>
        <p:spPr>
          <a:xfrm>
            <a:off x="553910" y="1358020"/>
            <a:ext cx="8212200" cy="4960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Bouncing Ball Example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background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dotted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="myCanvas"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="200"&gt;&lt;/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dx = 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dy = 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 =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= 100;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5" name="Google Shape;355;g370fbc96be1_0_40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70fbc96be1_0_40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0fbc96be1_0_4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Sol.</a:t>
            </a:r>
            <a:endParaRPr/>
          </a:p>
        </p:txBody>
      </p:sp>
      <p:sp>
        <p:nvSpPr>
          <p:cNvPr id="362" name="Google Shape;362;g370fbc96be1_0_412"/>
          <p:cNvSpPr txBox="1"/>
          <p:nvPr/>
        </p:nvSpPr>
        <p:spPr>
          <a:xfrm>
            <a:off x="553900" y="1358025"/>
            <a:ext cx="8212200" cy="5316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canvas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'myCanvas'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 = canvas.getContext(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context.clearRect(0, 0, 300, 200);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context.beginPath();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context.fillStyle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context.arc(x, y, 20, 0, Math.PI * 2,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context.closePath();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(x &lt; (0 + 20) || x &gt; (300 - 20))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dx = -dx;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(y &lt; (0 + 20) || y &gt; (200 - 20))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dy = -dy;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x += dx;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y += dy;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setInterval(draw, 10);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63" name="Google Shape;363;g370fbc96be1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70fbc96be1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70fbc96be1_0_4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g370fbc96be1_0_4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3572" y="4241371"/>
            <a:ext cx="4065038" cy="2074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0fbc96be1_0_42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간단한 게임 제작</a:t>
            </a:r>
            <a:endParaRPr/>
          </a:p>
        </p:txBody>
      </p:sp>
      <p:sp>
        <p:nvSpPr>
          <p:cNvPr id="372" name="Google Shape;372;g370fbc96be1_0_42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앵그리 버드와 유사한 다음과 같은 게임을 제작</a:t>
            </a:r>
            <a:endParaRPr/>
          </a:p>
        </p:txBody>
      </p:sp>
      <p:pic>
        <p:nvPicPr>
          <p:cNvPr id="373" name="Google Shape;373;g370fbc96be1_0_4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159" y="2349374"/>
            <a:ext cx="5232903" cy="323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0fbc96be1_0_42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STEP #1 </a:t>
            </a:r>
            <a:endParaRPr/>
          </a:p>
        </p:txBody>
      </p:sp>
      <p:sp>
        <p:nvSpPr>
          <p:cNvPr id="379" name="Google Shape;379;g370fbc96be1_0_427"/>
          <p:cNvSpPr txBox="1"/>
          <p:nvPr/>
        </p:nvSpPr>
        <p:spPr>
          <a:xfrm>
            <a:off x="553900" y="1358025"/>
            <a:ext cx="8212200" cy="5230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 Game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dotted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#fcff00;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="canvas"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="500"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="300"&gt;&lt;/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="control"&gt;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속도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="velocity"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각도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="angle"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="45"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="90"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="score"&gt;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점수 = 0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발사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0" name="Google Shape;380;g370fbc96be1_0_42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70fbc96be1_0_42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70fbc96be1_0_42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g370fbc96be1_0_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1525" y="1534562"/>
            <a:ext cx="3292475" cy="22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0fbc96be1_0_43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STEP #2 </a:t>
            </a:r>
            <a:endParaRPr/>
          </a:p>
        </p:txBody>
      </p:sp>
      <p:sp>
        <p:nvSpPr>
          <p:cNvPr id="389" name="Google Shape;389;g370fbc96be1_0_436"/>
          <p:cNvSpPr txBox="1"/>
          <p:nvPr/>
        </p:nvSpPr>
        <p:spPr>
          <a:xfrm>
            <a:off x="553900" y="1358025"/>
            <a:ext cx="8212200" cy="5355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image.src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"lawn.png";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backimage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backimage.src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"net.png";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drawBackground()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context.drawImage(image, 0, 270);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context.drawImage(backimage, 450, 60);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context.clearRect(0, 0, 500, 300);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drawBackground();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init()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'canvas'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).getContext(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onload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="init()"&gt;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70fbc96be1_0_4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70fbc96be1_0_4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70fbc96be1_0_4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70fbc96be1_0_4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g370fbc96be1_0_4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5287" y="1766935"/>
            <a:ext cx="302577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0fbc96be1_0_44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움직이는 공 만들기</a:t>
            </a:r>
            <a:endParaRPr/>
          </a:p>
        </p:txBody>
      </p:sp>
      <p:sp>
        <p:nvSpPr>
          <p:cNvPr id="400" name="Google Shape;400;g370fbc96be1_0_44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공에 대한 많은 변수가 필요하다. 다음과 같은 변수를 선언하였다.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ballV; - 공의 속도이다.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ballVx; - 공의 x 방향 속도이다.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ballVy; - 공의 y 방향 속도이다.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ballX; - 공의 현재 x좌표이다.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ballY; - 공의 현재 y좌표이다.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let ballRadius; - 공의 반지름이다. </a:t>
            </a:r>
            <a:endParaRPr/>
          </a:p>
        </p:txBody>
      </p:sp>
      <p:pic>
        <p:nvPicPr>
          <p:cNvPr id="401" name="Google Shape;401;g370fbc96be1_0_4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932" y="4146055"/>
            <a:ext cx="3182946" cy="2330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0fbc96be1_0_45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공의 움직임을 어떻게 계산하여야 하는가? </a:t>
            </a:r>
            <a:endParaRPr/>
          </a:p>
        </p:txBody>
      </p:sp>
      <p:sp>
        <p:nvSpPr>
          <p:cNvPr id="407" name="Google Shape;407;g370fbc96be1_0_45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공의 y 방향 속도는 변하지 않는 것으로 가정한다. 물론 실제 상황에서는 공기의 저항을 받겠지만 이것은 무시하도록 하자. 공의 y 방향 속도는 중력 가속도 때문에 점점 느려질 것이다.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ballVx; 공의 x방향 속도로서 초기 속도에서 변하지 않는다.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ballVy; 공의 y방향 속도로서 초기 속도에서 중력 가속도 만큼 점점 느려진다. </a:t>
            </a:r>
            <a:endParaRPr/>
          </a:p>
        </p:txBody>
      </p:sp>
      <p:pic>
        <p:nvPicPr>
          <p:cNvPr id="408" name="Google Shape;408;g370fbc96be1_0_4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762" y="3612662"/>
            <a:ext cx="456247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0fbc96be1_0_45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공의 움직임을 어떻게 계산하여야 하는가? </a:t>
            </a:r>
            <a:endParaRPr/>
          </a:p>
        </p:txBody>
      </p:sp>
      <p:sp>
        <p:nvSpPr>
          <p:cNvPr id="414" name="Google Shape;414;g370fbc96be1_0_45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공의 속도 계산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ballVx = ballVx;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ballVy = ballVy + 1.98;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공의 현재 위치 계산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ballX = ballX + ballVx*1.0= ballX + ballVx;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ballY = ballY + ballVy*1.0= ballY + ballVy;</a:t>
            </a:r>
            <a:endParaRPr/>
          </a:p>
        </p:txBody>
      </p:sp>
      <p:pic>
        <p:nvPicPr>
          <p:cNvPr id="415" name="Google Shape;415;g370fbc96be1_0_4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201" y="4372823"/>
            <a:ext cx="3467150" cy="200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0fbc96be1_0_46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공의 초기 속도</a:t>
            </a:r>
            <a:endParaRPr/>
          </a:p>
        </p:txBody>
      </p:sp>
      <p:sp>
        <p:nvSpPr>
          <p:cNvPr id="421" name="Google Shape;421;g370fbc96be1_0_46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공의 초기 속도는 사용자가 입력한 속도와 각도에 따라서 설정되어야 한다. 간단한 삼각함수를 사용하면 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ballVx = velocity * Math.cos(angleR);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ballVy = -velocity * Math.sin(angleR);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422" name="Google Shape;422;g370fbc96be1_0_4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830" y="3275907"/>
            <a:ext cx="4351417" cy="258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0fbc96be1_0_47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전체 소스</a:t>
            </a:r>
            <a:endParaRPr/>
          </a:p>
        </p:txBody>
      </p:sp>
      <p:sp>
        <p:nvSpPr>
          <p:cNvPr id="428" name="Google Shape;428;g370fbc96be1_0_470"/>
          <p:cNvSpPr txBox="1"/>
          <p:nvPr/>
        </p:nvSpPr>
        <p:spPr>
          <a:xfrm>
            <a:off x="553910" y="1113576"/>
            <a:ext cx="8212200" cy="5586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 Game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dotted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red;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캔버스에 경계선을 그려준다. */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#fcff00;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캔버스의 배경색을 지정한다. */</a:t>
            </a:r>
            <a:endParaRPr b="0" i="0" sz="12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context;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컨텍스트 객체*/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velocity;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사용자가 입력한 공의 초기속도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angle;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사용자가 입력한 공의 초기각도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ballV;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현재 속도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ballVx;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현재 x방향 속도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ballVy;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현재 y방향 속도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ballX = 10;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현재 x방향 위치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ballY = 250;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현재 y방향 위치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ballRadius = 10;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공의 반지름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score = 0;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점수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 =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이미지 객체 생성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image.src =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"lawn.png";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이미지 파일 이름 설정 */</a:t>
            </a:r>
            <a:endParaRPr b="0" i="0" sz="1200" u="none" cap="none" strike="noStrike">
              <a:solidFill>
                <a:srgbClr val="A31515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backimage =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Image();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backimage.src =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"net.png";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timer;				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타이머 객체 변수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29" name="Google Shape;429;g370fbc96be1_0_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70fbc96be1_0_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70fbc96be1_0_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70fbc96be1_0_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0fbc96be1_0_47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전체 소스</a:t>
            </a:r>
            <a:endParaRPr/>
          </a:p>
        </p:txBody>
      </p:sp>
      <p:sp>
        <p:nvSpPr>
          <p:cNvPr id="438" name="Google Shape;438;g370fbc96be1_0_479"/>
          <p:cNvSpPr txBox="1"/>
          <p:nvPr/>
        </p:nvSpPr>
        <p:spPr>
          <a:xfrm>
            <a:off x="553900" y="1113575"/>
            <a:ext cx="8212200" cy="5744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/* 공을 화면에 그린다. */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drawBall()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context.beginPath();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context.arc(ballX, ballY, ballRadius, 0, 2.0 * Math.PI,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context.fillStyle =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context.fill();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/* 배경을 화면에 그린다. */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drawBackground()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context.drawImage(image, 0, 270);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context.drawImage(backimage, 450, 60);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/* 전체 화면을 그리는 함수 */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draw()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context.clearRect(0, 0, 500, 300);	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화면을 지운다. */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drawBall();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drawBackground();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/* 초기화를 담당하는 함수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init()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ballX = 10;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ballY = 250;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ballRadius = 10;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context = 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'canvas'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).getContext(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'2d'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39" name="Google Shape;439;g370fbc96be1_0_4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70fbc96be1_0_4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70fbc96be1_0_4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70fbc96be1_0_4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0fbc96be1_0_48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전체 소스</a:t>
            </a:r>
            <a:endParaRPr/>
          </a:p>
        </p:txBody>
      </p:sp>
      <p:sp>
        <p:nvSpPr>
          <p:cNvPr id="448" name="Google Shape;448;g370fbc96be1_0_488"/>
          <p:cNvSpPr txBox="1"/>
          <p:nvPr/>
        </p:nvSpPr>
        <p:spPr>
          <a:xfrm>
            <a:off x="553900" y="1037375"/>
            <a:ext cx="8212200" cy="5694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/* 사용자가 발사 버튼을 누르면 호출된다.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start()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init();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velocity = Number(document.getElementById(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"velocity"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angle = Number(document.getElementById(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"angle"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angleR = angle * Math.PI / 180;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ballVx = velocity * Math.cos(angleR);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ballVy = -velocity * Math.sin(angleR);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timer = setInterval(calculate, 100);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/* 공의 현재 속도와 위치를 업데이트한다.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calculate()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ballVy = ballVy + 1.98;	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ballX = ballX + ballVx;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ballY = ballY + ballVy;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/* 공이 목표물에 맞았으면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((ballX &gt;= 450) &amp;&amp; (ballX &lt;= 480) &amp;&amp; (ballY &gt;= 60) &amp;&amp; (ballY &lt;= 210))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score++;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"score"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"점수="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score;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clearInterval(timer);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49" name="Google Shape;449;g370fbc96be1_0_48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70fbc96be1_0_48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70fbc96be1_0_48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70fbc96be1_0_48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0fbc96be1_0_49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전체 소스</a:t>
            </a:r>
            <a:endParaRPr/>
          </a:p>
        </p:txBody>
      </p:sp>
      <p:sp>
        <p:nvSpPr>
          <p:cNvPr id="458" name="Google Shape;458;g370fbc96be1_0_497"/>
          <p:cNvSpPr txBox="1"/>
          <p:nvPr/>
        </p:nvSpPr>
        <p:spPr>
          <a:xfrm>
            <a:off x="553910" y="1113576"/>
            <a:ext cx="8212200" cy="5586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/* 공이 경계를 벗어났으면 */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(ballY &gt;= 300 || ballY &lt; 0)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clearInterval(timer);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draw();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onload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="init();"&gt;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="canvas"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="500"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="300"&gt;&lt;/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canvas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="control"&gt;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속도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="velocity"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각도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="angle"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="45"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="90"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="score"&gt;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점수 = 0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="start()"&gt;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발사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59" name="Google Shape;459;g370fbc96be1_0_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70fbc96be1_0_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70fbc96be1_0_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70fbc96be1_0_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468" name="Google Shape;4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469" name="Google Shape;4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