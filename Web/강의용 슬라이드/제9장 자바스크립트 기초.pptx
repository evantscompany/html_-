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9144000"/>
  <p:notesSz cx="6934200" cy="9220200"/>
  <p:embeddedFontLst>
    <p:embeddedFont>
      <p:font typeface="Century Schoolbook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70" roundtripDataSignature="AMtx7miXJK7YJegj7Fb+KVck/CvWoj8J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customschemas.google.com/relationships/presentationmetadata" Target="meta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CenturySchoolbook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CenturySchoolbook-italic.fntdata"/><Relationship Id="rId23" Type="http://schemas.openxmlformats.org/officeDocument/2006/relationships/slide" Target="slides/slide18.xml"/><Relationship Id="rId67" Type="http://schemas.openxmlformats.org/officeDocument/2006/relationships/font" Target="fonts/CenturySchoolbook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CenturySchoolbook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05cb41687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705cb41687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05cb41687_0_9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705cb41687_0_9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05cb41687_0_22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705cb41687_0_22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05cb41687_0_31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705cb41687_0_31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05cb41687_0_40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705cb41687_0_40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05cb41687_0_4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705cb41687_0_4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05cb41687_0_50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705cb41687_0_50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05cb41687_0_51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705cb41687_0_51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5cb41687_0_52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705cb41687_0_52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05cb41687_0_52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705cb41687_0_52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05cb41687_0_7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705cb41687_0_7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4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05cb41687_0_80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3705cb41687_0_80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05cb41687_0_81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g3705cb41687_0_81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4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705cb41687_0_91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3705cb41687_0_91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4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4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5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05cb41687_0_100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3705cb41687_0_100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5cb41687_0_101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705cb41687_0_101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5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5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5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05cb41687_0_62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705cb41687_0_62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5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0e960699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d0e960699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d0e960699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d0e960699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d0e960699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0e960699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0e960699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d0e960699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d0e960699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d0e960699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d0e960699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d0e960699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d0e960699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d0e960699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e960699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d0e960699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d0e960699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d0e960699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d0e960699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0e960699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d0e960699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d0e960699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d0e960699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d0e960699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d0e960699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d0e960699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0e960699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d0e960699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d0e960699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0e960699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0e960699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d0e960699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d0e960699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0e960699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d0e960699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d0e960699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Relationship Id="rId4" Type="http://schemas.openxmlformats.org/officeDocument/2006/relationships/image" Target="../media/image5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3236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9.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자바 스크립트 기초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 소개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자바스크립트(javascript): 동적인 웹 페이지를 작성하기 위하여 사용되는 언어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웹의 표준 프로그래밍 언어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모든 웹브라우저들은 자바스크립트를 지원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025" y="3033713"/>
            <a:ext cx="5719763" cy="279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HTML5 기술의 핵심 </a:t>
            </a:r>
            <a:endParaRPr/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19225"/>
            <a:ext cx="57912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vs 자바 스크립트</a:t>
            </a:r>
            <a:endParaRPr/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1490663"/>
            <a:ext cx="82772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 역사</a:t>
            </a:r>
            <a:endParaRPr/>
          </a:p>
        </p:txBody>
      </p:sp>
      <p:sp>
        <p:nvSpPr>
          <p:cNvPr id="88" name="Google Shape;88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넷스케이프의 브렌던 아이크(Brendan Eich)가 개발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처음에는 라이브스크립트(LiveScript)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최신 버전은 자바스크립트 1.8.5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ECMA(European Computer Manufacturer’s Association)이 ECMAScript라는 이름으로 표준을 제정-&gt; ECMA-262</a:t>
            </a:r>
            <a:endParaRPr/>
          </a:p>
        </p:txBody>
      </p:sp>
      <p:pic>
        <p:nvPicPr>
          <p:cNvPr descr="EMB00001afc6937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6024" y="3479799"/>
            <a:ext cx="1908175" cy="239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 특징</a:t>
            </a:r>
            <a:endParaRPr/>
          </a:p>
        </p:txBody>
      </p:sp>
      <p:sp>
        <p:nvSpPr>
          <p:cNvPr id="95" name="Google Shape;95;p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인터프리트 언어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동적 타이핑(dynamic typing)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구조적 프로그래밍 지원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객체 기반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함수형 프로그래밍 지원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프로토타입-기반(prototype-based)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스크립트의 용도</a:t>
            </a:r>
            <a:endParaRPr/>
          </a:p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이벤트에 반응하는 동작을 구현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AJAX : 서버와의 HTTP 통신을 비동기 방식으로 수행하는 기술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 요소들의 콘텐츠 및 크기나 색상을 동적으로 변경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게임이나 애니메이션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사용자가 입력한 값들을 검증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05cb41687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자바스크립트로 할 수 있는 일 1.</a:t>
            </a:r>
            <a:endParaRPr/>
          </a:p>
        </p:txBody>
      </p:sp>
      <p:sp>
        <p:nvSpPr>
          <p:cNvPr id="107" name="Google Shape;107;g3705cb41687_0_0"/>
          <p:cNvSpPr txBox="1"/>
          <p:nvPr/>
        </p:nvSpPr>
        <p:spPr>
          <a:xfrm>
            <a:off x="347250" y="1824000"/>
            <a:ext cx="8449500" cy="3210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8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'lightb'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'light-bulb1.png'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전등켜기스위치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'lightb'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'light-bulb2.png'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전등끄기스위치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8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&lt;img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"lightb"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"light-bulb2.png"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"width:120px"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8" name="Google Shape;108;g3705cb4168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744" y="5164028"/>
            <a:ext cx="3077986" cy="141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705cb4168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1242" y="5164028"/>
            <a:ext cx="3077986" cy="141158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05cb41687_0_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05cb41687_0_0"/>
          <p:cNvSpPr/>
          <p:nvPr/>
        </p:nvSpPr>
        <p:spPr>
          <a:xfrm>
            <a:off x="4345663" y="5640309"/>
            <a:ext cx="226200" cy="57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05cb41687_0_0"/>
          <p:cNvSpPr txBox="1"/>
          <p:nvPr/>
        </p:nvSpPr>
        <p:spPr>
          <a:xfrm>
            <a:off x="347250" y="1216650"/>
            <a:ext cx="879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00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버튼 클릭 이벤트를 통해 이미지 변경하기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5cb41687_0_9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자바스크립트로 할 수 있는 일 2.</a:t>
            </a:r>
            <a:endParaRPr/>
          </a:p>
        </p:txBody>
      </p:sp>
      <p:sp>
        <p:nvSpPr>
          <p:cNvPr id="118" name="Google Shape;118;g3705cb41687_0_93"/>
          <p:cNvSpPr txBox="1"/>
          <p:nvPr>
            <p:ph idx="1" type="body"/>
          </p:nvPr>
        </p:nvSpPr>
        <p:spPr>
          <a:xfrm>
            <a:off x="389700" y="1331113"/>
            <a:ext cx="8212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이미지 위에 마우스 커서가 위치했을 때 이미지를 커지게 하기</a:t>
            </a:r>
            <a:endParaRPr/>
          </a:p>
        </p:txBody>
      </p:sp>
      <p:sp>
        <p:nvSpPr>
          <p:cNvPr id="119" name="Google Shape;119;g3705cb41687_0_9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705cb41687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636" y="4386200"/>
            <a:ext cx="3806456" cy="232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705cb41687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617" y="4386199"/>
            <a:ext cx="3806456" cy="232125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705cb41687_0_93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705cb41687_0_93"/>
          <p:cNvSpPr/>
          <p:nvPr/>
        </p:nvSpPr>
        <p:spPr>
          <a:xfrm>
            <a:off x="4427144" y="5287845"/>
            <a:ext cx="325800" cy="80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705cb41687_0_93"/>
          <p:cNvSpPr txBox="1"/>
          <p:nvPr/>
        </p:nvSpPr>
        <p:spPr>
          <a:xfrm>
            <a:off x="465925" y="1976427"/>
            <a:ext cx="8212200" cy="21309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마우스를 이미지 위로 올리면 이미지가 커집니다.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&lt;img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onmouseover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"this.style.width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'200px'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onmouseout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"this.style.width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'100px'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CD313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"dog.jpg"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"100px"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스크립트의 위치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612648" y="12954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CSS와 마찬가지로 자바스크립트도 다음과 같은 3가지 방법으로 HTML 문서에 삽입될 수 있다.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1" marL="64008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94B6D2"/>
              </a:buClr>
              <a:buSzPts val="126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 자바스크립트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1" marL="64008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94B6D2"/>
              </a:buClr>
              <a:buSzPts val="126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자바스크립트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1" marL="64008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94B6D2"/>
              </a:buClr>
              <a:buSzPts val="126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인라인 자바스크립트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2004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707802" y="3316586"/>
            <a:ext cx="1892100" cy="2363100"/>
          </a:xfrm>
          <a:prstGeom prst="foldedCorner">
            <a:avLst>
              <a:gd fmla="val 16667" name="adj"/>
            </a:avLst>
          </a:prstGeom>
          <a:solidFill>
            <a:srgbClr val="6699FF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834550" y="3524816"/>
            <a:ext cx="1493700" cy="552300"/>
          </a:xfrm>
          <a:prstGeom prst="roundRect">
            <a:avLst>
              <a:gd fmla="val 16667" name="adj"/>
            </a:avLst>
          </a:prstGeom>
          <a:solidFill>
            <a:srgbClr val="FFFFCC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517617" y="3401085"/>
            <a:ext cx="1493700" cy="552300"/>
          </a:xfrm>
          <a:prstGeom prst="roundRect">
            <a:avLst>
              <a:gd fmla="val 16667" name="adj"/>
            </a:avLst>
          </a:prstGeom>
          <a:solidFill>
            <a:srgbClr val="FFFFCC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3730028" y="3633457"/>
            <a:ext cx="1430400" cy="864600"/>
          </a:xfrm>
          <a:prstGeom prst="straightConnector1">
            <a:avLst/>
          </a:prstGeom>
          <a:noFill/>
          <a:ln cap="flat" cmpd="sng" w="10000">
            <a:solidFill>
              <a:srgbClr val="DD80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9"/>
          <p:cNvSpPr/>
          <p:nvPr/>
        </p:nvSpPr>
        <p:spPr>
          <a:xfrm>
            <a:off x="5581461" y="4783248"/>
            <a:ext cx="819300" cy="99600"/>
          </a:xfrm>
          <a:prstGeom prst="roundRect">
            <a:avLst>
              <a:gd fmla="val 16667" name="adj"/>
            </a:avLst>
          </a:prstGeom>
          <a:solidFill>
            <a:srgbClr val="FFFFCC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내부 자바 스크립트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666750" y="1000125"/>
            <a:ext cx="8212200" cy="3381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&lt;title&gt;My First Javascript 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document.write("Hello World!");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4c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250" y="4895850"/>
            <a:ext cx="3903987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외부 자바 스크립트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666750" y="1152525"/>
            <a:ext cx="8212200" cy="2111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src="myscript.js"&gt;&lt;/script&gt;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4c"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250" y="4591050"/>
            <a:ext cx="3903987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/>
        </p:nvSpPr>
        <p:spPr>
          <a:xfrm>
            <a:off x="666750" y="3762376"/>
            <a:ext cx="8212200" cy="438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document.write("Hello World!");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590550" y="3444359"/>
            <a:ext cx="115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myscript.js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인라인 자바 스크립트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666750" y="1257300"/>
            <a:ext cx="8212138" cy="17430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type="button" onclick="alert('반갑습니다.')"&gt;버튼을 누르세요!&lt;/button&gt;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3895725"/>
            <a:ext cx="24574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2825" y="3505200"/>
            <a:ext cx="173355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2"/>
          <p:cNvSpPr/>
          <p:nvPr/>
        </p:nvSpPr>
        <p:spPr>
          <a:xfrm>
            <a:off x="2381250" y="4029048"/>
            <a:ext cx="1171575" cy="609627"/>
          </a:xfrm>
          <a:custGeom>
            <a:rect b="b" l="l" r="r" t="t"/>
            <a:pathLst>
              <a:path extrusionOk="0" h="609627" w="1171575">
                <a:moveTo>
                  <a:pt x="0" y="609627"/>
                </a:moveTo>
                <a:cubicBezTo>
                  <a:pt x="19050" y="581052"/>
                  <a:pt x="32866" y="548186"/>
                  <a:pt x="57150" y="523902"/>
                </a:cubicBezTo>
                <a:cubicBezTo>
                  <a:pt x="79375" y="501677"/>
                  <a:pt x="104190" y="481770"/>
                  <a:pt x="123825" y="457227"/>
                </a:cubicBezTo>
                <a:cubicBezTo>
                  <a:pt x="232094" y="321891"/>
                  <a:pt x="85549" y="501478"/>
                  <a:pt x="209550" y="361977"/>
                </a:cubicBezTo>
                <a:cubicBezTo>
                  <a:pt x="220097" y="350112"/>
                  <a:pt x="226423" y="334604"/>
                  <a:pt x="238125" y="323877"/>
                </a:cubicBezTo>
                <a:cubicBezTo>
                  <a:pt x="264810" y="299415"/>
                  <a:pt x="295157" y="279274"/>
                  <a:pt x="323850" y="257202"/>
                </a:cubicBezTo>
                <a:cubicBezTo>
                  <a:pt x="336433" y="247523"/>
                  <a:pt x="348741" y="237433"/>
                  <a:pt x="361950" y="228627"/>
                </a:cubicBezTo>
                <a:cubicBezTo>
                  <a:pt x="371475" y="222277"/>
                  <a:pt x="381833" y="217027"/>
                  <a:pt x="390525" y="209577"/>
                </a:cubicBezTo>
                <a:cubicBezTo>
                  <a:pt x="449024" y="159435"/>
                  <a:pt x="403079" y="177863"/>
                  <a:pt x="466725" y="161952"/>
                </a:cubicBezTo>
                <a:lnTo>
                  <a:pt x="542925" y="114327"/>
                </a:lnTo>
                <a:cubicBezTo>
                  <a:pt x="558692" y="104624"/>
                  <a:pt x="575146" y="96021"/>
                  <a:pt x="590550" y="85752"/>
                </a:cubicBezTo>
                <a:cubicBezTo>
                  <a:pt x="600075" y="79402"/>
                  <a:pt x="608603" y="71211"/>
                  <a:pt x="619125" y="66702"/>
                </a:cubicBezTo>
                <a:cubicBezTo>
                  <a:pt x="631157" y="61545"/>
                  <a:pt x="644968" y="61774"/>
                  <a:pt x="657225" y="57177"/>
                </a:cubicBezTo>
                <a:cubicBezTo>
                  <a:pt x="670520" y="52191"/>
                  <a:pt x="682142" y="43400"/>
                  <a:pt x="695325" y="38127"/>
                </a:cubicBezTo>
                <a:cubicBezTo>
                  <a:pt x="713969" y="30669"/>
                  <a:pt x="733425" y="25427"/>
                  <a:pt x="752475" y="19077"/>
                </a:cubicBezTo>
                <a:cubicBezTo>
                  <a:pt x="762000" y="15902"/>
                  <a:pt x="771015" y="9876"/>
                  <a:pt x="781050" y="9552"/>
                </a:cubicBezTo>
                <a:cubicBezTo>
                  <a:pt x="1108058" y="-997"/>
                  <a:pt x="977849" y="27"/>
                  <a:pt x="1171575" y="27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문장(명령, 실행문)</a:t>
            </a:r>
            <a:endParaRPr/>
          </a:p>
        </p:txBody>
      </p:sp>
      <p:sp>
        <p:nvSpPr>
          <p:cNvPr id="166" name="Google Shape;166;p1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자바스크립트 문장(statement)들은 웹 브라우저에게 내리는 명령</a:t>
            </a:r>
            <a:endParaRPr/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257425"/>
            <a:ext cx="8353425" cy="1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05cb41687_0_22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주석문</a:t>
            </a:r>
            <a:endParaRPr/>
          </a:p>
        </p:txBody>
      </p:sp>
      <p:pic>
        <p:nvPicPr>
          <p:cNvPr id="173" name="Google Shape;173;g3705cb41687_0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55" y="1862313"/>
            <a:ext cx="7960289" cy="87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705cb41687_0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816856"/>
            <a:ext cx="6820248" cy="113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705cb41687_0_22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주석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변수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685800" y="1333500"/>
            <a:ext cx="8212200" cy="3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변수(variable)</a:t>
            </a:r>
            <a:r>
              <a:rPr lang="en-US"/>
              <a:t>는 데이터를 저장하는 상자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var 키워드를 사용하여서 선언(declare)한다.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8" y="2633663"/>
            <a:ext cx="78200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621300" y="4776500"/>
            <a:ext cx="79014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# 새로운 JavaScript 문법 [ 버전  ECMAScript2015 (ES6)  ]</a:t>
            </a:r>
            <a:endParaRPr b="1" i="0" sz="17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8920" lvl="1" marL="64008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94B6D2"/>
              </a:buClr>
              <a:buSzPts val="860"/>
              <a:buFont typeface="Noto Sans Symbols"/>
              <a:buChar char="●"/>
            </a:pP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키워드는 2015년에 자바스크립트에 추가되었다. var에 비하여 장점이 있어서 사용이 권장된다.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8920" lvl="1" marL="64008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94B6D2"/>
              </a:buClr>
              <a:buSzPts val="860"/>
              <a:buFont typeface="Noto Sans Symbols"/>
              <a:buChar char="●"/>
            </a:pP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키워드는 상수(변하지 않는 변수)를 선언하기 위하여 도입되었다. 개발자가 변경시킬 필요가 없는 객체는 const로 정의하는 것이 권장된다.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666750" y="1257300"/>
            <a:ext cx="8212138" cy="17430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x = "Hello World!";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alert(x);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5e"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4443" y="3305175"/>
            <a:ext cx="531444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자료형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수치형(number)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문자열(string)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부울형(boolean)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객체형(object)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undefined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66750" y="1257300"/>
            <a:ext cx="8212200" cy="24018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s =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document.write(s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s = "홍길동";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document.write(s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64"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3754438"/>
            <a:ext cx="3424796" cy="152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66750" y="1257300"/>
            <a:ext cx="8212138" cy="21145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s = "Hello World";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t = "How are you" + " today?";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document.write(s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document.write(s.toUpperCase()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6a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794" y="4067175"/>
            <a:ext cx="3517106" cy="156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05cb41687_0_31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템플레이트 리터럴</a:t>
            </a:r>
            <a:endParaRPr/>
          </a:p>
        </p:txBody>
      </p:sp>
      <p:sp>
        <p:nvSpPr>
          <p:cNvPr id="216" name="Google Shape;216;g3705cb41687_0_31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 문자열 안에 변수값을 넣으려면 `...${ expression }...` 형태의 문자열을 사용하는 것이 좋다.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 백틱기호(`...`)를 사용한 문자열은 </a:t>
            </a:r>
            <a:r>
              <a:rPr b="1" lang="en-US">
                <a:solidFill>
                  <a:srgbClr val="0000FF"/>
                </a:solidFill>
              </a:rPr>
              <a:t>자바스크립트 ES6 버전에서 추가</a:t>
            </a:r>
            <a:r>
              <a:rPr lang="en-US"/>
              <a:t>된 것으로 템플릿 리터럴(template literal)이라고 부른다. </a:t>
            </a:r>
            <a:endParaRPr/>
          </a:p>
        </p:txBody>
      </p:sp>
      <p:pic>
        <p:nvPicPr>
          <p:cNvPr id="217" name="Google Shape;217;g3705cb41687_0_3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007" y="3429000"/>
            <a:ext cx="5343525" cy="1685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객체형</a:t>
            </a:r>
            <a:endParaRPr/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객체(object)</a:t>
            </a:r>
            <a:r>
              <a:rPr lang="en-US"/>
              <a:t>는 사물의 속성과 동작을 묶어서 표현하는 기법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(예) 자동차는 메이커, 모델, 색상, 마력과 같은 속성도 있고 출발하기, 정지하기 등의 동작도 가지고 있다.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var myCar = { model: "bmz", color: "red", hp: 100 };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document.write(myCar.model + "&lt;br&gt;");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document.write(myCar.color + "&lt;br&gt;");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document.write(myCar.hp + "&lt;br&gt;");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1afc6970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7888" y="4613546"/>
            <a:ext cx="1795462" cy="1109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fc6977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787" y="4461933"/>
            <a:ext cx="2332037" cy="141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연산자</a:t>
            </a:r>
            <a:endParaRPr/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288" y="1281113"/>
            <a:ext cx="822007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05cb41687_0_40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37" name="Google Shape;237;g3705cb41687_0_404"/>
          <p:cNvSpPr txBox="1"/>
          <p:nvPr/>
        </p:nvSpPr>
        <p:spPr>
          <a:xfrm>
            <a:off x="612648" y="1764294"/>
            <a:ext cx="8212200" cy="2925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 = 20;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document.write(x+y+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document.write(x-y+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document.write(x*y+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document.write(x/y+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document.write(x%y+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8" name="Google Shape;238;g3705cb41687_0_40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705cb41687_0_40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3705cb41687_0_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6780" y="3944780"/>
            <a:ext cx="3979284" cy="164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05cb41687_0_4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문자열에서의 + 연산자</a:t>
            </a:r>
            <a:endParaRPr/>
          </a:p>
        </p:txBody>
      </p:sp>
      <p:sp>
        <p:nvSpPr>
          <p:cNvPr id="246" name="Google Shape;246;g3705cb41687_0_412"/>
          <p:cNvSpPr txBox="1"/>
          <p:nvPr/>
        </p:nvSpPr>
        <p:spPr>
          <a:xfrm>
            <a:off x="612648" y="1764294"/>
            <a:ext cx="8212200" cy="2925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x,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x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"Car"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y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"Car"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document.write(x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document.write(y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47" name="Google Shape;247;g3705cb41687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705cb41687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705cb41687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705cb41687_0_4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9409" y="4153913"/>
            <a:ext cx="3994806" cy="134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7150" y="1257300"/>
            <a:ext cx="9013800" cy="3057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x,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input;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input = prompt("정수를 입력하시오", "정수로");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x = parseInt(input);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input = prompt("정수를 입력하시오", "정수로");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y = parseInt(input);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document.write(x + y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451168" y="4667815"/>
            <a:ext cx="226200" cy="53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4B6D2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9948" y="3440852"/>
            <a:ext cx="2838129" cy="14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9948" y="5043205"/>
            <a:ext cx="2838129" cy="14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217" y="4184754"/>
            <a:ext cx="2838129" cy="148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05cb41687_0_50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비교 연산자</a:t>
            </a:r>
            <a:endParaRPr/>
          </a:p>
        </p:txBody>
      </p:sp>
      <p:pic>
        <p:nvPicPr>
          <p:cNvPr id="266" name="Google Shape;266;g3705cb41687_0_50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5137" y="2288217"/>
            <a:ext cx="4711500" cy="30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05cb41687_0_51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72" name="Google Shape;272;g3705cb41687_0_510"/>
          <p:cNvSpPr txBox="1"/>
          <p:nvPr/>
        </p:nvSpPr>
        <p:spPr>
          <a:xfrm>
            <a:off x="612648" y="1764294"/>
            <a:ext cx="8212200" cy="2925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((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&gt;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((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((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==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((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!=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r>
              <a:rPr b="0" i="0" lang="en-US" sz="1400" u="none" cap="none" strike="noStrike">
                <a:solidFill>
                  <a:srgbClr val="E21F1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3" name="Google Shape;273;g3705cb41687_0_5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705cb41687_0_5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05cb41687_0_5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705cb41687_0_5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3705cb41687_0_5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0232" y="4185844"/>
            <a:ext cx="4056990" cy="151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05cb41687_0_52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=== 연산자와 !== 연산자</a:t>
            </a:r>
            <a:endParaRPr/>
          </a:p>
        </p:txBody>
      </p:sp>
      <p:sp>
        <p:nvSpPr>
          <p:cNvPr id="283" name="Google Shape;283;g3705cb41687_0_52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=== 연산자는 피연산자의 값과 데이터 타입이 모두 일치할 때만 참을 반환한다.  !== 연산자는 값이 다르거나 데이터 타입이 다르면 참이 된다.</a:t>
            </a:r>
            <a:endParaRPr/>
          </a:p>
        </p:txBody>
      </p:sp>
      <p:pic>
        <p:nvPicPr>
          <p:cNvPr id="284" name="Google Shape;284;g3705cb41687_0_5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657" y="2578548"/>
            <a:ext cx="7007382" cy="1927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05cb41687_0_52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논리 연산자</a:t>
            </a:r>
            <a:endParaRPr/>
          </a:p>
        </p:txBody>
      </p:sp>
      <p:sp>
        <p:nvSpPr>
          <p:cNvPr id="290" name="Google Shape;290;g3705cb41687_0_52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논리 연산자는 여러 개의 조건을 조합하여 참인지 거짓인지를 따질 때 사용한다.</a:t>
            </a:r>
            <a:endParaRPr/>
          </a:p>
        </p:txBody>
      </p:sp>
      <p:pic>
        <p:nvPicPr>
          <p:cNvPr id="291" name="Google Shape;291;g3705cb41687_0_5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019" y="2625073"/>
            <a:ext cx="6853473" cy="160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제어문</a:t>
            </a:r>
            <a:endParaRPr/>
          </a:p>
        </p:txBody>
      </p:sp>
      <p:pic>
        <p:nvPicPr>
          <p:cNvPr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38" y="1404938"/>
            <a:ext cx="65627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조건문의 종류</a:t>
            </a:r>
            <a:endParaRPr/>
          </a:p>
        </p:txBody>
      </p:sp>
      <p:sp>
        <p:nvSpPr>
          <p:cNvPr id="303" name="Google Shape;303;p2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if 문 , if...else 문, if…else if 문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switch 문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문</a:t>
            </a:r>
            <a:endParaRPr/>
          </a:p>
        </p:txBody>
      </p:sp>
      <p:sp>
        <p:nvSpPr>
          <p:cNvPr id="309" name="Google Shape;309;p28"/>
          <p:cNvSpPr txBox="1"/>
          <p:nvPr>
            <p:ph idx="1" type="body"/>
          </p:nvPr>
        </p:nvSpPr>
        <p:spPr>
          <a:xfrm>
            <a:off x="533400" y="3981452"/>
            <a:ext cx="8212138" cy="11906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rgbClr val="000000"/>
                </a:solidFill>
              </a:rPr>
              <a:t>if (time&lt;12)</a:t>
            </a:r>
            <a:endParaRPr/>
          </a:p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rgbClr val="000000"/>
                </a:solidFill>
              </a:rPr>
              <a:t>{</a:t>
            </a:r>
            <a:endParaRPr/>
          </a:p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rgbClr val="000000"/>
                </a:solidFill>
              </a:rPr>
              <a:t>	greeting="Good Morning!";</a:t>
            </a:r>
            <a:endParaRPr/>
          </a:p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rgbClr val="000000"/>
                </a:solidFill>
              </a:rPr>
              <a:t>}</a:t>
            </a:r>
            <a:endParaRPr/>
          </a:p>
        </p:txBody>
      </p:sp>
      <p:pic>
        <p:nvPicPr>
          <p:cNvPr id="310" name="Google Shape;3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875" y="928688"/>
            <a:ext cx="4767263" cy="301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if-else 문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628650" y="1362075"/>
            <a:ext cx="8212200" cy="19134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(time&lt;12)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msg="Good Morning!";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msg="Good Afternoon!";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716" y="3631109"/>
            <a:ext cx="4351796" cy="207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연속적인 if 문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666750" y="1257300"/>
            <a:ext cx="8212200" cy="3563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msg = "";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time = new Date().getHours();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if (time &lt; 12) {				// 12시 이전이면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msg = "Good Morning";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else if (time &lt; 18) {			// 오후 6시 이전이면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msg = "Good Afternoon";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else {						// 그렇지 않으면(오후 6시 이후이면)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msg = "Good evening";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alert(msg);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dd" id="324" name="Google Shape;3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8875" y="5125200"/>
            <a:ext cx="1849438" cy="1528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05cb41687_0_7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switch 문</a:t>
            </a:r>
            <a:endParaRPr/>
          </a:p>
        </p:txBody>
      </p:sp>
      <p:sp>
        <p:nvSpPr>
          <p:cNvPr id="330" name="Google Shape;330;g3705cb41687_0_71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만약 가능한 실행 경로가 여러 개인 경우에는 switch 문을 사용하는 것이 좋다. switch 문은 제어식의 값에 따라 다음에 실행할 문장을 결정하게 된다. </a:t>
            </a:r>
            <a:endParaRPr/>
          </a:p>
        </p:txBody>
      </p:sp>
      <p:pic>
        <p:nvPicPr>
          <p:cNvPr id="331" name="Google Shape;331;g3705cb41687_0_7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3746" y="2507811"/>
            <a:ext cx="4476507" cy="377265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2" name="Google Shape;332;g3705cb41687_0_7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switch 문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switch 문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666750" y="1257300"/>
            <a:ext cx="8212200" cy="4089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grade = prompt("성적을 입력하시오:", "A-F사이의 문자로");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switch (grade)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case 'A': alert("잘했어요!");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case 'B': alert("좋은 점수군요");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case 'C': alert("괜찮은 점수군요");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case 'D': alert("좀더 노력하세요");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case 'F': alert("다음학기 수강하세요");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default: alert("알수없는 학점입니다.")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e3" id="339" name="Google Shape;3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416" y="5518856"/>
            <a:ext cx="4411388" cy="1177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fc69e4" id="340" name="Google Shape;3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0638" y="5137856"/>
            <a:ext cx="1592262" cy="1601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반복문</a:t>
            </a:r>
            <a:endParaRPr/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같은 처리 과정을 여러 번 되풀이하는 것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2295525"/>
            <a:ext cx="680085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반복문의 종류</a:t>
            </a:r>
            <a:endParaRPr/>
          </a:p>
        </p:txBody>
      </p:sp>
      <p:sp>
        <p:nvSpPr>
          <p:cNvPr id="353" name="Google Shape;353;p3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while – 지정된 조건이 참이면 반복 실행한다.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for – 정해진 횟수 동안 코드를 반복 실행한다.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while 문</a:t>
            </a:r>
            <a:endParaRPr/>
          </a:p>
        </p:txBody>
      </p:sp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5" y="1890713"/>
            <a:ext cx="821055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while 문</a:t>
            </a:r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628650" y="1362074"/>
            <a:ext cx="8212200" cy="2067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i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while (i &lt; 10)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document.write("카운터 : " + i + "&lt;br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f4" id="366" name="Google Shape;3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193" y="3225801"/>
            <a:ext cx="2675595" cy="261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문</a:t>
            </a:r>
            <a:endParaRPr/>
          </a:p>
        </p:txBody>
      </p:sp>
      <p:pic>
        <p:nvPicPr>
          <p:cNvPr id="372" name="Google Shape;3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2209800"/>
            <a:ext cx="8305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문</a:t>
            </a:r>
            <a:endParaRPr/>
          </a:p>
        </p:txBody>
      </p:sp>
      <p:sp>
        <p:nvSpPr>
          <p:cNvPr id="378" name="Google Shape;378;p39"/>
          <p:cNvSpPr txBox="1"/>
          <p:nvPr/>
        </p:nvSpPr>
        <p:spPr>
          <a:xfrm>
            <a:off x="628650" y="1362077"/>
            <a:ext cx="8212138" cy="15906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i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for (i = 0; i &lt; 10;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document.write("카운터 : " + i + "&lt;br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f4" id="379" name="Google Shape;3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193" y="3225801"/>
            <a:ext cx="2675595" cy="261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JS in HTML 예제 </a:t>
            </a:r>
            <a:endParaRPr/>
          </a:p>
        </p:txBody>
      </p:sp>
      <p:sp>
        <p:nvSpPr>
          <p:cNvPr id="385" name="Google Shape;385;p40"/>
          <p:cNvSpPr txBox="1"/>
          <p:nvPr/>
        </p:nvSpPr>
        <p:spPr>
          <a:xfrm>
            <a:off x="628650" y="1362075"/>
            <a:ext cx="8212200" cy="5309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&lt;title&gt;온도 변환기&lt;/title&gt;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 border="3"&gt;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&lt;td&gt;섭씨온도&lt;/td&gt;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&lt;td&gt;화씨온도&lt;/td&gt;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for (celsius = 0; celsius &lt;= 10; celsius = celsius + 1)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document.write("&lt;tr&gt;&lt;td&gt;" + celsius + "&lt;/td&gt;&lt;td&gt;"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+ ((celsius * 9.0 / 5) + 32) + "&lt;/td&gt;&lt;/tr&gt;");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fb" id="386" name="Google Shape;3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437" y="1651000"/>
            <a:ext cx="2235659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중첩 반복문 예제 </a:t>
            </a:r>
            <a:endParaRPr/>
          </a:p>
        </p:txBody>
      </p:sp>
      <p:sp>
        <p:nvSpPr>
          <p:cNvPr id="392" name="Google Shape;392;p41"/>
          <p:cNvSpPr txBox="1"/>
          <p:nvPr/>
        </p:nvSpPr>
        <p:spPr>
          <a:xfrm>
            <a:off x="628650" y="1362075"/>
            <a:ext cx="8212200" cy="50358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document.write("&lt;h1&gt;구구단표&lt;/h1&gt;");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document.write("&lt;table border=2 width=50%");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for (var i = 1; i &lt;= 9; i++) 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document.write("&lt;tr&gt;");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document.write("&lt;td&gt;" + i + "&lt;/td&gt;");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for (var j = 2; j &lt;= 9; j++)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document.write("&lt;td&gt;" + i * j + "&lt;/td&gt;");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document.write("&lt;/tr&gt;");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document.write("&lt;/table&gt;");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9ff" id="393" name="Google Shape;3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38" y="1990725"/>
            <a:ext cx="2597150" cy="3800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for/in 반복문 </a:t>
            </a:r>
            <a:endParaRPr/>
          </a:p>
        </p:txBody>
      </p:sp>
      <p:sp>
        <p:nvSpPr>
          <p:cNvPr id="399" name="Google Shape;399;p42"/>
          <p:cNvSpPr txBox="1"/>
          <p:nvPr/>
        </p:nvSpPr>
        <p:spPr>
          <a:xfrm>
            <a:off x="628650" y="1362075"/>
            <a:ext cx="8212200" cy="2592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myCar = { make: "BMW", model: "X5", year: 2013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txt="";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for (var x in myCar)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txt += myCar[x] + "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03" id="400" name="Google Shape;40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563" y="4154488"/>
            <a:ext cx="3240251" cy="108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05cb41687_0_80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break 문장</a:t>
            </a:r>
            <a:endParaRPr/>
          </a:p>
        </p:txBody>
      </p:sp>
      <p:sp>
        <p:nvSpPr>
          <p:cNvPr id="406" name="Google Shape;406;g3705cb41687_0_80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do/while 문은 while 문과 비슷하나 반복 조건을 루프의 처음이 아니라 루프의 끝에서 검사한다는 것이 다르다. </a:t>
            </a:r>
            <a:endParaRPr/>
          </a:p>
        </p:txBody>
      </p:sp>
      <p:sp>
        <p:nvSpPr>
          <p:cNvPr id="407" name="Google Shape;407;g3705cb41687_0_809"/>
          <p:cNvSpPr txBox="1"/>
          <p:nvPr/>
        </p:nvSpPr>
        <p:spPr>
          <a:xfrm>
            <a:off x="612650" y="2110198"/>
            <a:ext cx="8212200" cy="231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msg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 = 0; i &lt; 10;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sng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sng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(i == 3) </a:t>
            </a:r>
            <a:r>
              <a:rPr b="0" i="0" lang="en-US" sz="1400" u="sng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</a:t>
            </a:r>
            <a:r>
              <a:rPr b="0" i="0" lang="en-US" sz="1400" u="sng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msg += i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document.write(msg);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8" name="Google Shape;408;g3705cb41687_0_80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705cb41687_0_80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705cb41687_0_80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g3705cb41687_0_8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7323" y="4609785"/>
            <a:ext cx="3949508" cy="1339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05cb41687_0_81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continue 문장</a:t>
            </a:r>
            <a:endParaRPr/>
          </a:p>
        </p:txBody>
      </p:sp>
      <p:sp>
        <p:nvSpPr>
          <p:cNvPr id="417" name="Google Shape;417;g3705cb41687_0_81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do/while 문은 while 문과 비슷하나 반복 조건을 루프의 처음이 아니라 루프의 끝에서 검사한다는 것이 다르다. </a:t>
            </a:r>
            <a:endParaRPr/>
          </a:p>
        </p:txBody>
      </p:sp>
      <p:sp>
        <p:nvSpPr>
          <p:cNvPr id="418" name="Google Shape;418;g3705cb41687_0_819"/>
          <p:cNvSpPr txBox="1"/>
          <p:nvPr/>
        </p:nvSpPr>
        <p:spPr>
          <a:xfrm>
            <a:off x="612650" y="2110198"/>
            <a:ext cx="8212200" cy="2315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msg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 = 0; i &lt; 10;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(i == 3)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continue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msg += i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document.write(msg);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9" name="Google Shape;419;g3705cb41687_0_8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705cb41687_0_8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705cb41687_0_8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705cb41687_0_8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g3705cb41687_0_8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199" y="4605211"/>
            <a:ext cx="4040181" cy="138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함수</a:t>
            </a:r>
            <a:endParaRPr/>
          </a:p>
        </p:txBody>
      </p:sp>
      <p:sp>
        <p:nvSpPr>
          <p:cNvPr id="429" name="Google Shape;429;p4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함수는 입력을 받아서 특정한 작업을 수행하여서 결과를 반환하는 블랙 박스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30" name="Google Shape;4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52650"/>
            <a:ext cx="66865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05cb41687_0_91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함수</a:t>
            </a:r>
            <a:endParaRPr/>
          </a:p>
        </p:txBody>
      </p:sp>
      <p:sp>
        <p:nvSpPr>
          <p:cNvPr id="436" name="Google Shape;436;g3705cb41687_0_91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함수는 입력을 받아서 특정한 작업을 수행하여서 결과를 반환하는 블랙 박스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437" name="Google Shape;437;g3705cb41687_0_9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043" y="2394099"/>
            <a:ext cx="6267914" cy="206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43" name="Google Shape;443;p48"/>
          <p:cNvSpPr txBox="1"/>
          <p:nvPr/>
        </p:nvSpPr>
        <p:spPr>
          <a:xfrm>
            <a:off x="628650" y="1362074"/>
            <a:ext cx="8212200" cy="3611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showDialog()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alert("안녕하세요?");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onclick="showDialog()"&gt;대화상자오픈&lt;/button&gt;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2b" id="444" name="Google Shape;44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413" y="5088749"/>
            <a:ext cx="2482000" cy="1057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fc6a2c" id="445" name="Google Shape;44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431" y="4820425"/>
            <a:ext cx="1442244" cy="132614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8"/>
          <p:cNvSpPr/>
          <p:nvPr/>
        </p:nvSpPr>
        <p:spPr>
          <a:xfrm>
            <a:off x="2743200" y="5172075"/>
            <a:ext cx="2724150" cy="552450"/>
          </a:xfrm>
          <a:custGeom>
            <a:rect b="b" l="l" r="r" t="t"/>
            <a:pathLst>
              <a:path extrusionOk="0" h="552450" w="2724150">
                <a:moveTo>
                  <a:pt x="0" y="552450"/>
                </a:moveTo>
                <a:cubicBezTo>
                  <a:pt x="197903" y="398526"/>
                  <a:pt x="-9729" y="548397"/>
                  <a:pt x="152400" y="457200"/>
                </a:cubicBezTo>
                <a:cubicBezTo>
                  <a:pt x="182332" y="440363"/>
                  <a:pt x="208821" y="417958"/>
                  <a:pt x="238125" y="400050"/>
                </a:cubicBezTo>
                <a:cubicBezTo>
                  <a:pt x="290705" y="367918"/>
                  <a:pt x="372349" y="325904"/>
                  <a:pt x="428625" y="304800"/>
                </a:cubicBezTo>
                <a:cubicBezTo>
                  <a:pt x="469060" y="289637"/>
                  <a:pt x="512847" y="283919"/>
                  <a:pt x="552450" y="266700"/>
                </a:cubicBezTo>
                <a:cubicBezTo>
                  <a:pt x="586406" y="251937"/>
                  <a:pt x="614582" y="226109"/>
                  <a:pt x="647700" y="209550"/>
                </a:cubicBezTo>
                <a:cubicBezTo>
                  <a:pt x="731282" y="167759"/>
                  <a:pt x="740131" y="186724"/>
                  <a:pt x="838200" y="152400"/>
                </a:cubicBezTo>
                <a:cubicBezTo>
                  <a:pt x="865004" y="143019"/>
                  <a:pt x="887621" y="123751"/>
                  <a:pt x="914400" y="114300"/>
                </a:cubicBezTo>
                <a:cubicBezTo>
                  <a:pt x="942003" y="104558"/>
                  <a:pt x="972042" y="103510"/>
                  <a:pt x="1000125" y="95250"/>
                </a:cubicBezTo>
                <a:cubicBezTo>
                  <a:pt x="1114977" y="61470"/>
                  <a:pt x="1036363" y="69405"/>
                  <a:pt x="1152525" y="47625"/>
                </a:cubicBezTo>
                <a:cubicBezTo>
                  <a:pt x="1203515" y="38064"/>
                  <a:pt x="1310403" y="31817"/>
                  <a:pt x="1352550" y="28575"/>
                </a:cubicBezTo>
                <a:cubicBezTo>
                  <a:pt x="1456368" y="7811"/>
                  <a:pt x="1364264" y="24010"/>
                  <a:pt x="1552575" y="9525"/>
                </a:cubicBezTo>
                <a:cubicBezTo>
                  <a:pt x="1584389" y="7078"/>
                  <a:pt x="1616075" y="3175"/>
                  <a:pt x="1647825" y="0"/>
                </a:cubicBezTo>
                <a:lnTo>
                  <a:pt x="2171700" y="9525"/>
                </a:lnTo>
                <a:cubicBezTo>
                  <a:pt x="2181734" y="9871"/>
                  <a:pt x="2190535" y="16615"/>
                  <a:pt x="2200275" y="19050"/>
                </a:cubicBezTo>
                <a:cubicBezTo>
                  <a:pt x="2215981" y="22977"/>
                  <a:pt x="2232025" y="25400"/>
                  <a:pt x="2247900" y="28575"/>
                </a:cubicBezTo>
                <a:lnTo>
                  <a:pt x="2305050" y="66675"/>
                </a:lnTo>
                <a:cubicBezTo>
                  <a:pt x="2314575" y="73025"/>
                  <a:pt x="2322765" y="82105"/>
                  <a:pt x="2333625" y="85725"/>
                </a:cubicBezTo>
                <a:cubicBezTo>
                  <a:pt x="2343150" y="88900"/>
                  <a:pt x="2353220" y="90760"/>
                  <a:pt x="2362200" y="95250"/>
                </a:cubicBezTo>
                <a:cubicBezTo>
                  <a:pt x="2377165" y="102733"/>
                  <a:pt x="2418808" y="135684"/>
                  <a:pt x="2428875" y="142875"/>
                </a:cubicBezTo>
                <a:cubicBezTo>
                  <a:pt x="2459309" y="164613"/>
                  <a:pt x="2501216" y="189214"/>
                  <a:pt x="2533650" y="200025"/>
                </a:cubicBezTo>
                <a:lnTo>
                  <a:pt x="2562225" y="209550"/>
                </a:lnTo>
                <a:cubicBezTo>
                  <a:pt x="2571750" y="219075"/>
                  <a:pt x="2579592" y="230653"/>
                  <a:pt x="2590800" y="238125"/>
                </a:cubicBezTo>
                <a:cubicBezTo>
                  <a:pt x="2599154" y="243694"/>
                  <a:pt x="2610395" y="243160"/>
                  <a:pt x="2619375" y="247650"/>
                </a:cubicBezTo>
                <a:cubicBezTo>
                  <a:pt x="2629614" y="252770"/>
                  <a:pt x="2637489" y="262051"/>
                  <a:pt x="2647950" y="266700"/>
                </a:cubicBezTo>
                <a:cubicBezTo>
                  <a:pt x="2666300" y="274855"/>
                  <a:pt x="2687139" y="276770"/>
                  <a:pt x="2705100" y="285750"/>
                </a:cubicBezTo>
                <a:lnTo>
                  <a:pt x="2724150" y="295275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00001afc6a2f" id="451" name="Google Shape;4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062" y="4973563"/>
            <a:ext cx="3011938" cy="949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fc6a30" id="452" name="Google Shape;45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199" y="4729089"/>
            <a:ext cx="2157413" cy="135563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인수와 매개 변수</a:t>
            </a:r>
            <a:endParaRPr/>
          </a:p>
        </p:txBody>
      </p:sp>
      <p:sp>
        <p:nvSpPr>
          <p:cNvPr id="454" name="Google Shape;454;p49"/>
          <p:cNvSpPr txBox="1"/>
          <p:nvPr/>
        </p:nvSpPr>
        <p:spPr>
          <a:xfrm>
            <a:off x="628650" y="1362075"/>
            <a:ext cx="8212200" cy="3366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greeting(name, position)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alert(name + " " + position + "님을 환영합니다.");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onclick="greeting('홍길동', '부장')"&gt;눌러보세요!&lt;/button&gt;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2743200" y="5172075"/>
            <a:ext cx="2724150" cy="552450"/>
          </a:xfrm>
          <a:custGeom>
            <a:rect b="b" l="l" r="r" t="t"/>
            <a:pathLst>
              <a:path extrusionOk="0" h="552450" w="2724150">
                <a:moveTo>
                  <a:pt x="0" y="552450"/>
                </a:moveTo>
                <a:cubicBezTo>
                  <a:pt x="197903" y="398526"/>
                  <a:pt x="-9729" y="548397"/>
                  <a:pt x="152400" y="457200"/>
                </a:cubicBezTo>
                <a:cubicBezTo>
                  <a:pt x="182332" y="440363"/>
                  <a:pt x="208821" y="417958"/>
                  <a:pt x="238125" y="400050"/>
                </a:cubicBezTo>
                <a:cubicBezTo>
                  <a:pt x="290705" y="367918"/>
                  <a:pt x="372349" y="325904"/>
                  <a:pt x="428625" y="304800"/>
                </a:cubicBezTo>
                <a:cubicBezTo>
                  <a:pt x="469060" y="289637"/>
                  <a:pt x="512847" y="283919"/>
                  <a:pt x="552450" y="266700"/>
                </a:cubicBezTo>
                <a:cubicBezTo>
                  <a:pt x="586406" y="251937"/>
                  <a:pt x="614582" y="226109"/>
                  <a:pt x="647700" y="209550"/>
                </a:cubicBezTo>
                <a:cubicBezTo>
                  <a:pt x="731282" y="167759"/>
                  <a:pt x="740131" y="186724"/>
                  <a:pt x="838200" y="152400"/>
                </a:cubicBezTo>
                <a:cubicBezTo>
                  <a:pt x="865004" y="143019"/>
                  <a:pt x="887621" y="123751"/>
                  <a:pt x="914400" y="114300"/>
                </a:cubicBezTo>
                <a:cubicBezTo>
                  <a:pt x="942003" y="104558"/>
                  <a:pt x="972042" y="103510"/>
                  <a:pt x="1000125" y="95250"/>
                </a:cubicBezTo>
                <a:cubicBezTo>
                  <a:pt x="1114977" y="61470"/>
                  <a:pt x="1036363" y="69405"/>
                  <a:pt x="1152525" y="47625"/>
                </a:cubicBezTo>
                <a:cubicBezTo>
                  <a:pt x="1203515" y="38064"/>
                  <a:pt x="1310403" y="31817"/>
                  <a:pt x="1352550" y="28575"/>
                </a:cubicBezTo>
                <a:cubicBezTo>
                  <a:pt x="1456368" y="7811"/>
                  <a:pt x="1364264" y="24010"/>
                  <a:pt x="1552575" y="9525"/>
                </a:cubicBezTo>
                <a:cubicBezTo>
                  <a:pt x="1584389" y="7078"/>
                  <a:pt x="1616075" y="3175"/>
                  <a:pt x="1647825" y="0"/>
                </a:cubicBezTo>
                <a:lnTo>
                  <a:pt x="2171700" y="9525"/>
                </a:lnTo>
                <a:cubicBezTo>
                  <a:pt x="2181734" y="9871"/>
                  <a:pt x="2190535" y="16615"/>
                  <a:pt x="2200275" y="19050"/>
                </a:cubicBezTo>
                <a:cubicBezTo>
                  <a:pt x="2215981" y="22977"/>
                  <a:pt x="2232025" y="25400"/>
                  <a:pt x="2247900" y="28575"/>
                </a:cubicBezTo>
                <a:lnTo>
                  <a:pt x="2305050" y="66675"/>
                </a:lnTo>
                <a:cubicBezTo>
                  <a:pt x="2314575" y="73025"/>
                  <a:pt x="2322765" y="82105"/>
                  <a:pt x="2333625" y="85725"/>
                </a:cubicBezTo>
                <a:cubicBezTo>
                  <a:pt x="2343150" y="88900"/>
                  <a:pt x="2353220" y="90760"/>
                  <a:pt x="2362200" y="95250"/>
                </a:cubicBezTo>
                <a:cubicBezTo>
                  <a:pt x="2377165" y="102733"/>
                  <a:pt x="2418808" y="135684"/>
                  <a:pt x="2428875" y="142875"/>
                </a:cubicBezTo>
                <a:cubicBezTo>
                  <a:pt x="2459309" y="164613"/>
                  <a:pt x="2501216" y="189214"/>
                  <a:pt x="2533650" y="200025"/>
                </a:cubicBezTo>
                <a:lnTo>
                  <a:pt x="2562225" y="209550"/>
                </a:lnTo>
                <a:cubicBezTo>
                  <a:pt x="2571750" y="219075"/>
                  <a:pt x="2579592" y="230653"/>
                  <a:pt x="2590800" y="238125"/>
                </a:cubicBezTo>
                <a:cubicBezTo>
                  <a:pt x="2599154" y="243694"/>
                  <a:pt x="2610395" y="243160"/>
                  <a:pt x="2619375" y="247650"/>
                </a:cubicBezTo>
                <a:cubicBezTo>
                  <a:pt x="2629614" y="252770"/>
                  <a:pt x="2637489" y="262051"/>
                  <a:pt x="2647950" y="266700"/>
                </a:cubicBezTo>
                <a:cubicBezTo>
                  <a:pt x="2666300" y="274855"/>
                  <a:pt x="2687139" y="276770"/>
                  <a:pt x="2705100" y="285750"/>
                </a:cubicBezTo>
                <a:lnTo>
                  <a:pt x="2724150" y="295275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함수의 반환값</a:t>
            </a:r>
            <a:endParaRPr/>
          </a:p>
        </p:txBody>
      </p:sp>
      <p:sp>
        <p:nvSpPr>
          <p:cNvPr id="461" name="Google Shape;461;p5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return 문장을 사용하여 외부로 값을 반환</a:t>
            </a:r>
            <a:endParaRPr/>
          </a:p>
        </p:txBody>
      </p:sp>
      <p:pic>
        <p:nvPicPr>
          <p:cNvPr id="462" name="Google Shape;46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2438400"/>
            <a:ext cx="71247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05cb41687_0_100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무명(익명)함수</a:t>
            </a:r>
            <a:endParaRPr/>
          </a:p>
        </p:txBody>
      </p:sp>
      <p:sp>
        <p:nvSpPr>
          <p:cNvPr id="468" name="Google Shape;468;g3705cb41687_0_100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자바스크립트에서는 함수 이름을 주지 않고 만들어서 한 번만 사용하는 경우도 많다. 이것을 무명 함수(anonymous function)라고 한다.</a:t>
            </a:r>
            <a:endParaRPr/>
          </a:p>
        </p:txBody>
      </p:sp>
      <p:pic>
        <p:nvPicPr>
          <p:cNvPr id="469" name="Google Shape;469;g3705cb41687_0_10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2662237"/>
            <a:ext cx="75438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05cb41687_0_101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ES6. 화살표 함수</a:t>
            </a:r>
            <a:endParaRPr/>
          </a:p>
        </p:txBody>
      </p:sp>
      <p:sp>
        <p:nvSpPr>
          <p:cNvPr id="475" name="Google Shape;475;g3705cb41687_0_101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화살표 함수(arrow function)는 ES6에 도입되었다. 화살표 함수를 사용하면 더 짧은 함수 구문을 작성할 수 있다. 화살표 함수는 자바 언어의 람다식과 유사하다</a:t>
            </a:r>
            <a:endParaRPr/>
          </a:p>
        </p:txBody>
      </p:sp>
      <p:pic>
        <p:nvPicPr>
          <p:cNvPr id="476" name="Google Shape;476;g3705cb41687_0_10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062" y="2550237"/>
            <a:ext cx="5482960" cy="1639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705cb41687_0_10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3062" y="4512387"/>
            <a:ext cx="5586412" cy="15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alert() 함수 </a:t>
            </a:r>
            <a:endParaRPr/>
          </a:p>
        </p:txBody>
      </p:sp>
      <p:sp>
        <p:nvSpPr>
          <p:cNvPr id="483" name="Google Shape;483;p51"/>
          <p:cNvSpPr txBox="1"/>
          <p:nvPr/>
        </p:nvSpPr>
        <p:spPr>
          <a:xfrm>
            <a:off x="628650" y="1362078"/>
            <a:ext cx="8212138" cy="914397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alert("이것이 alert()입니다.");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35" id="484" name="Google Shape;48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187" y="2762250"/>
            <a:ext cx="1900237" cy="1413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confirm() 함수 </a:t>
            </a:r>
            <a:endParaRPr/>
          </a:p>
        </p:txBody>
      </p:sp>
      <p:sp>
        <p:nvSpPr>
          <p:cNvPr id="490" name="Google Shape;490;p52"/>
          <p:cNvSpPr txBox="1"/>
          <p:nvPr/>
        </p:nvSpPr>
        <p:spPr>
          <a:xfrm>
            <a:off x="628650" y="1362078"/>
            <a:ext cx="8212138" cy="914397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user = confirm("confirm()은 사용자의 답변을 전달합니다.");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38" id="491" name="Google Shape;49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1488" y="2560638"/>
            <a:ext cx="2808978" cy="140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prompt() 함수 </a:t>
            </a:r>
            <a:endParaRPr/>
          </a:p>
        </p:txBody>
      </p:sp>
      <p:sp>
        <p:nvSpPr>
          <p:cNvPr id="497" name="Google Shape;497;p53"/>
          <p:cNvSpPr txBox="1"/>
          <p:nvPr/>
        </p:nvSpPr>
        <p:spPr>
          <a:xfrm>
            <a:off x="628650" y="1362078"/>
            <a:ext cx="8212138" cy="914397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age = prompt("나이를 입력하세요", "만나이로 입력합니다.");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3b" id="498" name="Google Shape;49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386" y="2728119"/>
            <a:ext cx="4554402" cy="103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05cb41687_0_62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console.log()</a:t>
            </a:r>
            <a:endParaRPr/>
          </a:p>
        </p:txBody>
      </p:sp>
      <p:sp>
        <p:nvSpPr>
          <p:cNvPr id="504" name="Google Shape;504;g3705cb41687_0_62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 코드를 디버깅할 때 많이 사용하는 함수가 console.log()이다.</a:t>
            </a:r>
            <a:endParaRPr/>
          </a:p>
        </p:txBody>
      </p:sp>
      <p:sp>
        <p:nvSpPr>
          <p:cNvPr id="505" name="Google Shape;505;g3705cb41687_0_623"/>
          <p:cNvSpPr txBox="1"/>
          <p:nvPr/>
        </p:nvSpPr>
        <p:spPr>
          <a:xfrm>
            <a:off x="612648" y="2172642"/>
            <a:ext cx="8212200" cy="3351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"ko"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&lt;meta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charset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"UTF-8"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'Hello'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console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06" name="Google Shape;506;g3705cb41687_0_6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g3705cb41687_0_6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717" y="3978746"/>
            <a:ext cx="4211184" cy="240347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705cb41687_0_623"/>
          <p:cNvSpPr/>
          <p:nvPr/>
        </p:nvSpPr>
        <p:spPr>
          <a:xfrm>
            <a:off x="6074875" y="4952246"/>
            <a:ext cx="2855100" cy="57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514" name="Google Shape;51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515" name="Google Shape;51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