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9144000"/>
  <p:notesSz cx="6934200" cy="9220200"/>
  <p:embeddedFontLst>
    <p:embeddedFont>
      <p:font typeface="Century Schoolbook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61" roundtripDataSignature="AMtx7mg38xtcuHRo1Va+2fGs0ZyZwEyf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A1A261-5DB4-4488-8220-F0CAD1073BD4}">
  <a:tblStyle styleId="{61A1A261-5DB4-4488-8220-F0CAD1073B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CenturySchoolbook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CenturySchoolbook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CenturySchoolbook-italic.fntdata"/><Relationship Id="rId14" Type="http://schemas.openxmlformats.org/officeDocument/2006/relationships/slide" Target="slides/slide8.xml"/><Relationship Id="rId58" Type="http://schemas.openxmlformats.org/officeDocument/2006/relationships/font" Target="fonts/CenturySchoolbook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edcf13af1_0_0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aedcf13af1_0_0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edcf13af1_0_95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edcf13af1_0_95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2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2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2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3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3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3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3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3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3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3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3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de22d35d1_0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g36de22d35d1_0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de22d35d1_0_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g36de22d35d1_0_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de22d35d1_0_1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6de22d35d1_0_1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6de22d35d1_0_2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g36de22d35d1_0_2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de22d35d1_0_3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36de22d35d1_0_3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de22d35d1_0_3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6de22d35d1_0_3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6de22d35d1_0_4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g36de22d35d1_0_4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de22d35d1_0_4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36de22d35d1_0_4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de22d35d1_0_5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g36de22d35d1_0_5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de22d35d1_0_6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g36de22d35d1_0_6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d0dc37974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d0dc37974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d0dc37974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d0dc37974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d0dc37974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d0dc37974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d0dc37974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d0dc37974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d0dc37974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d0dc37974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d0dc37974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d0dc37974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d0dc37974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d0dc37974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d0dc37974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d0dc37974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d0dc37974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d0dc37974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d0dc37974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d0dc37974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d0dc37974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d0dc37974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d0dc37974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d0dc37974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d0dc37974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d0dc37974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d0dc37974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d0dc37974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d0dc37974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d0dc37974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0dc37974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d0dc37974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d0dc37974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d0dc37974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d0dc37974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d0dc37974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www.w3schools.com/cssref/css3_pr_background.asp" TargetMode="External"/><Relationship Id="rId4" Type="http://schemas.openxmlformats.org/officeDocument/2006/relationships/hyperlink" Target="http://www.w3schools.com/cssref/pr_background-attachment.asp" TargetMode="External"/><Relationship Id="rId5" Type="http://schemas.openxmlformats.org/officeDocument/2006/relationships/hyperlink" Target="http://www.w3schools.com/cssref/pr_background-color.asp" TargetMode="External"/><Relationship Id="rId6" Type="http://schemas.openxmlformats.org/officeDocument/2006/relationships/hyperlink" Target="http://www.w3schools.com/cssref/pr_background-image.asp" TargetMode="External"/><Relationship Id="rId7" Type="http://schemas.openxmlformats.org/officeDocument/2006/relationships/hyperlink" Target="http://www.w3schools.com/cssref/pr_background-position.asp" TargetMode="External"/><Relationship Id="rId8" Type="http://schemas.openxmlformats.org/officeDocument/2006/relationships/hyperlink" Target="http://www.w3schools.com/cssref/pr_background-repeat.asp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www.w3schools.com/cssref/pr_list-style.asp" TargetMode="External"/><Relationship Id="rId4" Type="http://schemas.openxmlformats.org/officeDocument/2006/relationships/hyperlink" Target="http://www.w3schools.com/cssref/pr_list-style-image.asp" TargetMode="External"/><Relationship Id="rId5" Type="http://schemas.openxmlformats.org/officeDocument/2006/relationships/hyperlink" Target="http://www.w3schools.com/cssref/pr_list-style-position.asp" TargetMode="External"/><Relationship Id="rId6" Type="http://schemas.openxmlformats.org/officeDocument/2006/relationships/hyperlink" Target="http://www.w3schools.com/cssref/pr_list-style-type.asp" TargetMode="External"/><Relationship Id="rId7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2.png"/><Relationship Id="rId4" Type="http://schemas.openxmlformats.org/officeDocument/2006/relationships/hyperlink" Target="http://chap6/css_transition.html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chap6/css_transition1.html" TargetMode="External"/><Relationship Id="rId4" Type="http://schemas.openxmlformats.org/officeDocument/2006/relationships/image" Target="../media/image3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png"/><Relationship Id="rId4" Type="http://schemas.openxmlformats.org/officeDocument/2006/relationships/hyperlink" Target="http://chap6/transf3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564" cy="1323439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5.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CSS 박스모델과 응용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박스모델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HTML 요소들을 박스(사각형) 형태로 그리는 것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박스는 배치, 색상, 경계 등의 속성을 가진다. 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4" y="2343150"/>
            <a:ext cx="8089753" cy="3290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박스모델의 속성</a:t>
            </a:r>
            <a:endParaRPr/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3" y="1183962"/>
            <a:ext cx="7286625" cy="460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배경색과 배경 이미지</a:t>
            </a:r>
            <a:endParaRPr/>
          </a:p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HTML 요소에 배경색과 배경 이미지가 설정되어 있는 경우에, 패딩은 투명하므로 배경 이미지와 배경색이 보이게 된다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EMB0000222830b7"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5488" y="2189163"/>
            <a:ext cx="4334120" cy="404018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6329608" y="5952351"/>
            <a:ext cx="16979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(그림 출처: Jon Hicks)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경계선 스타일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666750" y="1076325"/>
            <a:ext cx="8212138" cy="48005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none"&gt;none.&lt;/p&gt;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dotted"&gt;dotted&lt;/p&gt;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dashed"&gt;dashed&lt;/p&gt;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solid"&gt;solid&lt;/p&gt;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double"&gt;double&lt;/p&gt;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groove"&gt;groove&lt;/p&gt;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ridge"&gt;ridge&lt;/p&gt;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inset"&gt;inset&lt;/p&gt;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style="border-style: outset"&gt;outset&lt;/p&gt;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be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7225" y="578644"/>
            <a:ext cx="1663700" cy="6083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경계선의 폭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666750" y="1076326"/>
            <a:ext cx="8212138" cy="54673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p.thick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border-style: solid;            border-width: thick;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p.medium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border-style: solid;            border-width: medium;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p.thin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border-style: solid;            border-width: 1px;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class="thick"&gt;경계선이 thick으로 설정되었음&lt;/p&gt;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class="medium"&gt;경계선이 medium으로 설정되었음&lt;/p&gt;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class="thin"&gt;경계선이 1px으로 설정되었음&lt;/p&gt;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c3"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1113" y="2116139"/>
            <a:ext cx="2595125" cy="169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경계선의 색상</a:t>
            </a:r>
            <a:endParaRPr/>
          </a:p>
        </p:txBody>
      </p:sp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666750" y="1076326"/>
            <a:ext cx="8212138" cy="47148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p.green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border-style: solid;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border-color: 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class="green"&gt;경계선의 색상: green&lt;/p&gt;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c7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9763" y="4873625"/>
            <a:ext cx="4469682" cy="12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동근 경계선</a:t>
            </a:r>
            <a:endParaRPr/>
          </a:p>
        </p:txBody>
      </p:sp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 txBox="1"/>
          <p:nvPr/>
        </p:nvSpPr>
        <p:spPr>
          <a:xfrm>
            <a:off x="666750" y="1076326"/>
            <a:ext cx="8212138" cy="47148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2px solid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border-radius: 25px;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&lt;div&gt;border-radius 속성을 사용하면 둥근 경계선을 만들 수 있습니다.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cc"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1963" y="5029199"/>
            <a:ext cx="4707924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edcf13af1_0_0"/>
          <p:cNvSpPr txBox="1"/>
          <p:nvPr>
            <p:ph type="title"/>
          </p:nvPr>
        </p:nvSpPr>
        <p:spPr>
          <a:xfrm>
            <a:off x="233775" y="593367"/>
            <a:ext cx="639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테두리 스타일 지정하기</a:t>
            </a:r>
            <a:endParaRPr/>
          </a:p>
        </p:txBody>
      </p:sp>
      <p:sp>
        <p:nvSpPr>
          <p:cNvPr id="122" name="Google Shape;122;g3aedcf13af1_0_0"/>
          <p:cNvSpPr txBox="1"/>
          <p:nvPr/>
        </p:nvSpPr>
        <p:spPr>
          <a:xfrm>
            <a:off x="465588" y="1157681"/>
            <a:ext cx="29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border-radius 속성 </a:t>
            </a:r>
            <a:endParaRPr/>
          </a:p>
        </p:txBody>
      </p:sp>
      <p:sp>
        <p:nvSpPr>
          <p:cNvPr id="123" name="Google Shape;123;g3aedcf13af1_0_0"/>
          <p:cNvSpPr txBox="1"/>
          <p:nvPr/>
        </p:nvSpPr>
        <p:spPr>
          <a:xfrm>
            <a:off x="509631" y="1604227"/>
            <a:ext cx="39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박스 모델의 테두리를 둥글게 처리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524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박스 모델의 꼭짓점 부분에 원(반지름 r)이 있다고 가정해서 둥글게 처리</a:t>
            </a:r>
            <a:endParaRPr sz="1100"/>
          </a:p>
        </p:txBody>
      </p:sp>
      <p:pic>
        <p:nvPicPr>
          <p:cNvPr id="124" name="Google Shape;124;g3aedcf13af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623" y="2214853"/>
            <a:ext cx="2472600" cy="155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aedcf13af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631" y="3940851"/>
            <a:ext cx="2208402" cy="24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aedcf13af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602" y="4537527"/>
            <a:ext cx="3667566" cy="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aedcf13af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3964" y="2019109"/>
            <a:ext cx="1405676" cy="95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aedcf13af1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43409" y="3851599"/>
            <a:ext cx="1296106" cy="12517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aedcf13af1_0_0"/>
          <p:cNvSpPr txBox="1"/>
          <p:nvPr/>
        </p:nvSpPr>
        <p:spPr>
          <a:xfrm>
            <a:off x="4700249" y="1791671"/>
            <a:ext cx="2472600" cy="16317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&lt;style&gt;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  .round 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0" i="0" lang="en-US" sz="10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border-radius</a:t>
            </a:r>
            <a:r>
              <a:rPr b="0" i="0" lang="en-US" sz="1000" u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none" strike="noStrike">
                <a:solidFill>
                  <a:srgbClr val="00B009"/>
                </a:solidFill>
                <a:latin typeface="Arial"/>
                <a:ea typeface="Arial"/>
                <a:cs typeface="Arial"/>
                <a:sym typeface="Arial"/>
              </a:rPr>
              <a:t>25px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}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&lt;/style&gt;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......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&lt;img </a:t>
            </a:r>
            <a:r>
              <a:rPr b="0" i="0" lang="en-US" sz="10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000" u="none" strike="noStrike">
                <a:solidFill>
                  <a:srgbClr val="1835FF"/>
                </a:solidFill>
                <a:latin typeface="Arial"/>
                <a:ea typeface="Arial"/>
                <a:cs typeface="Arial"/>
                <a:sym typeface="Arial"/>
              </a:rPr>
              <a:t>"images/cat.jpg"</a:t>
            </a: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&lt;img </a:t>
            </a:r>
            <a:r>
              <a:rPr b="0" i="0" lang="en-US" sz="10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000" u="none" strike="noStrike">
                <a:solidFill>
                  <a:srgbClr val="1835FF"/>
                </a:solidFill>
                <a:latin typeface="Arial"/>
                <a:ea typeface="Arial"/>
                <a:cs typeface="Arial"/>
                <a:sym typeface="Arial"/>
              </a:rPr>
              <a:t>"round" </a:t>
            </a:r>
            <a:r>
              <a:rPr b="0" i="0" lang="en-US" sz="10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000" u="none" strike="noStrike">
                <a:solidFill>
                  <a:srgbClr val="1835FF"/>
                </a:solidFill>
                <a:latin typeface="Arial"/>
                <a:ea typeface="Arial"/>
                <a:cs typeface="Arial"/>
                <a:sym typeface="Arial"/>
              </a:rPr>
              <a:t>"images/cat.jpg"</a:t>
            </a: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aedcf13af1_0_0"/>
          <p:cNvSpPr txBox="1"/>
          <p:nvPr/>
        </p:nvSpPr>
        <p:spPr>
          <a:xfrm>
            <a:off x="4700250" y="3661600"/>
            <a:ext cx="2696100" cy="14007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&lt;style&gt;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  .circle 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0" i="0" lang="en-US" sz="10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border-radius</a:t>
            </a:r>
            <a:r>
              <a:rPr b="0" i="0" lang="en-US" sz="1000" u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none" strike="noStrike">
                <a:solidFill>
                  <a:srgbClr val="00B009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}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&lt;/style&gt;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......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&lt;img </a:t>
            </a:r>
            <a:r>
              <a:rPr b="0" i="0" lang="en-US" sz="10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000" u="none" strike="noStrike">
                <a:solidFill>
                  <a:srgbClr val="1835FF"/>
                </a:solidFill>
                <a:latin typeface="Arial"/>
                <a:ea typeface="Arial"/>
                <a:cs typeface="Arial"/>
                <a:sym typeface="Arial"/>
              </a:rPr>
              <a:t>"images/photo.jpg"</a:t>
            </a: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&lt;img </a:t>
            </a:r>
            <a:r>
              <a:rPr b="0" i="0" lang="en-US" sz="10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000" u="none" strike="noStrike">
                <a:solidFill>
                  <a:srgbClr val="1835FF"/>
                </a:solidFill>
                <a:latin typeface="Arial"/>
                <a:ea typeface="Arial"/>
                <a:cs typeface="Arial"/>
                <a:sym typeface="Arial"/>
              </a:rPr>
              <a:t>“circle" </a:t>
            </a:r>
            <a:r>
              <a:rPr b="0" i="0" lang="en-US" sz="10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b="0" i="0" lang="en-US" sz="1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000" u="none" strike="noStrike">
                <a:solidFill>
                  <a:srgbClr val="1835FF"/>
                </a:solidFill>
                <a:latin typeface="Arial"/>
                <a:ea typeface="Arial"/>
                <a:cs typeface="Arial"/>
                <a:sym typeface="Arial"/>
              </a:rPr>
              <a:t>"images/photo.jpg"</a:t>
            </a:r>
            <a:r>
              <a:rPr b="0" i="0" lang="en-US" sz="10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dcf13af1_0_95"/>
          <p:cNvSpPr txBox="1"/>
          <p:nvPr>
            <p:ph type="title"/>
          </p:nvPr>
        </p:nvSpPr>
        <p:spPr>
          <a:xfrm>
            <a:off x="233775" y="593367"/>
            <a:ext cx="639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테두리 스타일 지정하기</a:t>
            </a:r>
            <a:endParaRPr/>
          </a:p>
        </p:txBody>
      </p:sp>
      <p:sp>
        <p:nvSpPr>
          <p:cNvPr id="136" name="Google Shape;136;g3aedcf13af1_0_95"/>
          <p:cNvSpPr txBox="1"/>
          <p:nvPr/>
        </p:nvSpPr>
        <p:spPr>
          <a:xfrm>
            <a:off x="465588" y="1157681"/>
            <a:ext cx="295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border-radius 속성 </a:t>
            </a:r>
            <a:endParaRPr/>
          </a:p>
        </p:txBody>
      </p:sp>
      <p:sp>
        <p:nvSpPr>
          <p:cNvPr id="137" name="Google Shape;137;g3aedcf13af1_0_95"/>
          <p:cNvSpPr txBox="1"/>
          <p:nvPr/>
        </p:nvSpPr>
        <p:spPr>
          <a:xfrm>
            <a:off x="509630" y="1604227"/>
            <a:ext cx="485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border와 radius 사이에 위치를 나타내는 예약어를 사용하면 꼭짓점마다 다르게 처리 가능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3aedcf13af1_0_95"/>
          <p:cNvSpPr txBox="1"/>
          <p:nvPr/>
        </p:nvSpPr>
        <p:spPr>
          <a:xfrm>
            <a:off x="509622" y="2255375"/>
            <a:ext cx="254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꼭짓점을 나타내는 예약어</a:t>
            </a:r>
            <a:endParaRPr/>
          </a:p>
        </p:txBody>
      </p:sp>
      <p:pic>
        <p:nvPicPr>
          <p:cNvPr id="139" name="Google Shape;139;g3aedcf13af1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076" y="2900026"/>
            <a:ext cx="45913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aedcf13af1_0_95"/>
          <p:cNvSpPr txBox="1"/>
          <p:nvPr/>
        </p:nvSpPr>
        <p:spPr>
          <a:xfrm>
            <a:off x="4854385" y="2572229"/>
            <a:ext cx="2704200" cy="13854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200" u="none" strike="noStrike">
                <a:solidFill>
                  <a:srgbClr val="730000"/>
                </a:solidFill>
                <a:latin typeface="Arial"/>
                <a:ea typeface="Arial"/>
                <a:cs typeface="Arial"/>
                <a:sym typeface="Arial"/>
              </a:rPr>
              <a:t>round1 </a:t>
            </a: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  border</a:t>
            </a: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200" u="none" strike="noStrike">
                <a:solidFill>
                  <a:srgbClr val="00B009"/>
                </a:solidFill>
                <a:latin typeface="Arial"/>
                <a:ea typeface="Arial"/>
                <a:cs typeface="Arial"/>
                <a:sym typeface="Arial"/>
              </a:rPr>
              <a:t>2px </a:t>
            </a:r>
            <a:r>
              <a:rPr b="0" i="0" lang="en-US" sz="1200" u="none" strike="noStrike">
                <a:solidFill>
                  <a:srgbClr val="0039DD"/>
                </a:solidFill>
                <a:latin typeface="Arial"/>
                <a:ea typeface="Arial"/>
                <a:cs typeface="Arial"/>
                <a:sym typeface="Arial"/>
              </a:rPr>
              <a:t>solid blue</a:t>
            </a: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  border-top-left-radius</a:t>
            </a: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200" u="none" strike="noStrike">
                <a:solidFill>
                  <a:srgbClr val="00B009"/>
                </a:solidFill>
                <a:latin typeface="Arial"/>
                <a:ea typeface="Arial"/>
                <a:cs typeface="Arial"/>
                <a:sym typeface="Arial"/>
              </a:rPr>
              <a:t>20px</a:t>
            </a: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FF111F"/>
                </a:solidFill>
                <a:latin typeface="Arial"/>
                <a:ea typeface="Arial"/>
                <a:cs typeface="Arial"/>
                <a:sym typeface="Arial"/>
              </a:rPr>
              <a:t>  border-top-right-radius</a:t>
            </a: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200" u="none" strike="noStrike">
                <a:solidFill>
                  <a:srgbClr val="00B009"/>
                </a:solidFill>
                <a:latin typeface="Arial"/>
                <a:ea typeface="Arial"/>
                <a:cs typeface="Arial"/>
                <a:sym typeface="Arial"/>
              </a:rPr>
              <a:t>20px</a:t>
            </a: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1" name="Google Shape;141;g3aedcf13af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2710" y="4147173"/>
            <a:ext cx="1821656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경계선 그림자</a:t>
            </a:r>
            <a:endParaRPr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666750" y="1076326"/>
            <a:ext cx="8212138" cy="47148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300px;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box-shadow: 20px 10px 5px #666666;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d3"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363" y="4932362"/>
            <a:ext cx="4651186" cy="1430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경계선 이미지</a:t>
            </a:r>
            <a:endParaRPr/>
          </a:p>
        </p:txBody>
      </p:sp>
      <p:sp>
        <p:nvSpPr>
          <p:cNvPr id="155" name="Google Shape;155;p1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border-image 속성을 사용하면 이미지로 경계선을 만들 수 있다.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경계선을 만드는 이미지는 9구역으로 나누어 있다. </a:t>
            </a:r>
            <a:endParaRPr/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433638"/>
            <a:ext cx="5143500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경계선 이미지</a:t>
            </a:r>
            <a:endParaRPr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 txBox="1"/>
          <p:nvPr/>
        </p:nvSpPr>
        <p:spPr>
          <a:xfrm>
            <a:off x="666750" y="1076326"/>
            <a:ext cx="8212138" cy="49815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30px solid transparent;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300px;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-webkit-border-image: url(border.png) 30 30 round; /* Safari 5+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-o-border-image: url(border.png) 30 30 round; /* Opera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border-image: url(border.png) 30 30 round; /* Chrome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&lt;div&gt;경계 이미지가 반복되면서 그려진다.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da"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844" y="4552950"/>
            <a:ext cx="4095156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222830dd"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0063" y="3198813"/>
            <a:ext cx="758825" cy="7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요소 크기 설정</a:t>
            </a:r>
            <a:endParaRPr/>
          </a:p>
        </p:txBody>
      </p:sp>
      <p:sp>
        <p:nvSpPr>
          <p:cNvPr id="171" name="Google Shape;171;p1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2" name="Google Shape;172;p12"/>
          <p:cNvSpPr txBox="1"/>
          <p:nvPr/>
        </p:nvSpPr>
        <p:spPr>
          <a:xfrm>
            <a:off x="666750" y="1076326"/>
            <a:ext cx="8212138" cy="57054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#target1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#target2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lightgreen;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id="target1"&gt;이것은 p요소입니다.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id="target2"&gt;이것은 div요소입니다.&lt;/div&gt;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e2"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4088" y="2136775"/>
            <a:ext cx="2633662" cy="2305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마진과 패딩 설정하기</a:t>
            </a:r>
            <a:endParaRPr/>
          </a:p>
        </p:txBody>
      </p:sp>
      <p:graphicFrame>
        <p:nvGraphicFramePr>
          <p:cNvPr id="179" name="Google Shape;179;p13"/>
          <p:cNvGraphicFramePr/>
          <p:nvPr/>
        </p:nvGraphicFramePr>
        <p:xfrm>
          <a:off x="1124235" y="14249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{61A1A261-5DB4-4488-8220-F0CAD1073BD4}</a:tableStyleId>
              </a:tblPr>
              <a:tblGrid>
                <a:gridCol w="1196625"/>
                <a:gridCol w="6585025"/>
              </a:tblGrid>
              <a:tr h="3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값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auto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브라우저가 마진을 계산한다.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length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마진을 px, pt, cm 단위로 지정할 수 있다. 디폴트는 0px이다.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마진을 요소 폭의 퍼센트로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inherit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마진이 부모 요소로부터 상속된다.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80" name="Google Shape;1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5964" y="3448050"/>
            <a:ext cx="4881562" cy="2945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마진과 패딩 예제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666750" y="1085852"/>
            <a:ext cx="8212138" cy="5124448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body {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margin: 0px;            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padding: 0px;  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margin: 0px;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padding: 0px;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   border: 1px solid red;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#target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margin: 10px;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padding: 20px;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lightgreen;  border: 1px solid red;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&lt;p&gt;margin: 0px, padding: 0px인 단락입니다.&lt;/p&gt;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id="target"&gt;margin: 10px, padding: 20px인 단락입니다.&lt;/p&gt;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ed" id="188" name="Google Shape;1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5565" y="1085852"/>
            <a:ext cx="4463323" cy="18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박스의 크기 계산</a:t>
            </a:r>
            <a:endParaRPr/>
          </a:p>
        </p:txBody>
      </p:sp>
      <p:pic>
        <p:nvPicPr>
          <p:cNvPr id="194" name="Google Shape;1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675" y="1633538"/>
            <a:ext cx="596265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66750" y="1085852"/>
            <a:ext cx="8212138" cy="4086223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div.test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padding: 10px;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5px solid red;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margin: 20px;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class="test"&gt;이것은 div 요소로서 전체 폭은 270픽셀이다.&lt;/div&gt;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f2" id="202" name="Google Shape;2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2583" y="5086350"/>
            <a:ext cx="503630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수평정렬(인라인 요소)</a:t>
            </a:r>
            <a:endParaRPr/>
          </a:p>
        </p:txBody>
      </p:sp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66750" y="1085852"/>
            <a:ext cx="8212138" cy="4086223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p, em, strong, div 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dotted 3px red;        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}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style="text-align: center"&gt;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&lt;em&gt;My Text &lt;/em&gt;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&lt;/p&gt;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f6"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3986" y="4751388"/>
            <a:ext cx="4574902" cy="1504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수평정렬(블록 요소)</a:t>
            </a:r>
            <a:endParaRPr/>
          </a:p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66750" y="1085852"/>
            <a:ext cx="8212138" cy="4086223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p, h1 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dotted 3px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style="margin-left: auto; margin-right: auto; width: 50%"&gt;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My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f6" id="218" name="Google Shape;2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3986" y="4751388"/>
            <a:ext cx="4574902" cy="1504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배경 설정하기 </a:t>
            </a:r>
            <a:endParaRPr/>
          </a:p>
        </p:txBody>
      </p:sp>
      <p:graphicFrame>
        <p:nvGraphicFramePr>
          <p:cNvPr id="224" name="Google Shape;224;p19"/>
          <p:cNvGraphicFramePr/>
          <p:nvPr/>
        </p:nvGraphicFramePr>
        <p:xfrm>
          <a:off x="1162050" y="1276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{61A1A261-5DB4-4488-8220-F0CAD1073BD4}</a:tableStyleId>
              </a:tblPr>
              <a:tblGrid>
                <a:gridCol w="2589325"/>
                <a:gridCol w="5144975"/>
              </a:tblGrid>
              <a:tr h="34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속성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설명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81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background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한줄에서 모든 배경 속성을 정의한다.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5018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background-attachment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배경 이미지가 고정되어 있는지 스크롤되는지를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81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background-color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배경색을 정의한다.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481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background-image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배경 이미지를 정의한다.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81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background-position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배경 이미지의 시작위치를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481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background-repeat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배경 이미지의 반복 여부를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19"/>
          <p:cNvSpPr txBox="1"/>
          <p:nvPr/>
        </p:nvSpPr>
        <p:spPr>
          <a:xfrm>
            <a:off x="676275" y="4419600"/>
            <a:ext cx="8212138" cy="10763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 { background-color: red; } 		/* 배경을 빨간색으로 설정한다 */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 { background-color: rgb(255,0,0); }	/* 배경을 빨간색으로 설정한다 */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 { background-color: #ff0000; }	/* 배경을 빨간색으로 설정한다 */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배경 이미지 설정</a:t>
            </a:r>
            <a:endParaRPr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66750" y="1085852"/>
            <a:ext cx="8212138" cy="5181598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body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background-image: url('back1.jpg')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&lt;h1&gt;삶이 그대를 속일지라도&lt;/h1&gt;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 삶이 그대를 속일지라도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슬퍼하거나 노하지 말아라.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지나가 버린 것 그리움이 되리니.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0fe" id="233" name="Google Shape;2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2113" y="4657726"/>
            <a:ext cx="4744497" cy="20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고정된 배경 이미지</a:t>
            </a:r>
            <a:endParaRPr/>
          </a:p>
        </p:txBody>
      </p:sp>
      <p:sp>
        <p:nvSpPr>
          <p:cNvPr id="239" name="Google Shape;239;p2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66750" y="1085852"/>
            <a:ext cx="8212138" cy="4524373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body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background-image: url('back1.jpg');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background-repeat: no-repeat;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background-attachment: fixed;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&lt;p&gt;이미지는 한번만 표시되고 위치가 고정되어 있다.&lt;/p&gt;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02"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6188" y="4800599"/>
            <a:ext cx="5092700" cy="1949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배경 이미지 크기</a:t>
            </a:r>
            <a:endParaRPr/>
          </a:p>
        </p:txBody>
      </p:sp>
      <p:sp>
        <p:nvSpPr>
          <p:cNvPr id="247" name="Google Shape;247;p2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66750" y="1085852"/>
            <a:ext cx="8212138" cy="5210173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500px;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100px;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url(back.jpg);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background-repeat: no-repeat;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background-size: 100px 100px;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지금 그 사람의 이름은 잊었지만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그의 눈동자 입술은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내 가슴에 있네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내 가슴에 있네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06" id="249" name="Google Shape;2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3050" y="4929188"/>
            <a:ext cx="4876186" cy="155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링크 스타일</a:t>
            </a:r>
            <a:endParaRPr/>
          </a:p>
        </p:txBody>
      </p:sp>
      <p:sp>
        <p:nvSpPr>
          <p:cNvPr id="255" name="Google Shape;255;p2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a:link - 방문되지 않은 링크의 스타일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a:visited - 방문된 링크의 스타일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a:hover - 마우스가 위에 있을 때의 스타일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a:active - 마우스로 클릭되는 때의 스타일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링크 예제</a:t>
            </a:r>
            <a:endParaRPr/>
          </a:p>
        </p:txBody>
      </p:sp>
      <p:sp>
        <p:nvSpPr>
          <p:cNvPr id="261" name="Google Shape;261;p2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666750" y="1085850"/>
            <a:ext cx="8212200" cy="52140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a:link { color: red; }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a:visited { color:green; 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a:hover { color:blue; }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a:active { color:yellow; }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&lt;p&gt;&lt;a href="" target="_blank"&gt;여기가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링크입니다.&lt;/a&gt;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0e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900" y="2292350"/>
            <a:ext cx="3656692" cy="79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22283111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5900" y="3408363"/>
            <a:ext cx="3647679" cy="792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22283114" id="265" name="Google Shape;2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5425" y="4535488"/>
            <a:ext cx="3633059" cy="78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/>
          <p:nvPr/>
        </p:nvSpPr>
        <p:spPr>
          <a:xfrm>
            <a:off x="2752725" y="2295525"/>
            <a:ext cx="2628900" cy="324063"/>
          </a:xfrm>
          <a:custGeom>
            <a:rect b="b" l="l" r="r" t="t"/>
            <a:pathLst>
              <a:path extrusionOk="0" h="324063" w="2628900">
                <a:moveTo>
                  <a:pt x="0" y="0"/>
                </a:moveTo>
                <a:lnTo>
                  <a:pt x="552450" y="9525"/>
                </a:lnTo>
                <a:cubicBezTo>
                  <a:pt x="647856" y="12777"/>
                  <a:pt x="742862" y="23727"/>
                  <a:pt x="838200" y="28575"/>
                </a:cubicBezTo>
                <a:cubicBezTo>
                  <a:pt x="1539470" y="64233"/>
                  <a:pt x="689115" y="8768"/>
                  <a:pt x="1390650" y="57150"/>
                </a:cubicBezTo>
                <a:cubicBezTo>
                  <a:pt x="1428750" y="63500"/>
                  <a:pt x="1468784" y="62638"/>
                  <a:pt x="1504950" y="76200"/>
                </a:cubicBezTo>
                <a:cubicBezTo>
                  <a:pt x="1530350" y="85725"/>
                  <a:pt x="1555546" y="95814"/>
                  <a:pt x="1581150" y="104775"/>
                </a:cubicBezTo>
                <a:cubicBezTo>
                  <a:pt x="1638009" y="124676"/>
                  <a:pt x="1695450" y="142875"/>
                  <a:pt x="1752600" y="161925"/>
                </a:cubicBezTo>
                <a:lnTo>
                  <a:pt x="1809750" y="180975"/>
                </a:lnTo>
                <a:cubicBezTo>
                  <a:pt x="1828800" y="187325"/>
                  <a:pt x="1846919" y="198027"/>
                  <a:pt x="1866900" y="200025"/>
                </a:cubicBezTo>
                <a:lnTo>
                  <a:pt x="1962150" y="209550"/>
                </a:lnTo>
                <a:cubicBezTo>
                  <a:pt x="2084755" y="250418"/>
                  <a:pt x="1959220" y="211199"/>
                  <a:pt x="2066925" y="238125"/>
                </a:cubicBezTo>
                <a:cubicBezTo>
                  <a:pt x="2076665" y="240560"/>
                  <a:pt x="2085846" y="244892"/>
                  <a:pt x="2095500" y="247650"/>
                </a:cubicBezTo>
                <a:cubicBezTo>
                  <a:pt x="2108087" y="251246"/>
                  <a:pt x="2121061" y="253413"/>
                  <a:pt x="2133600" y="257175"/>
                </a:cubicBezTo>
                <a:cubicBezTo>
                  <a:pt x="2152834" y="262945"/>
                  <a:pt x="2170943" y="272924"/>
                  <a:pt x="2190750" y="276225"/>
                </a:cubicBezTo>
                <a:cubicBezTo>
                  <a:pt x="2209800" y="279400"/>
                  <a:pt x="2228962" y="281962"/>
                  <a:pt x="2247900" y="285750"/>
                </a:cubicBezTo>
                <a:cubicBezTo>
                  <a:pt x="2260737" y="288317"/>
                  <a:pt x="2273221" y="292435"/>
                  <a:pt x="2286000" y="295275"/>
                </a:cubicBezTo>
                <a:cubicBezTo>
                  <a:pt x="2307027" y="299948"/>
                  <a:pt x="2371976" y="312445"/>
                  <a:pt x="2390775" y="314325"/>
                </a:cubicBezTo>
                <a:cubicBezTo>
                  <a:pt x="2510908" y="326338"/>
                  <a:pt x="2517222" y="323850"/>
                  <a:pt x="2628900" y="32385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3105150" y="2543175"/>
            <a:ext cx="2400377" cy="1276350"/>
          </a:xfrm>
          <a:custGeom>
            <a:rect b="b" l="l" r="r" t="t"/>
            <a:pathLst>
              <a:path extrusionOk="0" h="1276350" w="2400377">
                <a:moveTo>
                  <a:pt x="0" y="0"/>
                </a:moveTo>
                <a:cubicBezTo>
                  <a:pt x="19050" y="3175"/>
                  <a:pt x="38518" y="4443"/>
                  <a:pt x="57150" y="9525"/>
                </a:cubicBezTo>
                <a:cubicBezTo>
                  <a:pt x="107666" y="23302"/>
                  <a:pt x="98029" y="29687"/>
                  <a:pt x="142875" y="47625"/>
                </a:cubicBezTo>
                <a:cubicBezTo>
                  <a:pt x="161519" y="55083"/>
                  <a:pt x="181489" y="58952"/>
                  <a:pt x="200025" y="66675"/>
                </a:cubicBezTo>
                <a:cubicBezTo>
                  <a:pt x="219685" y="74867"/>
                  <a:pt x="237599" y="86860"/>
                  <a:pt x="257175" y="95250"/>
                </a:cubicBezTo>
                <a:cubicBezTo>
                  <a:pt x="333885" y="128126"/>
                  <a:pt x="335919" y="124390"/>
                  <a:pt x="419100" y="142875"/>
                </a:cubicBezTo>
                <a:cubicBezTo>
                  <a:pt x="483695" y="175172"/>
                  <a:pt x="502973" y="188135"/>
                  <a:pt x="571500" y="209550"/>
                </a:cubicBezTo>
                <a:cubicBezTo>
                  <a:pt x="596490" y="217359"/>
                  <a:pt x="622862" y="220321"/>
                  <a:pt x="647700" y="228600"/>
                </a:cubicBezTo>
                <a:cubicBezTo>
                  <a:pt x="699170" y="245757"/>
                  <a:pt x="747933" y="270845"/>
                  <a:pt x="800100" y="285750"/>
                </a:cubicBezTo>
                <a:cubicBezTo>
                  <a:pt x="861595" y="303320"/>
                  <a:pt x="881823" y="307167"/>
                  <a:pt x="942975" y="333375"/>
                </a:cubicBezTo>
                <a:cubicBezTo>
                  <a:pt x="999146" y="357448"/>
                  <a:pt x="1015375" y="371006"/>
                  <a:pt x="1066800" y="409575"/>
                </a:cubicBezTo>
                <a:cubicBezTo>
                  <a:pt x="1083064" y="421773"/>
                  <a:pt x="1096577" y="437940"/>
                  <a:pt x="1114425" y="447675"/>
                </a:cubicBezTo>
                <a:cubicBezTo>
                  <a:pt x="1132054" y="457291"/>
                  <a:pt x="1152525" y="460375"/>
                  <a:pt x="1171575" y="466725"/>
                </a:cubicBezTo>
                <a:lnTo>
                  <a:pt x="1257300" y="533400"/>
                </a:lnTo>
                <a:cubicBezTo>
                  <a:pt x="1269883" y="543079"/>
                  <a:pt x="1282869" y="552229"/>
                  <a:pt x="1295400" y="561975"/>
                </a:cubicBezTo>
                <a:cubicBezTo>
                  <a:pt x="1311447" y="574456"/>
                  <a:pt x="1326109" y="588798"/>
                  <a:pt x="1343025" y="600075"/>
                </a:cubicBezTo>
                <a:cubicBezTo>
                  <a:pt x="1365640" y="615152"/>
                  <a:pt x="1389025" y="629978"/>
                  <a:pt x="1409700" y="647700"/>
                </a:cubicBezTo>
                <a:cubicBezTo>
                  <a:pt x="1419927" y="656466"/>
                  <a:pt x="1427642" y="668005"/>
                  <a:pt x="1438275" y="676275"/>
                </a:cubicBezTo>
                <a:cubicBezTo>
                  <a:pt x="1456347" y="690331"/>
                  <a:pt x="1476962" y="700836"/>
                  <a:pt x="1495425" y="714375"/>
                </a:cubicBezTo>
                <a:cubicBezTo>
                  <a:pt x="1524617" y="735783"/>
                  <a:pt x="1551029" y="760970"/>
                  <a:pt x="1581150" y="781050"/>
                </a:cubicBezTo>
                <a:cubicBezTo>
                  <a:pt x="1590675" y="787400"/>
                  <a:pt x="1599786" y="794420"/>
                  <a:pt x="1609725" y="800100"/>
                </a:cubicBezTo>
                <a:cubicBezTo>
                  <a:pt x="1622053" y="807145"/>
                  <a:pt x="1636737" y="810280"/>
                  <a:pt x="1647825" y="819150"/>
                </a:cubicBezTo>
                <a:cubicBezTo>
                  <a:pt x="1668862" y="835980"/>
                  <a:pt x="1682559" y="861356"/>
                  <a:pt x="1704975" y="876300"/>
                </a:cubicBezTo>
                <a:lnTo>
                  <a:pt x="1762125" y="914400"/>
                </a:lnTo>
                <a:cubicBezTo>
                  <a:pt x="1771650" y="920750"/>
                  <a:pt x="1780461" y="928330"/>
                  <a:pt x="1790700" y="933450"/>
                </a:cubicBezTo>
                <a:lnTo>
                  <a:pt x="1828800" y="952500"/>
                </a:lnTo>
                <a:cubicBezTo>
                  <a:pt x="1863411" y="1004417"/>
                  <a:pt x="1828226" y="964310"/>
                  <a:pt x="1876425" y="990600"/>
                </a:cubicBezTo>
                <a:cubicBezTo>
                  <a:pt x="1902721" y="1004943"/>
                  <a:pt x="1926252" y="1024024"/>
                  <a:pt x="1952625" y="1038225"/>
                </a:cubicBezTo>
                <a:cubicBezTo>
                  <a:pt x="1967679" y="1046331"/>
                  <a:pt x="1984957" y="1049629"/>
                  <a:pt x="2000250" y="1057275"/>
                </a:cubicBezTo>
                <a:cubicBezTo>
                  <a:pt x="2010489" y="1062395"/>
                  <a:pt x="2018364" y="1071676"/>
                  <a:pt x="2028825" y="1076325"/>
                </a:cubicBezTo>
                <a:cubicBezTo>
                  <a:pt x="2047175" y="1084480"/>
                  <a:pt x="2068756" y="1085044"/>
                  <a:pt x="2085975" y="1095375"/>
                </a:cubicBezTo>
                <a:cubicBezTo>
                  <a:pt x="2101850" y="1104900"/>
                  <a:pt x="2117416" y="1114959"/>
                  <a:pt x="2133600" y="1123950"/>
                </a:cubicBezTo>
                <a:cubicBezTo>
                  <a:pt x="2146012" y="1130846"/>
                  <a:pt x="2159659" y="1135475"/>
                  <a:pt x="2171700" y="1143000"/>
                </a:cubicBezTo>
                <a:cubicBezTo>
                  <a:pt x="2185162" y="1151414"/>
                  <a:pt x="2196017" y="1163699"/>
                  <a:pt x="2209800" y="1171575"/>
                </a:cubicBezTo>
                <a:cubicBezTo>
                  <a:pt x="2218517" y="1176556"/>
                  <a:pt x="2228974" y="1177575"/>
                  <a:pt x="2238375" y="1181100"/>
                </a:cubicBezTo>
                <a:cubicBezTo>
                  <a:pt x="2254384" y="1187103"/>
                  <a:pt x="2270125" y="1193800"/>
                  <a:pt x="2286000" y="1200150"/>
                </a:cubicBezTo>
                <a:cubicBezTo>
                  <a:pt x="2340169" y="1254319"/>
                  <a:pt x="2288011" y="1210681"/>
                  <a:pt x="2343150" y="1238250"/>
                </a:cubicBezTo>
                <a:cubicBezTo>
                  <a:pt x="2353389" y="1243370"/>
                  <a:pt x="2361486" y="1252180"/>
                  <a:pt x="2371725" y="1257300"/>
                </a:cubicBezTo>
                <a:cubicBezTo>
                  <a:pt x="2403312" y="1273094"/>
                  <a:pt x="2400300" y="1255120"/>
                  <a:pt x="2400300" y="127635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2838450" y="2743200"/>
            <a:ext cx="2667000" cy="2305050"/>
          </a:xfrm>
          <a:custGeom>
            <a:rect b="b" l="l" r="r" t="t"/>
            <a:pathLst>
              <a:path extrusionOk="0" h="2305050" w="2667000">
                <a:moveTo>
                  <a:pt x="0" y="0"/>
                </a:moveTo>
                <a:cubicBezTo>
                  <a:pt x="15875" y="6350"/>
                  <a:pt x="32173" y="11731"/>
                  <a:pt x="47625" y="19050"/>
                </a:cubicBezTo>
                <a:cubicBezTo>
                  <a:pt x="92538" y="40324"/>
                  <a:pt x="135297" y="66149"/>
                  <a:pt x="180975" y="85725"/>
                </a:cubicBezTo>
                <a:cubicBezTo>
                  <a:pt x="203200" y="95250"/>
                  <a:pt x="226280" y="102986"/>
                  <a:pt x="247650" y="114300"/>
                </a:cubicBezTo>
                <a:cubicBezTo>
                  <a:pt x="280374" y="131624"/>
                  <a:pt x="310135" y="154205"/>
                  <a:pt x="342900" y="171450"/>
                </a:cubicBezTo>
                <a:cubicBezTo>
                  <a:pt x="370572" y="186014"/>
                  <a:pt x="400953" y="194986"/>
                  <a:pt x="428625" y="209550"/>
                </a:cubicBezTo>
                <a:cubicBezTo>
                  <a:pt x="461390" y="226795"/>
                  <a:pt x="490445" y="250781"/>
                  <a:pt x="523875" y="266700"/>
                </a:cubicBezTo>
                <a:cubicBezTo>
                  <a:pt x="557427" y="282677"/>
                  <a:pt x="594761" y="289550"/>
                  <a:pt x="628650" y="304800"/>
                </a:cubicBezTo>
                <a:cubicBezTo>
                  <a:pt x="658459" y="318214"/>
                  <a:pt x="685137" y="337806"/>
                  <a:pt x="714375" y="352425"/>
                </a:cubicBezTo>
                <a:cubicBezTo>
                  <a:pt x="742344" y="366409"/>
                  <a:pt x="771185" y="378619"/>
                  <a:pt x="800100" y="390525"/>
                </a:cubicBezTo>
                <a:cubicBezTo>
                  <a:pt x="825184" y="400854"/>
                  <a:pt x="852037" y="406968"/>
                  <a:pt x="876300" y="419100"/>
                </a:cubicBezTo>
                <a:cubicBezTo>
                  <a:pt x="953607" y="457753"/>
                  <a:pt x="948236" y="470695"/>
                  <a:pt x="1019175" y="514350"/>
                </a:cubicBezTo>
                <a:cubicBezTo>
                  <a:pt x="1037314" y="525513"/>
                  <a:pt x="1057627" y="532726"/>
                  <a:pt x="1076325" y="542925"/>
                </a:cubicBezTo>
                <a:cubicBezTo>
                  <a:pt x="1092578" y="551790"/>
                  <a:pt x="1107766" y="562509"/>
                  <a:pt x="1123950" y="571500"/>
                </a:cubicBezTo>
                <a:cubicBezTo>
                  <a:pt x="1136362" y="578396"/>
                  <a:pt x="1151061" y="581559"/>
                  <a:pt x="1162050" y="590550"/>
                </a:cubicBezTo>
                <a:cubicBezTo>
                  <a:pt x="1284783" y="690968"/>
                  <a:pt x="1182130" y="620155"/>
                  <a:pt x="1266825" y="704850"/>
                </a:cubicBezTo>
                <a:cubicBezTo>
                  <a:pt x="1274920" y="712945"/>
                  <a:pt x="1287742" y="715391"/>
                  <a:pt x="1295400" y="723900"/>
                </a:cubicBezTo>
                <a:cubicBezTo>
                  <a:pt x="1316640" y="747500"/>
                  <a:pt x="1330099" y="777649"/>
                  <a:pt x="1352550" y="800100"/>
                </a:cubicBezTo>
                <a:lnTo>
                  <a:pt x="1438275" y="885825"/>
                </a:lnTo>
                <a:cubicBezTo>
                  <a:pt x="1447800" y="895350"/>
                  <a:pt x="1458768" y="903624"/>
                  <a:pt x="1466850" y="914400"/>
                </a:cubicBezTo>
                <a:cubicBezTo>
                  <a:pt x="1476375" y="927100"/>
                  <a:pt x="1483372" y="942169"/>
                  <a:pt x="1495425" y="952500"/>
                </a:cubicBezTo>
                <a:cubicBezTo>
                  <a:pt x="1506206" y="961741"/>
                  <a:pt x="1522075" y="963153"/>
                  <a:pt x="1533525" y="971550"/>
                </a:cubicBezTo>
                <a:cubicBezTo>
                  <a:pt x="1569914" y="998235"/>
                  <a:pt x="1606392" y="1025367"/>
                  <a:pt x="1638300" y="1057275"/>
                </a:cubicBezTo>
                <a:cubicBezTo>
                  <a:pt x="1663700" y="1082675"/>
                  <a:pt x="1685763" y="1111922"/>
                  <a:pt x="1714500" y="1133475"/>
                </a:cubicBezTo>
                <a:cubicBezTo>
                  <a:pt x="1727200" y="1143000"/>
                  <a:pt x="1740653" y="1151596"/>
                  <a:pt x="1752600" y="1162050"/>
                </a:cubicBezTo>
                <a:cubicBezTo>
                  <a:pt x="1766117" y="1173877"/>
                  <a:pt x="1777183" y="1188323"/>
                  <a:pt x="1790700" y="1200150"/>
                </a:cubicBezTo>
                <a:cubicBezTo>
                  <a:pt x="1802647" y="1210604"/>
                  <a:pt x="1815882" y="1219498"/>
                  <a:pt x="1828800" y="1228725"/>
                </a:cubicBezTo>
                <a:cubicBezTo>
                  <a:pt x="1838115" y="1235379"/>
                  <a:pt x="1848819" y="1240170"/>
                  <a:pt x="1857375" y="1247775"/>
                </a:cubicBezTo>
                <a:cubicBezTo>
                  <a:pt x="1877511" y="1265673"/>
                  <a:pt x="1892109" y="1289981"/>
                  <a:pt x="1914525" y="1304925"/>
                </a:cubicBezTo>
                <a:cubicBezTo>
                  <a:pt x="1930750" y="1315742"/>
                  <a:pt x="1969385" y="1340735"/>
                  <a:pt x="1981200" y="1352550"/>
                </a:cubicBezTo>
                <a:cubicBezTo>
                  <a:pt x="1989295" y="1360645"/>
                  <a:pt x="1991779" y="1373424"/>
                  <a:pt x="2000250" y="1381125"/>
                </a:cubicBezTo>
                <a:cubicBezTo>
                  <a:pt x="2027036" y="1405476"/>
                  <a:pt x="2060377" y="1422202"/>
                  <a:pt x="2085975" y="1447800"/>
                </a:cubicBezTo>
                <a:cubicBezTo>
                  <a:pt x="2095500" y="1457325"/>
                  <a:pt x="2105784" y="1466148"/>
                  <a:pt x="2114550" y="1476375"/>
                </a:cubicBezTo>
                <a:cubicBezTo>
                  <a:pt x="2124881" y="1488428"/>
                  <a:pt x="2131900" y="1503250"/>
                  <a:pt x="2143125" y="1514475"/>
                </a:cubicBezTo>
                <a:cubicBezTo>
                  <a:pt x="2157500" y="1528850"/>
                  <a:pt x="2175764" y="1538838"/>
                  <a:pt x="2190750" y="1552575"/>
                </a:cubicBezTo>
                <a:cubicBezTo>
                  <a:pt x="2213919" y="1573814"/>
                  <a:pt x="2235200" y="1597025"/>
                  <a:pt x="2257425" y="1619250"/>
                </a:cubicBezTo>
                <a:lnTo>
                  <a:pt x="2286000" y="1647825"/>
                </a:lnTo>
                <a:cubicBezTo>
                  <a:pt x="2295525" y="1657350"/>
                  <a:pt x="2307103" y="1665192"/>
                  <a:pt x="2314575" y="1676400"/>
                </a:cubicBezTo>
                <a:cubicBezTo>
                  <a:pt x="2341097" y="1716183"/>
                  <a:pt x="2325530" y="1696880"/>
                  <a:pt x="2362200" y="1733550"/>
                </a:cubicBezTo>
                <a:cubicBezTo>
                  <a:pt x="2383229" y="1796636"/>
                  <a:pt x="2355449" y="1723338"/>
                  <a:pt x="2400300" y="1800225"/>
                </a:cubicBezTo>
                <a:cubicBezTo>
                  <a:pt x="2414609" y="1824755"/>
                  <a:pt x="2424311" y="1851769"/>
                  <a:pt x="2438400" y="1876425"/>
                </a:cubicBezTo>
                <a:cubicBezTo>
                  <a:pt x="2511248" y="2003909"/>
                  <a:pt x="2441381" y="1885192"/>
                  <a:pt x="2514600" y="2000250"/>
                </a:cubicBezTo>
                <a:cubicBezTo>
                  <a:pt x="2524539" y="2015869"/>
                  <a:pt x="2532558" y="2032708"/>
                  <a:pt x="2543175" y="2047875"/>
                </a:cubicBezTo>
                <a:cubicBezTo>
                  <a:pt x="2554833" y="2064530"/>
                  <a:pt x="2569998" y="2078584"/>
                  <a:pt x="2581275" y="2095500"/>
                </a:cubicBezTo>
                <a:cubicBezTo>
                  <a:pt x="2589151" y="2107314"/>
                  <a:pt x="2593280" y="2121272"/>
                  <a:pt x="2600325" y="2133600"/>
                </a:cubicBezTo>
                <a:cubicBezTo>
                  <a:pt x="2606005" y="2143539"/>
                  <a:pt x="2614255" y="2151936"/>
                  <a:pt x="2619375" y="2162175"/>
                </a:cubicBezTo>
                <a:cubicBezTo>
                  <a:pt x="2623865" y="2171155"/>
                  <a:pt x="2624945" y="2181522"/>
                  <a:pt x="2628900" y="2190750"/>
                </a:cubicBezTo>
                <a:cubicBezTo>
                  <a:pt x="2640285" y="2217315"/>
                  <a:pt x="2667000" y="2257093"/>
                  <a:pt x="2667000" y="2286000"/>
                </a:cubicBezTo>
                <a:lnTo>
                  <a:pt x="2667000" y="230505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링크 예제</a:t>
            </a:r>
            <a:endParaRPr/>
          </a:p>
        </p:txBody>
      </p:sp>
      <p:sp>
        <p:nvSpPr>
          <p:cNvPr id="274" name="Google Shape;274;p2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66750" y="1085850"/>
            <a:ext cx="8212200" cy="57123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a.style1:link {            color: #ff0000;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a.style1:visited {            color: #0000ff;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a.style1:hover {            font-size: 150%;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a.style2:link {            color: #ff0000;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a.style2:visited {            color: #0000ff;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a.style2:hover {            background: #66ff66;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&lt;p&gt;마우스를 올려놓으면 스타일이 변경됩니다.&lt;/p&gt;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&lt;p&gt;&lt;a class="style1" href="index.html" target="_blank"&gt;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폰트크기를 변경하는 링크&lt;/a&gt;&lt;/p&gt;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&lt;p&gt;&lt;a class="style2" href="index.html" target="_blank"&gt;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배경색을 변경하는 링크&lt;/a&gt;&lt;/p&gt;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1a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3487" y="2609850"/>
            <a:ext cx="2830513" cy="1171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2228311d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3487" y="3790950"/>
            <a:ext cx="2830513" cy="1171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리스트 스타일</a:t>
            </a:r>
            <a:endParaRPr/>
          </a:p>
        </p:txBody>
      </p:sp>
      <p:graphicFrame>
        <p:nvGraphicFramePr>
          <p:cNvPr id="283" name="Google Shape;283;p26"/>
          <p:cNvGraphicFramePr/>
          <p:nvPr/>
        </p:nvGraphicFramePr>
        <p:xfrm>
          <a:off x="1104900" y="1314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{61A1A261-5DB4-4488-8220-F0CAD1073BD4}</a:tableStyleId>
              </a:tblPr>
              <a:tblGrid>
                <a:gridCol w="1936025"/>
                <a:gridCol w="58459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속성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설명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list-style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리스트에 대한 속성을 한줄로 설정한다.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list-style-image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리스트 항목 마커를 이미지로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list-style-position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리스트 마커의 위치를 안쪽인지 바깥쪽인지를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list-style-type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리스트 마커의 타입을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84" name="Google Shape;28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85924" y="3286125"/>
            <a:ext cx="6410325" cy="2407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링크 예제</a:t>
            </a:r>
            <a:endParaRPr/>
          </a:p>
        </p:txBody>
      </p:sp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666750" y="1085850"/>
            <a:ext cx="8212200" cy="57723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ul.a {            list-style-type: circle;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ul.b {            list-style-type: disc;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ul.c {            list-style-type: square;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&lt;ul class="a"&gt;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&lt;li&gt;HTML5&lt;/li&gt;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&lt;li&gt;CSS3&lt;/li&gt;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&lt;li&gt;JAVASCRIPT&lt;/li&gt;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&lt;/ul&gt;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&lt;ul class="b"&gt;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&lt;li&gt;HTML5&lt;/li&gt;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&lt;li&gt;CSS3&lt;/li&gt;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&lt;li&gt;JAVASCRIPT&lt;/li&gt;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&lt;/ul&gt;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&lt;ul class="c"&gt;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&lt;li&gt;HTML5&lt;/li&gt;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&lt;li&gt;CSS3&lt;/li&gt;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&lt;li&gt;JAVASCRIPT&lt;/li&gt;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&lt;/ul&gt;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27"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050" y="3084512"/>
            <a:ext cx="3028950" cy="3452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수평 리스트 예제</a:t>
            </a:r>
            <a:endParaRPr/>
          </a:p>
        </p:txBody>
      </p:sp>
      <p:sp>
        <p:nvSpPr>
          <p:cNvPr id="298" name="Google Shape;298;p2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666750" y="1085850"/>
            <a:ext cx="8212200" cy="57723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ul { 	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list-style:none;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text-align:center;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	border-top:1px solid red; border-bottom:1px solid red; padding:10px 0;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ul li {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endParaRPr b="0" i="0" sz="1500" u="none" cap="none" strike="noStrike">
              <a:solidFill>
                <a:srgbClr val="FF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display:inline;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text-transform:uppercase;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	padding:0 10px; letter-spacing:10px;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ul li a { text-decoration:none; color:black;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ul li a:hover { text-decoration:underline;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수평 리스트 예제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666750" y="1085851"/>
            <a:ext cx="8212138" cy="241934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&lt;ul&gt;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&lt;li&gt;&lt;a href="#"&gt;Home&lt;/a&gt;&lt;/li&gt;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&lt;li&gt;&lt;a href="#"&gt;Blog&lt;/a&gt;&lt;/li&gt;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&lt;li&gt;&lt;a href="#"&gt;About&lt;/a&gt;&lt;/li&gt;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&lt;li&gt;&lt;a href="#"&gt;Contact&lt;/a&gt;&lt;/li&gt;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&lt;/ul&gt;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2b" id="306" name="Google Shape;3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6356" y="3629024"/>
            <a:ext cx="6752532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스타일</a:t>
            </a:r>
            <a:endParaRPr/>
          </a:p>
        </p:txBody>
      </p:sp>
      <p:graphicFrame>
        <p:nvGraphicFramePr>
          <p:cNvPr id="312" name="Google Shape;312;p30"/>
          <p:cNvGraphicFramePr/>
          <p:nvPr/>
        </p:nvGraphicFramePr>
        <p:xfrm>
          <a:off x="1070515" y="1262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{61A1A261-5DB4-4488-8220-F0CAD1073BD4}</a:tableStyleId>
              </a:tblPr>
              <a:tblGrid>
                <a:gridCol w="1701975"/>
                <a:gridCol w="6152450"/>
              </a:tblGrid>
              <a:tr h="302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속성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설명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border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테이블의 경계선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02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border-collapse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이웃한 셀의 경계선을 합칠 것인지 여부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wdith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테이블의 가로 길이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02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height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테이블의 세로 길이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border-spacing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테이블 셀 사이의 거리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02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empty-cells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공백 셀을 그릴 것인지 여부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table-align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테이블 셀의 정렬 설정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테이블의 경계</a:t>
            </a:r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666750" y="1085850"/>
            <a:ext cx="8212200" cy="57123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    table, td, th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 blue;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&lt;table&gt;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&lt;th&gt;이름&lt;/th&gt;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&lt;th&gt;이메일&lt;/th&gt;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&lt;td&gt;김철수&lt;/td&gt;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&lt;td&gt;chul@google.com&lt;/td&gt;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&lt;td&gt;김영희&lt;/td&gt;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&lt;td&gt;young@google.com&lt;/td&gt;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&lt;/table&gt;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31"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251" y="2987675"/>
            <a:ext cx="3957637" cy="1662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경계 통합</a:t>
            </a:r>
            <a:endParaRPr/>
          </a:p>
        </p:txBody>
      </p:sp>
      <p:sp>
        <p:nvSpPr>
          <p:cNvPr id="325" name="Google Shape;325;p3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collapse : 이웃하는 셀의 경계선을 합쳐서 단일선으로 표시한다.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separate : 이웃하는 셀의 경계선을 합치지 않고 분리하여 표시한다.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666750" y="2857500"/>
            <a:ext cx="8212200" cy="36816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table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border-collapse: collapse;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table, th, td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border: 1px solid blue;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37" id="327" name="Google Shape;3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2" y="4008438"/>
            <a:ext cx="3654104" cy="153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배경색</a:t>
            </a:r>
            <a:endParaRPr/>
          </a:p>
        </p:txBody>
      </p:sp>
      <p:sp>
        <p:nvSpPr>
          <p:cNvPr id="333" name="Google Shape;333;p3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666750" y="1085850"/>
            <a:ext cx="8212200" cy="56724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&lt;style&gt;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td, th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color: white;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green;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&lt;table&gt;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&lt;th&gt;이름&lt;/th&gt;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&lt;th&gt;이메일&lt;/th&gt;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&lt;td&gt;김철수&lt;/td&gt;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&lt;td&gt;chul@google.com&lt;/td&gt;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&lt;td&gt;김영희&lt;/td&gt;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&lt;td&gt;young@google.com&lt;/td&gt;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&lt;/table&gt;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3c"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7512" y="3519488"/>
            <a:ext cx="3276223" cy="1376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헤더와 데이터의 분리</a:t>
            </a:r>
            <a:endParaRPr/>
          </a:p>
        </p:txBody>
      </p:sp>
      <p:sp>
        <p:nvSpPr>
          <p:cNvPr id="341" name="Google Shape;341;p34"/>
          <p:cNvSpPr txBox="1"/>
          <p:nvPr/>
        </p:nvSpPr>
        <p:spPr>
          <a:xfrm>
            <a:off x="666750" y="1085850"/>
            <a:ext cx="8212200" cy="40974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table, td, th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 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th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color: white;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3f" id="342" name="Google Shape;3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288" y="4127500"/>
            <a:ext cx="3657600" cy="162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텍스트 정렬</a:t>
            </a:r>
            <a:endParaRPr/>
          </a:p>
        </p:txBody>
      </p:sp>
      <p:sp>
        <p:nvSpPr>
          <p:cNvPr id="348" name="Google Shape;348;p35"/>
          <p:cNvSpPr txBox="1"/>
          <p:nvPr/>
        </p:nvSpPr>
        <p:spPr>
          <a:xfrm>
            <a:off x="666750" y="1085850"/>
            <a:ext cx="8212200" cy="56823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table, td, th { border: 1px solid blue;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table {        width: 100%;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td {           text-align: center;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&lt;table&gt;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&lt;th&gt;이름&lt;/th&gt;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&lt;th&gt;이메일&lt;/th&gt;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&lt;td&gt;김철수&lt;/td&gt;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&lt;td&gt;chul@google.com&lt;/td&gt;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&lt;td&gt;김영희&lt;/td&gt;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&lt;td&gt;young@google.com&lt;/td&gt;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&lt;/table&gt;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22283145" id="349" name="Google Shape;34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9863" y="3581400"/>
            <a:ext cx="3755698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캡션</a:t>
            </a:r>
            <a:endParaRPr/>
          </a:p>
        </p:txBody>
      </p:sp>
      <p:sp>
        <p:nvSpPr>
          <p:cNvPr id="355" name="Google Shape;355;p3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56" name="Google Shape;356;p36"/>
          <p:cNvSpPr txBox="1"/>
          <p:nvPr/>
        </p:nvSpPr>
        <p:spPr>
          <a:xfrm>
            <a:off x="666750" y="1085850"/>
            <a:ext cx="8212200" cy="56925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caption { caption-side:bottom;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&lt;table border="1"&gt;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&lt;caption&gt;VIP 고객 리스트&lt;/caption&gt;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&lt;th&gt;이름&lt;/th&gt;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&lt;th&gt;이메일&lt;/th&gt;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&lt;td&gt;김철수&lt;/td&gt;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&lt;td&gt;chul@google.com&lt;/td&gt;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&lt;td&gt;김영희&lt;/td&gt;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&lt;td&gt;young@google.com&lt;/td&gt;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&lt;/table&gt;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2228314d" id="357" name="Google Shape;3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975" y="3332162"/>
            <a:ext cx="3476625" cy="1619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짝수행과 홀수행 다르게 하기 </a:t>
            </a:r>
            <a:endParaRPr/>
          </a:p>
        </p:txBody>
      </p:sp>
      <p:sp>
        <p:nvSpPr>
          <p:cNvPr id="363" name="Google Shape;363;p3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64" name="Google Shape;364;p37"/>
          <p:cNvSpPr txBox="1"/>
          <p:nvPr/>
        </p:nvSpPr>
        <p:spPr>
          <a:xfrm>
            <a:off x="666750" y="1085850"/>
            <a:ext cx="8212200" cy="56226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#list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font-family: "Trebuchet MS",sans-serif;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100%;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#list td, #list th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border: 1px dotted gray;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text-align: center;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#list th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color: white;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background-color: blue;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#list tr.alt td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background-color: yellow;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짝수행과 홀수행 다르게 하기 </a:t>
            </a:r>
            <a:endParaRPr/>
          </a:p>
        </p:txBody>
      </p:sp>
      <p:sp>
        <p:nvSpPr>
          <p:cNvPr id="370" name="Google Shape;370;p3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71" name="Google Shape;371;p38"/>
          <p:cNvSpPr txBox="1"/>
          <p:nvPr/>
        </p:nvSpPr>
        <p:spPr>
          <a:xfrm>
            <a:off x="666750" y="1085850"/>
            <a:ext cx="8212200" cy="56226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&lt;table id="list"&gt;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&lt;th&gt;이름&lt;/th&gt;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&lt;th&gt;이메일&lt;/th&gt;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&lt;td&gt;김철수&lt;/td&gt;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&lt;td&gt;chul@google.com&lt;/td&gt;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 class="alt"&gt;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&lt;td&gt;김영희&lt;/td&gt;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&lt;td&gt;young@google.com&lt;/td&gt;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&lt;td&gt;홍길동&lt;/td&gt;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&lt;td&gt;hong@google.com&lt;/td&gt;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&lt;tr class="alt"&gt;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&lt;td&gt;김수진&lt;/td&gt;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&lt;td&gt;sujin@google.com&lt;/td&gt;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&lt;/tr&gt;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&lt;/table&gt;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22283151" id="372" name="Google Shape;3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4313" y="3560763"/>
            <a:ext cx="3717656" cy="195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de22d35d1_0_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 효과: 투명도</a:t>
            </a:r>
            <a:endParaRPr/>
          </a:p>
        </p:txBody>
      </p:sp>
      <p:sp>
        <p:nvSpPr>
          <p:cNvPr id="378" name="Google Shape;378;g36de22d35d1_0_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79" name="Google Shape;379;g36de22d35d1_0_0"/>
          <p:cNvSpPr txBox="1"/>
          <p:nvPr/>
        </p:nvSpPr>
        <p:spPr>
          <a:xfrm>
            <a:off x="666750" y="1228726"/>
            <a:ext cx="8212200" cy="3410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img {            opacity: 0.4;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img:hover {      opacity: 1.0;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&lt;h1&gt;Opacity 속성&lt;/h1&gt;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src="lion.png" width="150" height="120" alt="lion"&gt;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src="audio.png" width="150" height="120" alt="audio"&gt;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e0" id="380" name="Google Shape;380;g36de22d35d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3" y="4305300"/>
            <a:ext cx="3514725" cy="243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6de22d35d1_0_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 효과: 가시성</a:t>
            </a:r>
            <a:endParaRPr/>
          </a:p>
        </p:txBody>
      </p:sp>
      <p:sp>
        <p:nvSpPr>
          <p:cNvPr id="386" name="Google Shape;386;g36de22d35d1_0_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87" name="Google Shape;387;g36de22d35d1_0_7"/>
          <p:cNvSpPr txBox="1"/>
          <p:nvPr/>
        </p:nvSpPr>
        <p:spPr>
          <a:xfrm>
            <a:off x="666750" y="1228725"/>
            <a:ext cx="8212200" cy="4292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#a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visibility: hidden;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border:1px dotted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#b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visibility: visible;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border:1px dotted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&lt;h1&gt;Visibility 속성&lt;/h1&gt;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id="a" src="lion.png" width="150" height="120" alt="lion"&gt;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id="b" src="audio.png" width="150" height="120" alt="audio"&gt;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a5" id="388" name="Google Shape;388;g36de22d35d1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850" y="1466532"/>
            <a:ext cx="3533775" cy="244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6de22d35d1_0_1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CSS3: 전환 </a:t>
            </a:r>
            <a:endParaRPr/>
          </a:p>
        </p:txBody>
      </p:sp>
      <p:sp>
        <p:nvSpPr>
          <p:cNvPr id="394" name="Google Shape;394;g36de22d35d1_0_1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95" name="Google Shape;395;g36de22d35d1_0_14"/>
          <p:cNvSpPr txBox="1"/>
          <p:nvPr/>
        </p:nvSpPr>
        <p:spPr>
          <a:xfrm>
            <a:off x="666750" y="1228725"/>
            <a:ext cx="8212200" cy="4292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 black;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transition: width 5s;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div:hover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&lt;div&gt;마우스를 올려보세요.&lt;/div&gt;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e2" id="396" name="Google Shape;396;g36de22d35d1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5461" y="2879407"/>
            <a:ext cx="4083427" cy="1273493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6de22d35d1_0_14"/>
          <p:cNvSpPr txBox="1"/>
          <p:nvPr/>
        </p:nvSpPr>
        <p:spPr>
          <a:xfrm>
            <a:off x="5238750" y="5895975"/>
            <a:ext cx="16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실행결과 보기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de22d35d1_0_2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CSS3: 전환 </a:t>
            </a:r>
            <a:endParaRPr/>
          </a:p>
        </p:txBody>
      </p:sp>
      <p:sp>
        <p:nvSpPr>
          <p:cNvPr id="403" name="Google Shape;403;g36de22d35d1_0_2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04" name="Google Shape;404;g36de22d35d1_0_22"/>
          <p:cNvSpPr txBox="1"/>
          <p:nvPr/>
        </p:nvSpPr>
        <p:spPr>
          <a:xfrm>
            <a:off x="666750" y="1000125"/>
            <a:ext cx="8212200" cy="5753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 black;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transition: width 5s height 5s border 5s, transform 5s;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-webkit-transition: width 5s, height 5s, border 5s, -webkit-transform 5s;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p:hover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10px solid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transform: rotate(180deg);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-webkit-transform: rotate(180deg);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&lt;p&gt;마우스를 올려보세요.&lt;/p&gt;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6de22d35d1_0_22"/>
          <p:cNvSpPr txBox="1"/>
          <p:nvPr/>
        </p:nvSpPr>
        <p:spPr>
          <a:xfrm>
            <a:off x="6046115" y="5899666"/>
            <a:ext cx="16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실행결과 보기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e7" id="406" name="Google Shape;406;g36de22d35d1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1378" y="3743325"/>
            <a:ext cx="3273182" cy="2010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de22d35d1_0_3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 변환</a:t>
            </a:r>
            <a:endParaRPr/>
          </a:p>
        </p:txBody>
      </p:sp>
      <p:sp>
        <p:nvSpPr>
          <p:cNvPr id="412" name="Google Shape;412;g36de22d35d1_0_3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도형을 이동, 크기 변환, 회전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도형의 크기나 형태, 위치를 변환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2차원 또는 3차원적으로 변환</a:t>
            </a:r>
            <a:endParaRPr/>
          </a:p>
        </p:txBody>
      </p:sp>
      <p:pic>
        <p:nvPicPr>
          <p:cNvPr descr="EMB000018ec3de8" id="413" name="Google Shape;413;g36de22d35d1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2619375"/>
            <a:ext cx="3143250" cy="3526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6de22d35d1_0_3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transform 속성 </a:t>
            </a:r>
            <a:endParaRPr/>
          </a:p>
        </p:txBody>
      </p:sp>
      <p:sp>
        <p:nvSpPr>
          <p:cNvPr id="419" name="Google Shape;419;g36de22d35d1_0_3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transform: translate(10px, 10px) - 평행이동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transform: rotate(45deg)	- 회전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transform: scale(2, 1.2)	- 크기변환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transform: skew(20deg, 10deg)	- 비틀기 변환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transform: matrix()	- 일반적인 변환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de22d35d1_0_4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CSS3: 전환 </a:t>
            </a:r>
            <a:endParaRPr/>
          </a:p>
        </p:txBody>
      </p:sp>
      <p:sp>
        <p:nvSpPr>
          <p:cNvPr id="425" name="Google Shape;425;g36de22d35d1_0_41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26" name="Google Shape;426;g36de22d35d1_0_41"/>
          <p:cNvSpPr txBox="1"/>
          <p:nvPr/>
        </p:nvSpPr>
        <p:spPr>
          <a:xfrm>
            <a:off x="666750" y="1000125"/>
            <a:ext cx="8212200" cy="5753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 black;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text-align: center;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div#box2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transform: translate(100px, 0px);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background-color: blue;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div#box3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transform: scale(1.2, 1.2);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background-color: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div#box4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transform: rotate(30deg);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background-color: 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8ec3de8" id="427" name="Google Shape;427;g36de22d35d1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0725" y="2511425"/>
            <a:ext cx="2999379" cy="33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6de22d35d1_0_4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CSS3: 전환 </a:t>
            </a:r>
            <a:endParaRPr/>
          </a:p>
        </p:txBody>
      </p:sp>
      <p:sp>
        <p:nvSpPr>
          <p:cNvPr id="433" name="Google Shape;433;g36de22d35d1_0_48"/>
          <p:cNvSpPr txBox="1"/>
          <p:nvPr/>
        </p:nvSpPr>
        <p:spPr>
          <a:xfrm>
            <a:off x="666750" y="1000125"/>
            <a:ext cx="8212200" cy="19335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id="box1"&gt;Box1&lt;/div&gt;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id="box2"&gt;Box2&lt;/div&gt;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id="box3"&gt;Box3&lt;/div&gt;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id="box4"&gt;Box4&lt;/div&gt;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e8" id="434" name="Google Shape;434;g36de22d35d1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4043" y="3038475"/>
            <a:ext cx="3024845" cy="33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de22d35d1_0_5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CSS3: 3차원 전환 </a:t>
            </a:r>
            <a:endParaRPr/>
          </a:p>
        </p:txBody>
      </p:sp>
      <p:pic>
        <p:nvPicPr>
          <p:cNvPr id="440" name="Google Shape;440;g36de22d35d1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992" y="4536281"/>
            <a:ext cx="5685992" cy="214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36de22d35d1_0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452" y="962025"/>
            <a:ext cx="4958061" cy="394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de22d35d1_0_6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47" name="Google Shape;447;g36de22d35d1_0_6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48" name="Google Shape;448;g36de22d35d1_0_60"/>
          <p:cNvSpPr txBox="1"/>
          <p:nvPr/>
        </p:nvSpPr>
        <p:spPr>
          <a:xfrm>
            <a:off x="666750" y="1000124"/>
            <a:ext cx="8212200" cy="56007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150px;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.container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 black;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.transformed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backface-visibility: visible;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transform-origin: 50% 42%;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transform: perspective(500px) rotateY(59deg) rotateX(0deg);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class="container"&gt;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&lt;div class="transformed"&gt;&lt;/div&gt;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8ec3dee" id="449" name="Google Shape;449;g36de22d35d1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9938" y="1524000"/>
            <a:ext cx="3028950" cy="217283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6de22d35d1_0_60"/>
          <p:cNvSpPr txBox="1"/>
          <p:nvPr/>
        </p:nvSpPr>
        <p:spPr>
          <a:xfrm>
            <a:off x="6046115" y="5899666"/>
            <a:ext cx="163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실행결과 보기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