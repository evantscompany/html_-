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</p:sldIdLst>
  <p:sldSz cy="6858000" cx="9144000"/>
  <p:notesSz cx="6934200" cy="9220200"/>
  <p:embeddedFontLst>
    <p:embeddedFont>
      <p:font typeface="Jost"/>
      <p:regular r:id="rId76"/>
      <p:bold r:id="rId77"/>
      <p:italic r:id="rId78"/>
      <p:boldItalic r:id="rId79"/>
    </p:embeddedFont>
    <p:embeddedFont>
      <p:font typeface="Century Schoolbook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  <p:ext uri="GoogleSlidesCustomDataVersion2">
      <go:slidesCustomData xmlns:go="http://customooxmlschemas.google.com/" r:id="rId84" roundtripDataSignature="AMtx7miGsrNiiNkVo9gKF6hYoVjlB6pb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customschemas.google.com/relationships/presentationmetadata" Target="metadata"/><Relationship Id="rId83" Type="http://schemas.openxmlformats.org/officeDocument/2006/relationships/font" Target="fonts/CenturySchoolbook-boldItalic.fnt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CenturySchoolbook-regular.fntdata"/><Relationship Id="rId82" Type="http://schemas.openxmlformats.org/officeDocument/2006/relationships/font" Target="fonts/CenturySchoolbook-italic.fntdata"/><Relationship Id="rId81" Type="http://schemas.openxmlformats.org/officeDocument/2006/relationships/font" Target="fonts/CenturySchoolboo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font" Target="fonts/Jost-bold.fntdata"/><Relationship Id="rId32" Type="http://schemas.openxmlformats.org/officeDocument/2006/relationships/slide" Target="slides/slide27.xml"/><Relationship Id="rId76" Type="http://schemas.openxmlformats.org/officeDocument/2006/relationships/font" Target="fonts/Jost-regular.fntdata"/><Relationship Id="rId35" Type="http://schemas.openxmlformats.org/officeDocument/2006/relationships/slide" Target="slides/slide30.xml"/><Relationship Id="rId79" Type="http://schemas.openxmlformats.org/officeDocument/2006/relationships/font" Target="fonts/Jost-boldItalic.fntdata"/><Relationship Id="rId34" Type="http://schemas.openxmlformats.org/officeDocument/2006/relationships/slide" Target="slides/slide29.xml"/><Relationship Id="rId78" Type="http://schemas.openxmlformats.org/officeDocument/2006/relationships/font" Target="fonts/Jost-italic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0d68fb996_4_0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g370d68fb996_4_0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0d68fb996_4_5:notes"/>
          <p:cNvSpPr txBox="1"/>
          <p:nvPr>
            <p:ph idx="1" type="body"/>
          </p:nvPr>
        </p:nvSpPr>
        <p:spPr>
          <a:xfrm>
            <a:off x="693738" y="4379913"/>
            <a:ext cx="55467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g370d68fb996_4_5:notes"/>
          <p:cNvSpPr/>
          <p:nvPr>
            <p:ph idx="2" type="sldImg"/>
          </p:nvPr>
        </p:nvSpPr>
        <p:spPr>
          <a:xfrm>
            <a:off x="1162050" y="692150"/>
            <a:ext cx="46101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5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5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6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6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6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6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6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6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6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7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7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7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7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7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7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8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7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7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p4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4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4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4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p4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p4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0" name="Google Shape;580;p5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5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p5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5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5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7" name="Google Shape;617;p8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d0dba61ad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d0dba61ad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d0dba61ad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d0dba61ad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d0dba61ad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d0dba61ad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d0dba61ad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d0dba61ad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d0dba61ad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d0dba61ad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d0dba61ad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d0dba61ad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d0dba61ad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d0dba61ad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d0dba61ad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d0dba61ad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d0dba61ad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d0dba61ad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d0dba61ad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d0dba61ad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d0dba61ad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d0dba61ad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d0dba61ad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d0dba61ad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d0dba61ad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d0dba61ad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d0dba61ad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d0dba61ad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d0dba61ad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0dba61ad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0dba61ad_0_4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d0dba61ad_0_45"/>
          <p:cNvSpPr txBox="1"/>
          <p:nvPr>
            <p:ph idx="10" type="dt"/>
          </p:nvPr>
        </p:nvSpPr>
        <p:spPr>
          <a:xfrm>
            <a:off x="6096000" y="6248400"/>
            <a:ext cx="2667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ad0dba61ad_0_45"/>
          <p:cNvSpPr txBox="1"/>
          <p:nvPr>
            <p:ph idx="11" type="ftr"/>
          </p:nvPr>
        </p:nvSpPr>
        <p:spPr>
          <a:xfrm>
            <a:off x="609600" y="6248206"/>
            <a:ext cx="542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ad0dba61ad_0_4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0861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Font typeface="Noto Sans Symbols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50"/>
              <a:buFont typeface="Noto Sans Symbols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50"/>
              <a:buFont typeface="Noto Sans Symbols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02895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70"/>
              <a:buFont typeface="Noto Sans Symbols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d0dba61ad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d0dba61ad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d0dba61ad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jpg"/><Relationship Id="rId4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jpg"/><Relationship Id="rId4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jpg"/><Relationship Id="rId4" Type="http://schemas.openxmlformats.org/officeDocument/2006/relationships/image" Target="../media/image27.jpg"/><Relationship Id="rId5" Type="http://schemas.openxmlformats.org/officeDocument/2006/relationships/image" Target="../media/image3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6.jpg"/><Relationship Id="rId4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5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Relationship Id="rId4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Relationship Id="rId4" Type="http://schemas.openxmlformats.org/officeDocument/2006/relationships/image" Target="../media/image4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Relationship Id="rId4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6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1.png"/><Relationship Id="rId4" Type="http://schemas.openxmlformats.org/officeDocument/2006/relationships/image" Target="../media/image6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Relationship Id="rId4" Type="http://schemas.openxmlformats.org/officeDocument/2006/relationships/image" Target="../media/image5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9.png"/><Relationship Id="rId4" Type="http://schemas.openxmlformats.org/officeDocument/2006/relationships/image" Target="../media/image6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png"/><Relationship Id="rId4" Type="http://schemas.openxmlformats.org/officeDocument/2006/relationships/image" Target="../media/image6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jpg"/><Relationship Id="rId4" Type="http://schemas.openxmlformats.org/officeDocument/2006/relationships/image" Target="../media/image66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7.png"/><Relationship Id="rId4" Type="http://schemas.openxmlformats.org/officeDocument/2006/relationships/image" Target="../media/image80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3.jpg"/><Relationship Id="rId4" Type="http://schemas.openxmlformats.org/officeDocument/2006/relationships/image" Target="../media/image79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4.png"/><Relationship Id="rId4" Type="http://schemas.openxmlformats.org/officeDocument/2006/relationships/image" Target="../media/image8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0d68fb996_4_0"/>
          <p:cNvSpPr txBox="1"/>
          <p:nvPr/>
        </p:nvSpPr>
        <p:spPr>
          <a:xfrm>
            <a:off x="1495425" y="1622425"/>
            <a:ext cx="7124700" cy="1939500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12. 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BOM, 이벤트 처리, 입력 검증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370d68fb996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0d68fb996_4_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300">
                <a:latin typeface="Century Schoolbook"/>
                <a:ea typeface="Century Schoolbook"/>
                <a:cs typeface="Century Schoolbook"/>
                <a:sym typeface="Century Schoolbook"/>
              </a:rPr>
              <a:t>JS에서 사용할수있는 내장 객체종류</a:t>
            </a:r>
            <a:r>
              <a:rPr lang="en-US"/>
              <a:t> </a:t>
            </a:r>
            <a:endParaRPr/>
          </a:p>
        </p:txBody>
      </p:sp>
      <p:sp>
        <p:nvSpPr>
          <p:cNvPr id="70" name="Google Shape;70;g370d68fb996_4_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HTML 문서를 객체로 표현한 것을 DOM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웹브라우저를 객체로 표현한 것을 BOM(Browser Object Model)</a:t>
            </a:r>
            <a:endParaRPr/>
          </a:p>
        </p:txBody>
      </p:sp>
      <p:pic>
        <p:nvPicPr>
          <p:cNvPr id="71" name="Google Shape;71;g370d68fb996_4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864" y="2300289"/>
            <a:ext cx="6157911" cy="3815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브라우저 객체 모델</a:t>
            </a:r>
            <a:endParaRPr/>
          </a:p>
        </p:txBody>
      </p:sp>
      <p:sp>
        <p:nvSpPr>
          <p:cNvPr id="77" name="Google Shape;77;p57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브라우저 객체 모델(BOM: Browser Object Model):  웹 브라우저가 가지고 있는 모든 객체를 의미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최상위 객체는 window이고 그 아래로 navigator, location, history, screen, document, frames 객체가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78" name="Google Shape;7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6249" y="3032410"/>
            <a:ext cx="6011501" cy="3697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BOM에 포함된 객체</a:t>
            </a:r>
            <a:endParaRPr/>
          </a:p>
        </p:txBody>
      </p:sp>
      <p:pic>
        <p:nvPicPr>
          <p:cNvPr id="84" name="Google Shape;84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157" y="1679774"/>
            <a:ext cx="5452607" cy="2960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window 객체</a:t>
            </a:r>
            <a:endParaRPr/>
          </a:p>
        </p:txBody>
      </p:sp>
      <p:sp>
        <p:nvSpPr>
          <p:cNvPr id="90" name="Google Shape;90;p59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window 객체는 BOM에서 최상위 객체로서 웹브라우저 윈도우를 나타내고 있다. 자바스크립트의 모든 전역 함수는 window 객체의 메소드이다.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91" name="Google Shape;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358" y="2818155"/>
            <a:ext cx="7785980" cy="300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새로운 윈도우 오픈 예제</a:t>
            </a:r>
            <a:endParaRPr/>
          </a:p>
        </p:txBody>
      </p:sp>
      <p:pic>
        <p:nvPicPr>
          <p:cNvPr id="97" name="Google Shape;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239" y="2130849"/>
            <a:ext cx="4026493" cy="1288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3315" y="2130850"/>
            <a:ext cx="3616697" cy="23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60"/>
          <p:cNvCxnSpPr/>
          <p:nvPr/>
        </p:nvCxnSpPr>
        <p:spPr>
          <a:xfrm>
            <a:off x="1584356" y="2897109"/>
            <a:ext cx="3883937" cy="805758"/>
          </a:xfrm>
          <a:prstGeom prst="straightConnector1">
            <a:avLst/>
          </a:prstGeom>
          <a:noFill/>
          <a:ln cap="flat" cmpd="sng" w="100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06" name="Google Shape;106;p61"/>
          <p:cNvSpPr txBox="1"/>
          <p:nvPr/>
        </p:nvSpPr>
        <p:spPr>
          <a:xfrm>
            <a:off x="612648" y="1862941"/>
            <a:ext cx="8259748" cy="246221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="구글창 열기"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window.open(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'https://www.google.com'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'_blank'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'width=300, height=300'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moveTo(), moveBy()</a:t>
            </a:r>
            <a:endParaRPr/>
          </a:p>
        </p:txBody>
      </p:sp>
      <p:sp>
        <p:nvSpPr>
          <p:cNvPr id="112" name="Google Shape;112;p6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윈도우를 이동하는 메소드이다. 절대적인 위치로 이동하는 것은 moveTo()를 사용하고 상대적으로 이동하려면 moveBy()를 사용한다. </a:t>
            </a:r>
            <a:endParaRPr/>
          </a:p>
        </p:txBody>
      </p:sp>
      <p:pic>
        <p:nvPicPr>
          <p:cNvPr id="113" name="Google Shape;11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165" y="2635062"/>
            <a:ext cx="3626108" cy="158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8581" y="2644586"/>
            <a:ext cx="2906661" cy="1568827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21" name="Google Shape;121;p69"/>
          <p:cNvSpPr txBox="1"/>
          <p:nvPr/>
        </p:nvSpPr>
        <p:spPr>
          <a:xfrm>
            <a:off x="612648" y="1681872"/>
            <a:ext cx="8259748" cy="4616648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openWindow()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w = window.open(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 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 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'width=200, height=100'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w.document.write(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"&lt;p&gt;오늘 다음과 같은 상품을 싸게 팝니다.&lt;/p&gt;"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w.moveTo(0,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moveWindow()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w.moveBy(10, 10);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w.focus();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="윈도우 생성"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openWindow()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="button"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="윈도우 이동"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moveWindow()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b="1" i="1" lang="en-US"/>
              <a:t>setTimeout()</a:t>
            </a:r>
            <a:endParaRPr/>
          </a:p>
        </p:txBody>
      </p:sp>
      <p:sp>
        <p:nvSpPr>
          <p:cNvPr id="127" name="Google Shape;127;p6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setTimeout() 메소드는 일정한 시간이 지난 후에, 인수로 전달된 함수를 한 번만 호출한다. 시간의 단위는 밀리초이다. </a:t>
            </a:r>
            <a:endParaRPr/>
          </a:p>
        </p:txBody>
      </p:sp>
      <p:pic>
        <p:nvPicPr>
          <p:cNvPr id="128" name="Google Shape;12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07" y="2975249"/>
            <a:ext cx="7920241" cy="1632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예제:</a:t>
            </a:r>
            <a:endParaRPr/>
          </a:p>
        </p:txBody>
      </p:sp>
      <p:sp>
        <p:nvSpPr>
          <p:cNvPr id="134" name="Google Shape;134;p6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버튼을 누르면 3초 후에 경고 윈도우를 오픈하는 예제를 작성하여 보자. </a:t>
            </a:r>
            <a:endParaRPr/>
          </a:p>
        </p:txBody>
      </p:sp>
      <p:pic>
        <p:nvPicPr>
          <p:cNvPr id="135" name="Google Shape;13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577" y="2513814"/>
            <a:ext cx="3366041" cy="146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9801" y="2513813"/>
            <a:ext cx="3366041" cy="1469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3"/>
          <p:cNvSpPr/>
          <p:nvPr/>
        </p:nvSpPr>
        <p:spPr>
          <a:xfrm>
            <a:off x="4572000" y="3032911"/>
            <a:ext cx="314577" cy="63374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43" name="Google Shape;143;p64"/>
          <p:cNvSpPr txBox="1"/>
          <p:nvPr/>
        </p:nvSpPr>
        <p:spPr>
          <a:xfrm>
            <a:off x="612648" y="1862941"/>
            <a:ext cx="8259748" cy="310854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showAlert()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setTimeout(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() {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"setTimeout()을 사용하여 표시됩니다."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}, 3000);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버튼을 누르면 3초 후에 경고 박스가 화면에 표시됩니다.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="showAlert()"&gt;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눌러보세요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setInterval()</a:t>
            </a:r>
            <a:endParaRPr/>
          </a:p>
        </p:txBody>
      </p:sp>
      <p:sp>
        <p:nvSpPr>
          <p:cNvPr id="149" name="Google Shape;149;p6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setInterval() 메소드는 일정한 시간마다 주기적으로 함수를 호출한다. setInterval()은 반드시 개발자가 종료시켜야 한다. 시간의 단위는 밀리초이다. </a:t>
            </a:r>
            <a:endParaRPr/>
          </a:p>
        </p:txBody>
      </p:sp>
      <p:pic>
        <p:nvPicPr>
          <p:cNvPr id="150" name="Google Shape;15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320" y="3153498"/>
            <a:ext cx="5418184" cy="217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56" name="Google Shape;156;p66"/>
          <p:cNvSpPr txBox="1"/>
          <p:nvPr/>
        </p:nvSpPr>
        <p:spPr>
          <a:xfrm>
            <a:off x="559474" y="2994624"/>
            <a:ext cx="8259748" cy="3323987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changeColor()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id = setInterval(flashText, 500);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flashText()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elem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elem.style.color = (elem.style.color ==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?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"blue"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: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elem.style.backgroundColor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		(elem.style.backgroundColor ==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"green")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?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"yellow"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: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"green";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8851" y="1219199"/>
            <a:ext cx="3630371" cy="158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474" y="1219200"/>
            <a:ext cx="3630371" cy="158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6"/>
          <p:cNvSpPr/>
          <p:nvPr/>
        </p:nvSpPr>
        <p:spPr>
          <a:xfrm>
            <a:off x="4381877" y="1855960"/>
            <a:ext cx="271604" cy="49794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66" name="Google Shape;166;p67"/>
          <p:cNvSpPr txBox="1"/>
          <p:nvPr/>
        </p:nvSpPr>
        <p:spPr>
          <a:xfrm>
            <a:off x="612648" y="1862941"/>
            <a:ext cx="8259748" cy="310854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stopTextColor()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clearInterval(id);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onload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="changeColor();"&gt;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 is a Text.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="stopTextColor();"&gt;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중지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screen 객체 </a:t>
            </a:r>
            <a:endParaRPr/>
          </a:p>
        </p:txBody>
      </p:sp>
      <p:pic>
        <p:nvPicPr>
          <p:cNvPr id="172" name="Google Shape;172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309" y="1797279"/>
            <a:ext cx="6880634" cy="2769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78" name="Google Shape;178;p71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screen 객체의 모든 속성을 출력해보고, 구글의 홈페이지를 로드하는 코드를 작성하면 다음과 같다.</a:t>
            </a:r>
            <a:endParaRPr/>
          </a:p>
        </p:txBody>
      </p:sp>
      <p:pic>
        <p:nvPicPr>
          <p:cNvPr id="179" name="Google Shape;17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437" y="2567364"/>
            <a:ext cx="3827364" cy="213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732" y="2567364"/>
            <a:ext cx="3927316" cy="21282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1"/>
          <p:cNvSpPr/>
          <p:nvPr/>
        </p:nvSpPr>
        <p:spPr>
          <a:xfrm>
            <a:off x="4481465" y="3195873"/>
            <a:ext cx="236125" cy="58847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88" name="Google Shape;188;p72"/>
          <p:cNvSpPr txBox="1"/>
          <p:nvPr/>
        </p:nvSpPr>
        <p:spPr>
          <a:xfrm>
            <a:off x="612648" y="1681872"/>
            <a:ext cx="8259748" cy="353943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maxopen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url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winattributes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key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screen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screen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":"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EE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\n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alert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maxwindow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window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url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winattributes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maxwindow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moveTo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maxwindow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resizeTo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screen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availWidth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screen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availHeight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&lt;a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href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maxopen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('https://www.google.com', 'resize=1, scrollbars=1, status=1'); return false"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전체 화면 보기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&lt;/a&gt;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location 객체 </a:t>
            </a:r>
            <a:endParaRPr/>
          </a:p>
        </p:txBody>
      </p:sp>
      <p:pic>
        <p:nvPicPr>
          <p:cNvPr id="194" name="Google Shape;19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003" y="1529023"/>
            <a:ext cx="6989275" cy="286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6003" y="4411255"/>
            <a:ext cx="6989275" cy="140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01" name="Google Shape;201;p74"/>
          <p:cNvSpPr txBox="1"/>
          <p:nvPr>
            <p:ph idx="1" type="body"/>
          </p:nvPr>
        </p:nvSpPr>
        <p:spPr>
          <a:xfrm>
            <a:off x="757850" y="157304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location 객체의 모든 속성을 출력해보고, replace()를 사용하여서 구글의 웹페이지를 로드하는 코드를 작성해보자. </a:t>
            </a:r>
            <a:endParaRPr/>
          </a:p>
        </p:txBody>
      </p:sp>
      <p:pic>
        <p:nvPicPr>
          <p:cNvPr id="202" name="Google Shape;20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236" y="2576795"/>
            <a:ext cx="3421620" cy="208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550" y="2576796"/>
            <a:ext cx="3421620" cy="208573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4"/>
          <p:cNvSpPr/>
          <p:nvPr/>
        </p:nvSpPr>
        <p:spPr>
          <a:xfrm>
            <a:off x="4572000" y="3204927"/>
            <a:ext cx="190123" cy="45267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11" name="Google Shape;211;p75"/>
          <p:cNvSpPr txBox="1"/>
          <p:nvPr/>
        </p:nvSpPr>
        <p:spPr>
          <a:xfrm>
            <a:off x="612648" y="1681872"/>
            <a:ext cx="8259748" cy="28931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replace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AF00DB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key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location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+=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":"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EE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\n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alert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location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replace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"https://www.google.com"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&lt;a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href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replace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이동하기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&lt;/a&gt;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history 객체</a:t>
            </a:r>
            <a:endParaRPr/>
          </a:p>
        </p:txBody>
      </p:sp>
      <p:sp>
        <p:nvSpPr>
          <p:cNvPr id="217" name="Google Shape;217;p7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window.history개체에는 브라우저 기록이 포함되어 있다. 몇 개의 메소드를 지원한다.</a:t>
            </a:r>
            <a:endParaRPr/>
          </a:p>
        </p:txBody>
      </p:sp>
      <p:pic>
        <p:nvPicPr>
          <p:cNvPr id="218" name="Google Shape;21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073" y="2551884"/>
            <a:ext cx="6925901" cy="175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24" name="Google Shape;224;p79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버튼을 클릭하면 뒤로 가거나 앞으로 가는 예제를 작성해보자. </a:t>
            </a:r>
            <a:endParaRPr/>
          </a:p>
        </p:txBody>
      </p:sp>
      <p:pic>
        <p:nvPicPr>
          <p:cNvPr id="225" name="Google Shape;22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010" y="2417637"/>
            <a:ext cx="3569812" cy="146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539" y="2417637"/>
            <a:ext cx="3569813" cy="1466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7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9"/>
          <p:cNvSpPr/>
          <p:nvPr/>
        </p:nvSpPr>
        <p:spPr>
          <a:xfrm>
            <a:off x="4445251" y="3005750"/>
            <a:ext cx="298765" cy="56131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34" name="Google Shape;234;p80"/>
          <p:cNvSpPr txBox="1"/>
          <p:nvPr/>
        </p:nvSpPr>
        <p:spPr>
          <a:xfrm>
            <a:off x="612648" y="1819277"/>
            <a:ext cx="8212138" cy="2635028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"히스토리 객체 길이"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alert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history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length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"뒤로가기"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history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"앞으로가기"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history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forward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"button"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"2페이지 앞으로 가기"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history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go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(+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just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navigator 객체 </a:t>
            </a:r>
            <a:endParaRPr/>
          </a:p>
        </p:txBody>
      </p:sp>
      <p:pic>
        <p:nvPicPr>
          <p:cNvPr id="241" name="Google Shape;24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5303" y="1648074"/>
            <a:ext cx="5006567" cy="2525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76"/>
          <p:cNvPicPr preferRelativeResize="0"/>
          <p:nvPr/>
        </p:nvPicPr>
        <p:blipFill rotWithShape="1">
          <a:blip r:embed="rId4">
            <a:alphaModFix/>
          </a:blip>
          <a:srcRect b="0" l="0" r="30347" t="0"/>
          <a:stretch/>
        </p:blipFill>
        <p:spPr>
          <a:xfrm>
            <a:off x="1575303" y="4358185"/>
            <a:ext cx="4888872" cy="1408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48" name="Google Shape;248;p77"/>
          <p:cNvSpPr txBox="1"/>
          <p:nvPr/>
        </p:nvSpPr>
        <p:spPr>
          <a:xfrm>
            <a:off x="612648" y="1819277"/>
            <a:ext cx="8212138" cy="160972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for (var key in navigator)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value = navigator[key];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document.write(key + ": " + value + "&lt;br&gt;");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8423" y="3209454"/>
            <a:ext cx="5109153" cy="33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이벤트란 무엇인가?</a:t>
            </a:r>
            <a:endParaRPr/>
          </a:p>
        </p:txBody>
      </p:sp>
      <p:sp>
        <p:nvSpPr>
          <p:cNvPr id="256" name="Google Shape;256;p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웹 페이지에서 상호작용이 발생하면 이벤트가 일어난다. 예를 들어 사용자가 버튼을 클릭하거나 특정 요소 위로 마우스 커서를 가져가면 이벤트가 발생한다</a:t>
            </a:r>
            <a:endParaRPr/>
          </a:p>
        </p:txBody>
      </p:sp>
      <p:pic>
        <p:nvPicPr>
          <p:cNvPr id="257" name="Google Shape;2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611" y="2711428"/>
            <a:ext cx="6853473" cy="3297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처리 절차</a:t>
            </a:r>
            <a:endParaRPr/>
          </a:p>
        </p:txBody>
      </p:sp>
      <p:sp>
        <p:nvSpPr>
          <p:cNvPr id="263" name="Google Shape;263;p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이벤트를 처리하는 코드를 버튼에 등록하여야 한다. 이벤트를 처리하는 코드를 이벤트 핸들러, 또는 이벤트 리스너라고 한다.</a:t>
            </a:r>
            <a:endParaRPr/>
          </a:p>
        </p:txBody>
      </p:sp>
      <p:pic>
        <p:nvPicPr>
          <p:cNvPr id="264" name="Google Shape;2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7607" y="2599653"/>
            <a:ext cx="6455122" cy="3384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이벤트의 종류</a:t>
            </a:r>
            <a:endParaRPr/>
          </a:p>
        </p:txBody>
      </p:sp>
      <p:sp>
        <p:nvSpPr>
          <p:cNvPr id="270" name="Google Shape;270;p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마우스 관련 이벤트</a:t>
            </a:r>
            <a:endParaRPr/>
          </a:p>
        </p:txBody>
      </p:sp>
      <p:pic>
        <p:nvPicPr>
          <p:cNvPr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109" y="2204244"/>
            <a:ext cx="7028477" cy="2276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이벤트의 종류</a:t>
            </a:r>
            <a:endParaRPr/>
          </a:p>
        </p:txBody>
      </p:sp>
      <p:sp>
        <p:nvSpPr>
          <p:cNvPr id="277" name="Google Shape;277;p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키보드 입력 요소 이벤트</a:t>
            </a:r>
            <a:endParaRPr/>
          </a:p>
        </p:txBody>
      </p:sp>
      <p:pic>
        <p:nvPicPr>
          <p:cNvPr id="278" name="Google Shape;2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278" y="1932989"/>
            <a:ext cx="7903675" cy="1161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278" y="3158594"/>
            <a:ext cx="7903675" cy="1954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6278" y="5093376"/>
            <a:ext cx="7903675" cy="153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리스너 만들기</a:t>
            </a:r>
            <a:endParaRPr/>
          </a:p>
        </p:txBody>
      </p:sp>
      <p:sp>
        <p:nvSpPr>
          <p:cNvPr id="286" name="Google Shape;286;p7"/>
          <p:cNvSpPr txBox="1"/>
          <p:nvPr>
            <p:ph idx="1" type="body"/>
          </p:nvPr>
        </p:nvSpPr>
        <p:spPr>
          <a:xfrm>
            <a:off x="539673" y="1717518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인라인 방식: HTML 요소 안에 코드 추가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객체의 이벤트 리스너 속성에 함수를 대입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객체의 addEventListener() 함수를 사용</a:t>
            </a:r>
            <a:endParaRPr/>
          </a:p>
          <a:p>
            <a:pPr indent="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lang="en-US"/>
              <a:t>익명 함수로 이벤트 리스너 작성</a:t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2426329" y="3757566"/>
            <a:ext cx="1403287" cy="1991385"/>
          </a:xfrm>
          <a:prstGeom prst="foldedCorner">
            <a:avLst>
              <a:gd fmla="val 16667" name="adj"/>
            </a:avLst>
          </a:prstGeom>
          <a:solidFill>
            <a:srgbClr val="FFC000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요소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4720391" y="3757566"/>
            <a:ext cx="1843371" cy="1991385"/>
          </a:xfrm>
          <a:prstGeom prst="foldedCorner">
            <a:avLst>
              <a:gd fmla="val 16667" name="adj"/>
            </a:avLst>
          </a:prstGeom>
          <a:solidFill>
            <a:srgbClr val="CCFFCC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함수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2469303" y="3874884"/>
            <a:ext cx="8130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4720391" y="3845487"/>
            <a:ext cx="1573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8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7"/>
          <p:cNvCxnSpPr/>
          <p:nvPr/>
        </p:nvCxnSpPr>
        <p:spPr>
          <a:xfrm>
            <a:off x="3282346" y="4590108"/>
            <a:ext cx="1896237" cy="0"/>
          </a:xfrm>
          <a:prstGeom prst="straightConnector1">
            <a:avLst/>
          </a:prstGeom>
          <a:noFill/>
          <a:ln cap="flat" cmpd="sng" w="100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리스너 만들기</a:t>
            </a:r>
            <a:endParaRPr/>
          </a:p>
        </p:txBody>
      </p:sp>
      <p:sp>
        <p:nvSpPr>
          <p:cNvPr id="297" name="Google Shape;297;p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인라인 방식</a:t>
            </a:r>
            <a:endParaRPr/>
          </a:p>
          <a:p>
            <a:pPr indent="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None/>
            </a:pPr>
            <a:r>
              <a:rPr lang="en-US"/>
              <a:t>&lt;element event=＂자바스크립트 코드＂&gt;와 같이  HTML 요소에 코드를 작성해서 붙이는 방법이다.</a:t>
            </a:r>
            <a:endParaRPr/>
          </a:p>
          <a:p>
            <a:pPr indent="0" lvl="1" marL="36576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None/>
            </a:pPr>
            <a:r>
              <a:rPr b="0" i="0" lang="en-US" u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b="0" i="0" lang="en-US" u="none" strike="noStrike">
                <a:solidFill>
                  <a:srgbClr val="933030"/>
                </a:solidFill>
                <a:latin typeface="Arial"/>
                <a:ea typeface="Arial"/>
                <a:cs typeface="Arial"/>
                <a:sym typeface="Arial"/>
              </a:rPr>
              <a:t>div </a:t>
            </a:r>
            <a:r>
              <a:rPr b="0" i="0" lang="en-US" u="none" strike="noStrike">
                <a:solidFill>
                  <a:srgbClr val="B3335A"/>
                </a:solidFill>
                <a:latin typeface="Arial"/>
                <a:ea typeface="Arial"/>
                <a:cs typeface="Arial"/>
                <a:sym typeface="Arial"/>
              </a:rPr>
              <a:t>onmouseover</a:t>
            </a:r>
            <a:r>
              <a:rPr b="0" i="0" lang="en-US" u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="this.style.backgroundColor='blue'"&gt; </a:t>
            </a:r>
            <a:r>
              <a:rPr b="0" i="0" lang="en-US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Hello World! </a:t>
            </a:r>
            <a:r>
              <a:rPr b="0" i="0" lang="en-US" u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b="0" i="0" lang="en-US" u="none" strike="noStrike">
                <a:solidFill>
                  <a:srgbClr val="933030"/>
                </a:solidFill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b="0" i="0" lang="en-US" u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객체의 이벤트 리스너 속성에 함수를 대입</a:t>
            </a:r>
            <a:endParaRPr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1131683" y="3929203"/>
            <a:ext cx="6880634" cy="1600438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&lt;div id="special"&gt; Hello World!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changeColor()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document.getElementById("special").style.backgroundColor='blue';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document.getElementById("special").onmouseover = changeColor;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&lt;/script&gt;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리스너 만들기</a:t>
            </a:r>
            <a:endParaRPr/>
          </a:p>
        </p:txBody>
      </p:sp>
      <p:sp>
        <p:nvSpPr>
          <p:cNvPr id="304" name="Google Shape;304;p9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객체의 addEventListener() 함수를 사용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●"/>
            </a:pPr>
            <a:r>
              <a:rPr lang="en-US"/>
              <a:t>DOM 객체가 가지고 있는 addEventListener() 함수를 이용하여 이벤트 리스너를 등록하는 방법이다. 객체의 이벤트 리스너 속성에 함수를 대입</a:t>
            </a:r>
            <a:endParaRPr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1249031" y="2905780"/>
            <a:ext cx="6880634" cy="52322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obj = document.getElementById("special");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obj.addEventListener("mouseover", changeColor);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249031" y="3810000"/>
            <a:ext cx="6880634" cy="52322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obj.addEventListener("mouseover", firstFunction);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obj.addEventListener("mouseover", secondFunction);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리스너 만들기</a:t>
            </a:r>
            <a:endParaRPr/>
          </a:p>
        </p:txBody>
      </p:sp>
      <p:sp>
        <p:nvSpPr>
          <p:cNvPr id="312" name="Google Shape;312;p10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익명 함수로 이벤트 리스너 작성</a:t>
            </a:r>
            <a:endParaRPr/>
          </a:p>
          <a:p>
            <a:pPr indent="-274320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60"/>
              <a:buChar char="●"/>
            </a:pPr>
            <a:r>
              <a:rPr lang="en-US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익명 함수(이름없는 함수)나 화살표 함수를 사용하여 이벤트 리스너를 작성할 수도 있다. </a:t>
            </a:r>
            <a:endParaRPr/>
          </a:p>
        </p:txBody>
      </p:sp>
      <p:sp>
        <p:nvSpPr>
          <p:cNvPr id="313" name="Google Shape;313;p10"/>
          <p:cNvSpPr txBox="1"/>
          <p:nvPr/>
        </p:nvSpPr>
        <p:spPr>
          <a:xfrm>
            <a:off x="1131682" y="2806192"/>
            <a:ext cx="7532483" cy="98721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obj = document.getElementById("special");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obj.addEventListener("mouseover", function()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document.getElementById("special").style.backgroundColor='blue';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19" name="Google Shape;319;p11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요소에 마우스가 올라오면 요소의 내용을 변경하는 코드를 작성해보자. </a:t>
            </a:r>
            <a:endParaRPr/>
          </a:p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129" y="2398210"/>
            <a:ext cx="3648685" cy="1179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668" y="2398209"/>
            <a:ext cx="3648684" cy="117910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31146" y="2703707"/>
            <a:ext cx="196188" cy="5681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29" name="Google Shape;329;p12"/>
          <p:cNvSpPr txBox="1"/>
          <p:nvPr/>
        </p:nvSpPr>
        <p:spPr>
          <a:xfrm>
            <a:off x="805758" y="1801258"/>
            <a:ext cx="7532483" cy="353943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onmouseover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"mouseOver(this)"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onmouseout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"mouseOut(this)"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"background-color:#faea11; width:200px; height:50px;"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마우스를 올려주세요!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mouseOver(obj)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obj.innerHTML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"감사합니다."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mouseOut(obj)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obj.innerHTML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"마우스를 올려주세요!"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객체</a:t>
            </a:r>
            <a:endParaRPr/>
          </a:p>
        </p:txBody>
      </p:sp>
      <p:sp>
        <p:nvSpPr>
          <p:cNvPr id="335" name="Google Shape;335;p1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이벤트 리스너는 이벤트 객체(event object)를 전달받는다. 이벤트 객체는 이벤트마다 달라진다. 예를 들어서 mouseover 이벤트의 경우, 마우스 좌표와 마우스 버튼 정보 등이 포함된다. 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998869" y="2679444"/>
            <a:ext cx="7532483" cy="3754874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"background-color:#faea11;width:200px;height:50px;"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마우스를 올려주세요!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obj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"special"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obj.onmouseover=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x=e.clientX;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y=e.clientY;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alert(x+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+y);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alert(e.type);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alert(e.target);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9718" y="4943192"/>
            <a:ext cx="2680991" cy="115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1033" y="4943192"/>
            <a:ext cx="2680991" cy="115280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이벤트 전파</a:t>
            </a:r>
            <a:endParaRPr/>
          </a:p>
        </p:txBody>
      </p:sp>
      <p:sp>
        <p:nvSpPr>
          <p:cNvPr id="345" name="Google Shape;345;p1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예를 들어서 &lt;div&gt; 요소 안에 &lt;p&gt; 요소가 있고, 사용자가 &lt;p&gt; 요소를 클릭하면 어떤 요소의 "onclick" 이벤트가 먼저 처리되어야 할까?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346" name="Google Shape;3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881" y="2815628"/>
            <a:ext cx="4980565" cy="261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버블링(bubbling)과 캡처링(capturing)</a:t>
            </a:r>
            <a:endParaRPr/>
          </a:p>
        </p:txBody>
      </p:sp>
      <p:sp>
        <p:nvSpPr>
          <p:cNvPr id="352" name="Google Shape;352;p1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버블링은 가장 안쪽 요소의 이벤트가 먼저 처리된 다음, 바깥쪽 이벤트가 처리된다.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b="0" i="0" lang="en-US" sz="1800" u="none" strike="noStrike">
                <a:latin typeface="Jost"/>
                <a:ea typeface="Jost"/>
                <a:cs typeface="Jost"/>
                <a:sym typeface="Jost"/>
              </a:rPr>
              <a:t>캡처링은 가장 바깥쪽 요소의 이벤트가 먼저 처리된 다음, 안쪽 요소의 이벤트가 처리된다.</a:t>
            </a:r>
            <a:endParaRPr/>
          </a:p>
        </p:txBody>
      </p:sp>
      <p:pic>
        <p:nvPicPr>
          <p:cNvPr id="353" name="Google Shape;3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9044" y="2839101"/>
            <a:ext cx="4980565" cy="261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9637" y="5551824"/>
            <a:ext cx="5488899" cy="111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id="360" name="Google Shape;360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736" y="1600200"/>
            <a:ext cx="7783477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612648" y="289069"/>
            <a:ext cx="8259748" cy="6279861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"ko"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margin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solid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rgb(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199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89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"div1"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&lt;/p&gt;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elem1=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"div1"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elem1.addEventListener(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"click"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`캡처링 div`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);},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elem1.addEventListener(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"click"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`버블링 div`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);});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elem2=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elem2.addEventListener(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"click"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`캡처링 p`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);},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elem2.addEventListener(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"click"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`버블링 p`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);});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click 이벤트 </a:t>
            </a:r>
            <a:endParaRPr/>
          </a:p>
        </p:txBody>
      </p:sp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HTML 요소를 클릭하면 미리 정해놓은 코드가 실행되도록 할 수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예제로 라디오 버튼 요소에 click 이벤트를 설정하여 보자. 사용자가 라디오 버튼을 클릭하면 &lt;body&gt; 요소의 색상이 변경되도록 한다.</a:t>
            </a:r>
            <a:endParaRPr/>
          </a:p>
        </p:txBody>
      </p:sp>
      <p:pic>
        <p:nvPicPr>
          <p:cNvPr id="374" name="Google Shape;3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601" y="2278155"/>
            <a:ext cx="6950798" cy="1150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142" y="4653167"/>
            <a:ext cx="2888055" cy="1209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3604" y="4653168"/>
            <a:ext cx="2888055" cy="1209264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506300" y="1837211"/>
            <a:ext cx="8259748" cy="4185761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changeColor(c)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"target"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).style.backgroundColor = c;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="target"&gt;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method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="POST"&gt;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="v1"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changeColor(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'lightblue'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파랑색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="radio"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name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="C1"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="v2"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changeColor(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'lightgreen'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녹색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5337" y="4163304"/>
            <a:ext cx="2392363" cy="100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5337" y="5277966"/>
            <a:ext cx="2392363" cy="1001712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9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Lab: 수학 퀴즈 페이지 작성하기</a:t>
            </a:r>
            <a:endParaRPr/>
          </a:p>
        </p:txBody>
      </p:sp>
      <p:sp>
        <p:nvSpPr>
          <p:cNvPr id="393" name="Google Shape;393;p20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eval()을 사용하여 초등학생을 위한 수학 퀴즈를 출제하고 버튼을 누르면 정답인지를 체크해주는 페이지를 작성해보자. </a:t>
            </a:r>
            <a:endParaRPr/>
          </a:p>
        </p:txBody>
      </p:sp>
      <p:pic>
        <p:nvPicPr>
          <p:cNvPr id="394" name="Google Shape;3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436" y="2521421"/>
            <a:ext cx="3261312" cy="157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4674" y="2521421"/>
            <a:ext cx="3261312" cy="1579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4572000" y="3060071"/>
            <a:ext cx="289711" cy="4888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506300" y="1125136"/>
            <a:ext cx="8259748" cy="5504264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cal()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answer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'answer'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"problem"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).value;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solution=eval(s);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(answer == solution)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"정답!"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alert(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"틀렸습니다! 정답은"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+solution);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&lt;h1&gt;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Math Quiz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&lt;/h1&gt;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"problem"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"12*2+20-30"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&gt;&lt;br&gt;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"text"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"answer"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 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"cal()"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정답 알아보기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&lt;/button&gt;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8072" y="3554542"/>
            <a:ext cx="2392363" cy="11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8073" y="4971185"/>
            <a:ext cx="2392363" cy="11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mouseover 이벤트</a:t>
            </a:r>
            <a:endParaRPr/>
          </a:p>
        </p:txBody>
      </p:sp>
      <p:sp>
        <p:nvSpPr>
          <p:cNvPr id="413" name="Google Shape;413;p2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mouseover와 mouseout 이벤트는 사용자가 HTML 요소 위에 마우스를 올리거나 요소를 떠날 때 발생된다.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마우스 커서를 올리면 경계선이 표시되고 마우스 커서가 나가면 경계선이 사라지는 예제는 다음과 같이 작성한다.</a:t>
            </a:r>
            <a:endParaRPr/>
          </a:p>
        </p:txBody>
      </p:sp>
      <p:pic>
        <p:nvPicPr>
          <p:cNvPr id="414" name="Google Shape;4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0025" y="2367339"/>
            <a:ext cx="4663949" cy="146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3699" y="5074891"/>
            <a:ext cx="3166172" cy="123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2368" y="5074891"/>
            <a:ext cx="3166172" cy="1235374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4684860" y="5468293"/>
            <a:ext cx="231172" cy="6277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506300" y="2146669"/>
            <a:ext cx="8259748" cy="4185761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OnMouseIn(elem) 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elem.style.border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"2px solid red"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OnMouseOut(elem) 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elem.style.border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style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background-color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yellow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200px"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onmouseover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="OnMouseIn (this)"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onmouseout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="OnMouseOut (this)"&gt;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마우스를 이 요소 위에 이동하세요.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div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050" y="2753196"/>
            <a:ext cx="2392363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3050" y="3993521"/>
            <a:ext cx="2392363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3"/>
          <p:cNvSpPr/>
          <p:nvPr/>
        </p:nvSpPr>
        <p:spPr>
          <a:xfrm>
            <a:off x="304800" y="457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mousedown, mouseup 이벤트</a:t>
            </a:r>
            <a:endParaRPr/>
          </a:p>
        </p:txBody>
      </p:sp>
      <p:sp>
        <p:nvSpPr>
          <p:cNvPr id="434" name="Google Shape;434;p2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먼저 마우스 버튼이 클릭되면 mousedown 이벤트가 발생한다. 이어서 마우스 버튼이 떼어지면 mouseup 이벤트가 발생하고 마지막으로 마우스 클릭이 완료되면서 click 이벤트가 발생한다. </a:t>
            </a:r>
            <a:endParaRPr/>
          </a:p>
        </p:txBody>
      </p:sp>
      <p:pic>
        <p:nvPicPr>
          <p:cNvPr id="435" name="Google Shape;4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288" y="3132717"/>
            <a:ext cx="7038274" cy="2125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506300" y="2451469"/>
            <a:ext cx="8259600" cy="33246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OnButtonDown(button)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button.style.color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"#ff0000"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OnButtonUp(button)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button.style.color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"#000000"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onmousedown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="OnButtonDown (this)"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onmouseup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="OnButtonUp (this)"&gt;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눌러보세요!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button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304800" y="457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8083" y="2565216"/>
            <a:ext cx="2392363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8083" y="3805422"/>
            <a:ext cx="2384426" cy="925513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6"/>
          <p:cNvSpPr txBox="1"/>
          <p:nvPr/>
        </p:nvSpPr>
        <p:spPr>
          <a:xfrm>
            <a:off x="506300" y="1677375"/>
            <a:ext cx="842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0040" lvl="0" marL="320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마우스 커서를 올리면 경계선이 표시되고 마우스 커서가 나가면 경계선이 사라지는 예제는 다음과 같이 작성한다.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7"/>
          <p:cNvSpPr txBox="1"/>
          <p:nvPr/>
        </p:nvSpPr>
        <p:spPr>
          <a:xfrm>
            <a:off x="559475" y="2277325"/>
            <a:ext cx="8259600" cy="45252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9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#div1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2px</a:t>
            </a:r>
            <a:r>
              <a:rPr b="0" i="0" lang="en-US" sz="1200" u="none" cap="none" strike="noStrike">
                <a:solidFill>
                  <a:srgbClr val="0451A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solid black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"div1"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이 텍스트 위에서 마우스 휠을 움직이면 폰트가 증가하거나 감소합니다.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&lt;/div&gt;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"div1"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).addEventListener(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"wheel"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, sub);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size =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sub(e) {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(e.wheelDelta &gt; </a:t>
            </a:r>
            <a:r>
              <a:rPr b="0" i="0" lang="en-US" sz="12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size++;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size--;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2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this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.style.fontSize = size + </a:t>
            </a:r>
            <a:r>
              <a:rPr b="0" i="0" lang="en-US" sz="12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"px"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2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52" name="Google Shape;452;p2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wheel 이벤트</a:t>
            </a:r>
            <a:endParaRPr/>
          </a:p>
        </p:txBody>
      </p:sp>
      <p:sp>
        <p:nvSpPr>
          <p:cNvPr id="453" name="Google Shape;453;p27"/>
          <p:cNvSpPr txBox="1"/>
          <p:nvPr>
            <p:ph idx="1" type="body"/>
          </p:nvPr>
        </p:nvSpPr>
        <p:spPr>
          <a:xfrm>
            <a:off x="612650" y="1600200"/>
            <a:ext cx="81534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마우스의 휠을 돌리면 wheel 이벤트가 발생한다. &lt;div&gt; 요소 위에서 마우스 휠을 조작하면 폰트가 증가되는 예제를 작성해보자. </a:t>
            </a:r>
            <a:endParaRPr/>
          </a:p>
        </p:txBody>
      </p:sp>
      <p:pic>
        <p:nvPicPr>
          <p:cNvPr id="454" name="Google Shape;4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8077" y="2429227"/>
            <a:ext cx="2580897" cy="121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7720" y="2429227"/>
            <a:ext cx="2580897" cy="121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7"/>
          <p:cNvSpPr/>
          <p:nvPr/>
        </p:nvSpPr>
        <p:spPr>
          <a:xfrm>
            <a:off x="6278985" y="2893321"/>
            <a:ext cx="130800" cy="339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37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3000" lIns="66000" spcFirstLastPara="1" rIns="66000" wrap="square" tIns="33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onmousemove 이벤트</a:t>
            </a:r>
            <a:endParaRPr/>
          </a:p>
        </p:txBody>
      </p:sp>
      <p:sp>
        <p:nvSpPr>
          <p:cNvPr id="462" name="Google Shape;462;p3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onmousemove 이벤트는 마우스의 좌표를 우리한테 전달해준다. 마우스가 움직이면 연속하여 발생된다.</a:t>
            </a:r>
            <a:endParaRPr/>
          </a:p>
        </p:txBody>
      </p:sp>
      <p:pic>
        <p:nvPicPr>
          <p:cNvPr id="463" name="Google Shape;4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722" y="2521955"/>
            <a:ext cx="3390372" cy="2203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0980" y="2521955"/>
            <a:ext cx="3390372" cy="220395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4771176" y="3259248"/>
            <a:ext cx="235390" cy="56131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506300" y="1581864"/>
            <a:ext cx="8259748" cy="5047536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#img1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200px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1px</a:t>
            </a:r>
            <a:r>
              <a:rPr b="0" i="0" lang="en-US" sz="1400" u="none" cap="none" strike="noStrike">
                <a:solidFill>
                  <a:srgbClr val="0451A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solid black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&lt;img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"summer.jpeg"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onmousemove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"sub(event)"</a:t>
            </a:r>
            <a:r>
              <a:rPr b="0" i="0" lang="en-US" sz="1400" u="none" cap="none" strike="noStrike">
                <a:solidFill>
                  <a:srgbClr val="CD313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&gt;&lt;br&gt;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&lt;p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test"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sub(e)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= e.clientX;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y = e.clientY;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coor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"좌표: ("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x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","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y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")"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"test"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 = coor;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73" name="Google Shape;473;p33"/>
          <p:cNvSpPr/>
          <p:nvPr/>
        </p:nvSpPr>
        <p:spPr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3"/>
          <p:cNvSpPr/>
          <p:nvPr/>
        </p:nvSpPr>
        <p:spPr>
          <a:xfrm>
            <a:off x="304800" y="4572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load 이벤트 </a:t>
            </a:r>
            <a:endParaRPr/>
          </a:p>
        </p:txBody>
      </p:sp>
      <p:sp>
        <p:nvSpPr>
          <p:cNvPr id="480" name="Google Shape;480;p3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HTML 문서가 로딩되거나, 사용자가 웹페이지를 떠나면 각각 load와  unload 이벤트가 발생된다. load 이벤트는 문서의 로딩이 완료되면 발생하는 이벤트이다.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 코드에서 아직 생성되지 않은 이미지나 요소를 미리 사용하면 안 되기 때문이다. 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612648" y="3429000"/>
            <a:ext cx="8259748" cy="246221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"en"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&lt;img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'image'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="300"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"summer.jpg"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'result'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).innerHTML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"이미지의 폭="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+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'image'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).clientWidth;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4455" y="5062396"/>
            <a:ext cx="2817941" cy="1862421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4"/>
          <p:cNvSpPr/>
          <p:nvPr/>
        </p:nvSpPr>
        <p:spPr>
          <a:xfrm>
            <a:off x="6545655" y="3848100"/>
            <a:ext cx="2073244" cy="769167"/>
          </a:xfrm>
          <a:prstGeom prst="wedgeRoundRectCallout">
            <a:avLst>
              <a:gd fmla="val -67558" name="adj1"/>
              <a:gd fmla="val 63677" name="adj2"/>
              <a:gd fmla="val 16667" name="adj3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나타나지 않는다!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load 이벤트 </a:t>
            </a:r>
            <a:endParaRPr/>
          </a:p>
        </p:txBody>
      </p:sp>
      <p:sp>
        <p:nvSpPr>
          <p:cNvPr id="490" name="Google Shape;490;p35"/>
          <p:cNvSpPr txBox="1"/>
          <p:nvPr/>
        </p:nvSpPr>
        <p:spPr>
          <a:xfrm>
            <a:off x="559474" y="1707003"/>
            <a:ext cx="8259748" cy="353943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html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lang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"en"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&lt;img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'image'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onload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loadImage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"300"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"summer.jpg"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loadImage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'result'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innerHTML</a:t>
            </a:r>
            <a:endParaRPr b="0" i="0" sz="1400" u="none" cap="none" strike="noStrike">
              <a:solidFill>
                <a:srgbClr val="00108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=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"이미지의 폭="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        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document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r>
              <a:rPr b="0" i="0" lang="en-US" sz="1400" u="none" cap="none" strike="noStrike">
                <a:solidFill>
                  <a:srgbClr val="795E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getElementById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'image'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).</a:t>
            </a:r>
            <a:r>
              <a:rPr b="0" i="0" lang="en-US" sz="1400" u="none" cap="none" strike="noStrike">
                <a:solidFill>
                  <a:srgbClr val="00108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clientWidth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   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&lt;/script&gt;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&lt;div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"result"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3383" y="4168546"/>
            <a:ext cx="3329001" cy="2460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change 이벤트</a:t>
            </a:r>
            <a:endParaRPr/>
          </a:p>
        </p:txBody>
      </p:sp>
      <p:sp>
        <p:nvSpPr>
          <p:cNvPr id="499" name="Google Shape;499;p3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change 이벤트는 입력 필드를 검증할 때 종종 사용된다. 아래 예제에서 사용자가 입력 필드의 내용을 변경하면 toLowerCase() 함수가 호출된다. </a:t>
            </a:r>
            <a:endParaRPr/>
          </a:p>
        </p:txBody>
      </p:sp>
      <p:pic>
        <p:nvPicPr>
          <p:cNvPr id="500" name="Google Shape;5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309" y="2838261"/>
            <a:ext cx="3282584" cy="1389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93107" y="2838261"/>
            <a:ext cx="3282584" cy="1389707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4427145" y="3295461"/>
            <a:ext cx="253497" cy="61563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change 이벤트 </a:t>
            </a:r>
            <a:endParaRPr/>
          </a:p>
        </p:txBody>
      </p:sp>
      <p:sp>
        <p:nvSpPr>
          <p:cNvPr id="509" name="Google Shape;509;p37"/>
          <p:cNvSpPr txBox="1"/>
          <p:nvPr/>
        </p:nvSpPr>
        <p:spPr>
          <a:xfrm>
            <a:off x="559474" y="1707003"/>
            <a:ext cx="8259748" cy="3754874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sub() 	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x = 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"name"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x.value = x.value.toLowerCase();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영어단어: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="text"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="name"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onchange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="sub()"&gt;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입력필드를 벗어나면 소문자로 변경됩니다.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10" name="Google Shape;510;p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2940" y="4716855"/>
            <a:ext cx="3258454" cy="137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입력값의 유효성 검증</a:t>
            </a:r>
            <a:endParaRPr/>
          </a:p>
        </p:txBody>
      </p:sp>
      <p:sp>
        <p:nvSpPr>
          <p:cNvPr id="519" name="Google Shape;519;p4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자바스크립트는 사용한 입력한 데이터를 서버로 보내기 전에, 클라이언트 컴퓨터에서 사전 검증하는데 많이 사용된다.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다음과 같은 회원 가입 페이지에서 아이디를 입력할 때, 정해진 문자 수를 초과할 수도 있고, 이메일 주소를 잘못 입력할 수도 있다. 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20" name="Google Shape;520;p42"/>
          <p:cNvSpPr txBox="1"/>
          <p:nvPr/>
        </p:nvSpPr>
        <p:spPr>
          <a:xfrm>
            <a:off x="612648" y="3146504"/>
            <a:ext cx="8259748" cy="2462213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회원가입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이름: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='text'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='name'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주소: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='text'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='addr'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생일: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='date'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='birthday'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아이디(6-8 문자):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='text'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='username'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이메일: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='email'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='email'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휴대폰: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='tel'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='phone'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='submit'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='확인'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1637" y="3710482"/>
            <a:ext cx="3945188" cy="238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검증내용</a:t>
            </a:r>
            <a:endParaRPr/>
          </a:p>
        </p:txBody>
      </p:sp>
      <p:sp>
        <p:nvSpPr>
          <p:cNvPr id="528" name="Google Shape;528;p43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필수적인 필드를 채웠는가?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유효한 길이의 텍스트를 입력하였는가?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유효한 이메일 주소를 입력하였는가?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유효한 날짜를 입력하였는가? </a:t>
            </a:r>
            <a:endParaRPr/>
          </a:p>
          <a:p>
            <a:pPr indent="-32004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숫자 필드에 텍스트를 입력하지 않았는가?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입력 양식 데이터 접근</a:t>
            </a:r>
            <a:endParaRPr/>
          </a:p>
        </p:txBody>
      </p:sp>
      <p:sp>
        <p:nvSpPr>
          <p:cNvPr id="534" name="Google Shape;534;p4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입력한 입력 양식 데이터에 접근하기 위해서는 입력 양식 안에 있는 필드의 id나 name 속성을 이용하여야 한다. </a:t>
            </a:r>
            <a:endParaRPr/>
          </a:p>
        </p:txBody>
      </p:sp>
      <p:pic>
        <p:nvPicPr>
          <p:cNvPr id="535" name="Google Shape;53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296" y="2553328"/>
            <a:ext cx="6847407" cy="1751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7742" y="4494034"/>
            <a:ext cx="5575441" cy="1879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공백 검증</a:t>
            </a:r>
            <a:endParaRPr/>
          </a:p>
        </p:txBody>
      </p:sp>
      <p:sp>
        <p:nvSpPr>
          <p:cNvPr id="542" name="Google Shape;542;p4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가장 기초적인 데이터 검증은 필드가 비어있는지를 체크하는 것이다.</a:t>
            </a:r>
            <a:endParaRPr/>
          </a:p>
          <a:p>
            <a:pPr indent="-228600" lvl="0" marL="32004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43" name="Google Shape;543;p45"/>
          <p:cNvSpPr txBox="1"/>
          <p:nvPr/>
        </p:nvSpPr>
        <p:spPr>
          <a:xfrm>
            <a:off x="559474" y="2349799"/>
            <a:ext cx="8259748" cy="1367747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&lt;form&gt;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이름:    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'text'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'user'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required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&lt;input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type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'submit'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 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'제출'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&lt;/form&gt;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Google Shape;5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1218" y="4058363"/>
            <a:ext cx="4328004" cy="1579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데이터 길이 검증</a:t>
            </a:r>
            <a:endParaRPr/>
          </a:p>
        </p:txBody>
      </p:sp>
      <p:sp>
        <p:nvSpPr>
          <p:cNvPr id="551" name="Google Shape;551;p46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사용자가 정해진 개수의 문자만을 입력하도록 하는 경우도 많다. 예를 들어서 주민등록번호는 13자리이다.</a:t>
            </a:r>
            <a:endParaRPr/>
          </a:p>
        </p:txBody>
      </p:sp>
      <p:pic>
        <p:nvPicPr>
          <p:cNvPr id="552" name="Google Shape;55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599" y="2612874"/>
            <a:ext cx="3811869" cy="1632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9819" y="2612875"/>
            <a:ext cx="3811869" cy="1632249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6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6"/>
          <p:cNvSpPr/>
          <p:nvPr/>
        </p:nvSpPr>
        <p:spPr>
          <a:xfrm>
            <a:off x="4572000" y="3213980"/>
            <a:ext cx="233459" cy="42551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7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데이터 길이 검증</a:t>
            </a:r>
            <a:endParaRPr/>
          </a:p>
        </p:txBody>
      </p:sp>
      <p:sp>
        <p:nvSpPr>
          <p:cNvPr id="561" name="Google Shape;561;p47"/>
          <p:cNvSpPr txBox="1"/>
          <p:nvPr/>
        </p:nvSpPr>
        <p:spPr>
          <a:xfrm>
            <a:off x="612648" y="1862941"/>
            <a:ext cx="8259748" cy="3970318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checkLength(elem, min, max)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s = elem.value;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(s.length &gt;= min &amp;&amp; s.length &lt;= max)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alert(min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문자와 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+ max +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 문자 사이로 입력해주세요!"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elem.focus();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이름(6-8 문자):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='text'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='name'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='button'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checkLength(document.getElementById(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'name'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), 6, 8)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='확인'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8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선택 검증</a:t>
            </a:r>
            <a:endParaRPr/>
          </a:p>
        </p:txBody>
      </p:sp>
      <p:sp>
        <p:nvSpPr>
          <p:cNvPr id="567" name="Google Shape;567;p48"/>
          <p:cNvSpPr txBox="1"/>
          <p:nvPr>
            <p:ph idx="1" type="body"/>
          </p:nvPr>
        </p:nvSpPr>
        <p:spPr>
          <a:xfrm>
            <a:off x="694129" y="157304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HTML select 요소에서 사용자가 선택을 했는지를 검증하려면 약간의 트릭이 필요하다. 즉 첫 번째 옵션을 도움말로 두는 것이다. </a:t>
            </a:r>
            <a:endParaRPr/>
          </a:p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095" y="2684729"/>
            <a:ext cx="3555475" cy="1522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4396" y="2684729"/>
            <a:ext cx="3555475" cy="1522461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8"/>
          <p:cNvSpPr/>
          <p:nvPr/>
        </p:nvSpPr>
        <p:spPr>
          <a:xfrm>
            <a:off x="72427" y="1321806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8"/>
          <p:cNvSpPr/>
          <p:nvPr/>
        </p:nvSpPr>
        <p:spPr>
          <a:xfrm>
            <a:off x="4644427" y="3168713"/>
            <a:ext cx="249969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9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데이터 길이 검증</a:t>
            </a:r>
            <a:endParaRPr/>
          </a:p>
        </p:txBody>
      </p:sp>
      <p:sp>
        <p:nvSpPr>
          <p:cNvPr id="577" name="Google Shape;577;p49"/>
          <p:cNvSpPr txBox="1"/>
          <p:nvPr/>
        </p:nvSpPr>
        <p:spPr>
          <a:xfrm>
            <a:off x="612648" y="1862941"/>
            <a:ext cx="8259748" cy="4832092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checkSelection(elem, msg)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(elem.value ==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alert(msg);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elem.focus();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과일선택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="fruits"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="required"&gt;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="0"&gt;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선택하세요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사과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="2"&gt;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배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="3"&gt;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바나나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option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select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='button'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checkSelection(document.getElementById(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'fruits'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'하나를 선택하여야 합니다.'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='확인'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2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정규식 </a:t>
            </a:r>
            <a:endParaRPr/>
          </a:p>
        </p:txBody>
      </p:sp>
      <p:sp>
        <p:nvSpPr>
          <p:cNvPr id="583" name="Google Shape;583;p52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정규식(regular expression)이란 특정한 규칙을 가지고 있는 문자열들을 표현하는 수식이다. </a:t>
            </a:r>
            <a:endParaRPr/>
          </a:p>
        </p:txBody>
      </p:sp>
      <p:pic>
        <p:nvPicPr>
          <p:cNvPr id="584" name="Google Shape;5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0999" y="2446382"/>
            <a:ext cx="5282001" cy="1965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3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정규식</a:t>
            </a:r>
            <a:endParaRPr/>
          </a:p>
        </p:txBody>
      </p:sp>
      <p:pic>
        <p:nvPicPr>
          <p:cNvPr id="590" name="Google Shape;590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255" y="1390076"/>
            <a:ext cx="7408155" cy="300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255" y="4392292"/>
            <a:ext cx="7216822" cy="237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4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정규식의 예</a:t>
            </a:r>
            <a:endParaRPr/>
          </a:p>
        </p:txBody>
      </p:sp>
      <p:sp>
        <p:nvSpPr>
          <p:cNvPr id="597" name="Google Shape;597;p54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만약 계좌번호를 검증한다고 가정하자(계좌번호는 10자리의 숫자로 되어 있다고 가정하자). 이것은 정규식 /^\d{10}$/으로 나타낼 수 있다.</a:t>
            </a:r>
            <a:endParaRPr/>
          </a:p>
        </p:txBody>
      </p:sp>
      <p:pic>
        <p:nvPicPr>
          <p:cNvPr id="598" name="Google Shape;59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086" y="2503708"/>
            <a:ext cx="7029827" cy="16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5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예제: 숫자 여부 검사하기</a:t>
            </a:r>
            <a:endParaRPr/>
          </a:p>
        </p:txBody>
      </p:sp>
      <p:sp>
        <p:nvSpPr>
          <p:cNvPr id="604" name="Google Shape;604;p55"/>
          <p:cNvSpPr txBox="1"/>
          <p:nvPr>
            <p:ph idx="1" type="body"/>
          </p:nvPr>
        </p:nvSpPr>
        <p:spPr>
          <a:xfrm>
            <a:off x="612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en-US"/>
              <a:t>숫자로만 된 데이터를 검증하는 가장 좋은 방법은 정규 표현식을 사용하는 것이다. /^[0-9]+$/은 문자열이 모두 숫자로만 되어 있어야 일치한다</a:t>
            </a:r>
            <a:endParaRPr/>
          </a:p>
        </p:txBody>
      </p:sp>
      <p:pic>
        <p:nvPicPr>
          <p:cNvPr id="605" name="Google Shape;60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774" y="2856369"/>
            <a:ext cx="3351163" cy="143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7332" y="2856369"/>
            <a:ext cx="3351163" cy="1434974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5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5"/>
          <p:cNvSpPr/>
          <p:nvPr/>
        </p:nvSpPr>
        <p:spPr>
          <a:xfrm>
            <a:off x="4282289" y="3494638"/>
            <a:ext cx="199176" cy="32592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6C84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6"/>
          <p:cNvSpPr txBox="1"/>
          <p:nvPr>
            <p:ph type="title"/>
          </p:nvPr>
        </p:nvSpPr>
        <p:spPr>
          <a:xfrm>
            <a:off x="612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</a:pPr>
            <a:r>
              <a:rPr lang="en-US"/>
              <a:t>예제 소스</a:t>
            </a:r>
            <a:endParaRPr/>
          </a:p>
        </p:txBody>
      </p:sp>
      <p:sp>
        <p:nvSpPr>
          <p:cNvPr id="614" name="Google Shape;614;p56"/>
          <p:cNvSpPr txBox="1"/>
          <p:nvPr/>
        </p:nvSpPr>
        <p:spPr>
          <a:xfrm>
            <a:off x="612648" y="1862941"/>
            <a:ext cx="8259748" cy="3970318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kx="-1200000" rotWithShape="0" algn="bl" sy="23000">
              <a:srgbClr val="000000">
                <a:alpha val="2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function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checkNumeric(elem, msg)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exp =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/^[0-9]+$/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(elem.value.match(exp))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true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alert(msg);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elem.focus();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false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script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전화번호(-없이 입력):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='text'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='phone'/&gt;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input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type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='button'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onclick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checkNumeric(document.getElementById(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'phone'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), </a:t>
            </a:r>
            <a:r>
              <a:rPr b="0" i="0" lang="en-US" sz="1400" u="none" cap="none" strike="noStrike">
                <a:solidFill>
                  <a:srgbClr val="A3151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'숫자만 입력하세요!'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1400" u="none" cap="none" strike="noStrik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value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='확인'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4"/>
          <p:cNvSpPr txBox="1"/>
          <p:nvPr>
            <p:ph type="title"/>
          </p:nvPr>
        </p:nvSpPr>
        <p:spPr>
          <a:xfrm>
            <a:off x="1260475" y="371475"/>
            <a:ext cx="76231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wentieth Century"/>
              <a:buNone/>
            </a:pPr>
            <a:r>
              <a:rPr lang="en-US" sz="3600"/>
              <a:t>Q &amp; A</a:t>
            </a:r>
            <a:endParaRPr/>
          </a:p>
        </p:txBody>
      </p:sp>
      <p:pic>
        <p:nvPicPr>
          <p:cNvPr descr="MCj02406990000[1]" id="620" name="Google Shape;62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688" y="1978025"/>
            <a:ext cx="2797175" cy="2024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165020000[1]" id="621" name="Google Shape;621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9913" y="2103438"/>
            <a:ext cx="1706562" cy="16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