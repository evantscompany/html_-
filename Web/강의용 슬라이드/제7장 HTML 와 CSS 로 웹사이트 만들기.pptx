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6934200" cy="9220200"/>
  <p:embeddedFontLst>
    <p:embeddedFont>
      <p:font typeface="Century Schoolbook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36" roundtripDataSignature="AMtx7mh67a5WKuno1mlc9lZrD0vbj/GR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enturySchoolbook-bold.fntdata"/><Relationship Id="rId10" Type="http://schemas.openxmlformats.org/officeDocument/2006/relationships/slide" Target="slides/slide5.xml"/><Relationship Id="rId32" Type="http://schemas.openxmlformats.org/officeDocument/2006/relationships/font" Target="fonts/CenturySchoolbook-regular.fntdata"/><Relationship Id="rId13" Type="http://schemas.openxmlformats.org/officeDocument/2006/relationships/slide" Target="slides/slide8.xml"/><Relationship Id="rId35" Type="http://schemas.openxmlformats.org/officeDocument/2006/relationships/font" Target="fonts/CenturySchoolbook-boldItalic.fntdata"/><Relationship Id="rId12" Type="http://schemas.openxmlformats.org/officeDocument/2006/relationships/slide" Target="slides/slide7.xml"/><Relationship Id="rId34" Type="http://schemas.openxmlformats.org/officeDocument/2006/relationships/font" Target="fonts/CenturySchoolbook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3f1c27970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3f1c27970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3f1c27970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3f1c27970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3f1c27970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3f1c27970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3f1c27970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3f1c27970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3f1c27970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3f1c27970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3f1c27970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3f1c27970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3f1c27970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3f1c27970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3f1c27970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3f1c27970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3f1c27970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3f1c27970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3f1c27970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3f1c27970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3f1c27970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3f1c27970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3f1c27970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3f1c27970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3f1c27970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3f1c27970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3f1c27970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3f1c27970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3f1c27970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3f1c27970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3f1c27970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g3a3f1c27970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g3a3f1c27970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3f1c27970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3f1c27970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3f1c27970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1495425" y="1622425"/>
            <a:ext cx="7124564" cy="1938992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803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7. </a:t>
            </a:r>
            <a:endParaRPr sz="4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HTML와 CSS로 웹사이트 만들기</a:t>
            </a:r>
            <a:endParaRPr/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1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웹사이트 작성</a:t>
            </a:r>
            <a:endParaRPr/>
          </a:p>
        </p:txBody>
      </p:sp>
      <p:pic>
        <p:nvPicPr>
          <p:cNvPr descr="EMB00000a945ef5" id="69" name="Google Shape;6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475" y="1400174"/>
            <a:ext cx="7791450" cy="4505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웹사이트 구축 과정</a:t>
            </a:r>
            <a:endParaRPr/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13" y="2286000"/>
            <a:ext cx="810577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내비게이션 구조도</a:t>
            </a:r>
            <a:endParaRPr/>
          </a:p>
        </p:txBody>
      </p:sp>
      <p:pic>
        <p:nvPicPr>
          <p:cNvPr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0163" y="1281113"/>
            <a:ext cx="68484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663" y="2738438"/>
            <a:ext cx="8239125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홈페이지 레이아웃</a:t>
            </a:r>
            <a:endParaRPr/>
          </a:p>
        </p:txBody>
      </p:sp>
      <p:pic>
        <p:nvPicPr>
          <p:cNvPr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4038" y="1428750"/>
            <a:ext cx="5648325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헤더</a:t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666750" y="1000124"/>
            <a:ext cx="8212138" cy="1295401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&lt;header&gt;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&lt;h1&gt;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&lt;img src="images/shop.png" width="50" height="50" /&gt;&lt;a href="index.html"&gt;Web Shop&lt;/a&gt;&lt;/h1&gt;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&lt;/header&gt;</a:t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a945efe"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4714" y="2655888"/>
            <a:ext cx="3644174" cy="1206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내비게이션 메뉴</a:t>
            </a:r>
            <a:endParaRPr/>
          </a:p>
        </p:txBody>
      </p:sp>
      <p:sp>
        <p:nvSpPr>
          <p:cNvPr id="101" name="Google Shape;101;p7"/>
          <p:cNvSpPr txBox="1"/>
          <p:nvPr/>
        </p:nvSpPr>
        <p:spPr>
          <a:xfrm>
            <a:off x="666750" y="1000124"/>
            <a:ext cx="8212138" cy="2009776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&lt;nav&gt;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&lt;ul&gt;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href="index.html"&gt;Home&lt;/a&gt;&lt;/li&gt;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href="index.html"&gt;About Us&lt;/a&gt;&lt;/li&gt;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href="index.html"&gt;News&lt;/a&gt;&lt;/li&gt;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href="index.html"&gt;My Account&lt;/a&gt;&lt;/li&gt;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href="index.html"&gt;Contacts&lt;/a&gt;&lt;/li&gt;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&lt;/ul&gt;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&lt;/nav&gt;</a:t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a945f03"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6025" y="3246437"/>
            <a:ext cx="2313692" cy="1601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왼쪽 수직 메뉴</a:t>
            </a:r>
            <a:endParaRPr/>
          </a:p>
        </p:txBody>
      </p:sp>
      <p:sp>
        <p:nvSpPr>
          <p:cNvPr id="108" name="Google Shape;108;p8"/>
          <p:cNvSpPr txBox="1"/>
          <p:nvPr/>
        </p:nvSpPr>
        <p:spPr>
          <a:xfrm>
            <a:off x="666750" y="1000124"/>
            <a:ext cx="8212138" cy="2714626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&lt;aside id="left"&gt;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&lt;h4&gt;카테고리&lt;/h4&gt;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&lt;ul&gt;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target="iframe1" href="computer.html"&gt;컴퓨터&lt;/a&gt;&lt;/li&gt;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target="iframe1" href="clothing.html"&gt;의류&lt;/a&gt;&lt;/li&gt;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target="iframe1" href="music.html"&gt;음악&lt;/a&gt;&lt;/li&gt;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target="iframe1" href="movie.html"&gt;영화&lt;/a&gt;&lt;/li&gt;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target="iframe1" href="computer.html"&gt;스포츠/레저&lt;/a&gt;&lt;/li&gt;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target="iframe1" href="computer.html"&gt;가구/인테리어&lt;/a&gt;&lt;/li&gt;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&lt;li&gt;&lt;a target="iframe1" href="computer.html"&gt;식품&lt;/a&gt;&lt;/li&gt;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&lt;/ul&gt;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&lt;/aside&gt;</a:t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a945f08"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0" y="3906838"/>
            <a:ext cx="2209799" cy="2406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섹션</a:t>
            </a:r>
            <a:endParaRPr/>
          </a:p>
        </p:txBody>
      </p:sp>
      <p:sp>
        <p:nvSpPr>
          <p:cNvPr id="115" name="Google Shape;115;p9"/>
          <p:cNvSpPr txBox="1"/>
          <p:nvPr/>
        </p:nvSpPr>
        <p:spPr>
          <a:xfrm>
            <a:off x="666750" y="1000124"/>
            <a:ext cx="8212138" cy="1524001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&lt;section id="main"&gt;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&lt;article id="article1"&gt;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&lt;iframe name="iframe1" src="computer.html" width="440" height="300" seamless&gt;&lt;/iframe&gt;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&lt;/article&gt;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&lt;/section&gt;</a:t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a945f0c" id="116" name="Google Shape;1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637" y="3128963"/>
            <a:ext cx="3541911" cy="2233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오른쪽 수직 메뉴</a:t>
            </a:r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666750" y="1000124"/>
            <a:ext cx="8212138" cy="4362451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&lt;aside id="right"&gt;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&lt;div id="shopcart"&gt;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&lt;h4&gt;Shopping Cart&lt;/h4&gt;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현재 쇼핑카트에 물품이 없습니다.&lt;br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&lt;a href="shopcart.html"&gt;쇼핑카트 보기&lt;/a&gt;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&lt;/div&gt;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&lt;div id="login"&gt;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&lt;h4&gt;Log In&lt;/h4&gt;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&lt;form action="#"&gt;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아이디               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type="text" /&gt;&lt;br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패스워드               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type="password" /&gt;&lt;br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type="submit" value="로그인"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type="reset" value="초기화" /&gt;&lt;br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&lt;a href="register.html" target="_blank" id="register"&gt;회원가입&lt;/a&gt;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&lt;a href="#" id="forgot"&gt;비밀번호분실&lt;/a&gt;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&lt;/form&gt;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&lt;/div&gt;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&lt;/aside&gt;</a:t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a945f12"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5575" y="1573213"/>
            <a:ext cx="2278063" cy="2169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바닥글</a:t>
            </a:r>
            <a:endParaRPr b="1" i="1"/>
          </a:p>
        </p:txBody>
      </p:sp>
      <p:sp>
        <p:nvSpPr>
          <p:cNvPr id="129" name="Google Shape;129;p11"/>
          <p:cNvSpPr txBox="1"/>
          <p:nvPr/>
        </p:nvSpPr>
        <p:spPr>
          <a:xfrm>
            <a:off x="675298" y="1152524"/>
            <a:ext cx="8212138" cy="57308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&lt;footer&gt;Copyright (c) 2013 Web Shop&lt;/footer&gt;</a:t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a945f16" id="130" name="Google Shape;1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5437" y="2159000"/>
            <a:ext cx="3481999" cy="3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회원 가입 페이지</a:t>
            </a:r>
            <a:endParaRPr/>
          </a:p>
        </p:txBody>
      </p:sp>
      <p:sp>
        <p:nvSpPr>
          <p:cNvPr id="136" name="Google Shape;136;p1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37" name="Google Shape;137;p12"/>
          <p:cNvSpPr txBox="1"/>
          <p:nvPr/>
        </p:nvSpPr>
        <p:spPr>
          <a:xfrm>
            <a:off x="666750" y="1000124"/>
            <a:ext cx="8212138" cy="4686301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body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100%;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#F3F1E9;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label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display: inline-block;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120px;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input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display: inline-block;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160px;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회원 가입 페이지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666750" y="1000124"/>
            <a:ext cx="8212138" cy="4362451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id="page-wrap"&gt;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&lt;form method="post" action="process.jsp"&gt;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&lt;fieldset&gt;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&lt;legend&gt;회원정보입력&lt;/legend&gt;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&lt;label for="name"&gt;아이디&lt;/label&gt;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type="text" name="name" id="text1"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&lt;button&gt;중복검사&lt;/button&gt;&lt;br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&lt;label for="password1"&gt;패스워드&lt;/label&gt;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type="password" name="password1" /&gt;&lt;br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&lt;label for="password2"&gt;패스워드 확인&lt;/label&gt;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type="password" name="password2" /&gt;&lt;br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&lt;label for="name"&gt;이름&lt;/label&gt;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type="text" name="name" /&gt;&lt;br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&lt;label for="tel"&gt;휴대폰 번호&lt;/label&gt;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type="tel" name="tel"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&lt;label for="email"&gt;이메일&lt;/label&gt;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type="email" name="email"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&lt;br /&gt;</a:t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회원 가입 페이지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666750" y="1000125"/>
            <a:ext cx="8212138" cy="3648076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&lt;label for="dob"&gt;생일&lt;/label&gt;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type="date" name="dob"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&lt;label for="url"&gt;홈페이지&lt;/label&gt;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type="url" name="url"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type="radio" name="gender" value="Male"&gt;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남성&lt;br&gt;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&lt;input type="radio" name="gender" value="Female"&gt;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여성&lt;br&gt;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&lt;/fieldset&gt;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&lt;input type="submit" name="submit" value="제출"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&lt;input type="reset" name="reset" value="초기화"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&lt;/form&gt;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&lt;/div&gt;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/>
          </a:p>
        </p:txBody>
      </p:sp>
      <p:pic>
        <p:nvPicPr>
          <p:cNvPr descr="EMB00000a945f19"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1" y="3748088"/>
            <a:ext cx="3576637" cy="299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상품 정보 페이지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666750" y="1000124"/>
            <a:ext cx="8212138" cy="43529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#product1, #product2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200px;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float: left;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1px dotted red;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id="product1"&gt;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&lt;img src="computer.png" width="100" height="100"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&lt;p&gt;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심플하고 슬림한 본체에 코어i5 3470과지포스 GT630을 장착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CPU: 인텔 코어i5 3470 (아이비브릿지 3세대) 사용&lt;br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가격: 1,200,000원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&lt;/p&gt;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&lt;input type="button" value="쇼핑카트에 추가하기"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&lt;/div&gt;</a:t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상품 정보 페이지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66750" y="1000125"/>
            <a:ext cx="8212138" cy="264795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&lt;div id="product2"&gt;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&lt;img src="images/notebook.png" width="100" height="100"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&lt;p&gt;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Full-HD로 선명한 화면, ISP패널로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시야각도 좋다!  CPU: 인텔 코어i7 3630 QM, CPU: 인텔 코어i7 3630 QM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&lt;br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가격: 1,200,000원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&lt;/p&gt;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&lt;input type="button" value="쇼핑카트에 추가하기"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&lt;/div&gt;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/>
          </a:p>
        </p:txBody>
      </p:sp>
      <p:pic>
        <p:nvPicPr>
          <p:cNvPr descr="EMB00000a945f1d" id="163" name="Google Shape;1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6526" y="3065463"/>
            <a:ext cx="2392362" cy="3664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쇼핑카트 페이지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66750" y="1000125"/>
            <a:ext cx="8212138" cy="432435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&lt;title&gt;쇼핑 카트&lt;/title&gt;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body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height: 100%;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#F3F1E9;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table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100%;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border-collapse: collapse;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text-align: center;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table caption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color: red;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text-decoration: underline;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a945f23"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3716" y="3875087"/>
            <a:ext cx="3855172" cy="2525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쇼핑카트 페이지</a:t>
            </a:r>
            <a:endParaRPr/>
          </a:p>
        </p:txBody>
      </p:sp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66750" y="1000125"/>
            <a:ext cx="8212138" cy="535305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&lt;form action="#"&gt;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&lt;table border="1"&gt;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&lt;caption&gt;Shopping Cart&lt;/caption&gt;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&lt;tr&gt;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&lt;th&gt;품목&lt;/th&gt;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&lt;th&gt;가격&lt;/th&gt;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&lt;th&gt;수량&lt;/th&gt;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&lt;th&gt;합계&lt;/th&gt;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&lt;/tr&gt;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&lt;tr&gt;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&lt;td&gt;컴퓨터 세트&lt;/td&gt;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&lt;td&gt;2,000,000원&lt;/td&gt;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&lt;input type="number" min="0" step="1" value="0"&gt;&lt;/td&gt;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&lt;input type="text" size="6" value="0" /&gt;&lt;/td&gt;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&lt;/tr&gt;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&lt;tr&gt;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&lt;td&gt;티셔츠&lt;/td&gt;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&lt;td&gt;50,000원&lt;/td&gt;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&lt;input type="number" min="0" step="1" value="0"&gt;&lt;/td&gt;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&lt;input type="text" size="6" value="0" /&gt;&lt;/td&gt;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&lt;/tr&gt;</a:t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쇼핑카트 페이지</a:t>
            </a:r>
            <a:endParaRPr/>
          </a:p>
        </p:txBody>
      </p:sp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66750" y="1000125"/>
            <a:ext cx="8212138" cy="49149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&lt;tr&gt;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&lt;td&gt;음악파일&lt;/td&gt;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&lt;td&gt;1,000원&lt;/td&gt;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&lt;input type="number" min="0" step="1" value="0"&gt;&lt;/td&gt;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&lt;input type="text" size="6" value="0" /&gt;&lt;/td&gt;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&lt;/tr&gt;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&lt;tr&gt;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&lt;td&gt;영화파일&lt;/td&gt;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&lt;td&gt;5,000원&lt;/td&gt;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&lt;input type="number" min="0" step="1" value="0"&gt;&lt;/td&gt;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&lt;td&gt;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&lt;input type="text" size="6" value="0" /&gt;&lt;/td&gt;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&lt;/tr&gt;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&lt;/table&gt;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&lt;input type="button" value="계산"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&lt;input type="submit" value="구매"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&lt;input type="reset" value="초기화" /&gt;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&lt;/form&gt;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&lt;a href="main.html"&gt;Back to Home&lt;/a&gt;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외부 CSS 파일</a:t>
            </a:r>
            <a:endParaRPr/>
          </a:p>
        </p:txBody>
      </p:sp>
      <p:pic>
        <p:nvPicPr>
          <p:cNvPr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683" y="1371600"/>
            <a:ext cx="8362117" cy="35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파일</a:t>
            </a:r>
            <a:endParaRPr/>
          </a:p>
        </p:txBody>
      </p:sp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66750" y="1000124"/>
            <a:ext cx="8212138" cy="540067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/*border: 1px solid red;*/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padding: 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margin: 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#F3F1E9;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header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height: 60px;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margin: 10px;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nav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margin: 10px;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nav ul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list-style: none;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text-align: center;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border-top: 1px solid red;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border-bottom: 1px solid red;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padding: 10px 0;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파일</a:t>
            </a:r>
            <a:endParaRPr/>
          </a:p>
        </p:txBody>
      </p:sp>
      <p:sp>
        <p:nvSpPr>
          <p:cNvPr id="203" name="Google Shape;203;p2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66750" y="1000125"/>
            <a:ext cx="8212138" cy="49149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nav ul li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display: inline;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text-transform: uppercase;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padding: 0 10px;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letter-spacing: 10px;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nav ul li a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text-decoration: none;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color: black;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nav ul li a:hover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    text-decoration: underline;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aside#left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width: 175px;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margin-top: 20px;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float: left;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파일</a:t>
            </a:r>
            <a:endParaRPr/>
          </a:p>
        </p:txBody>
      </p:sp>
      <p:sp>
        <p:nvSpPr>
          <p:cNvPr id="210" name="Google Shape;210;p2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666750" y="1000125"/>
            <a:ext cx="8212138" cy="49149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#left h4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font-family: Arial, Helvetica, sans-serif;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font-size: 20px;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#left ul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font-family: Arial, Helvetica, sans-serif;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font-size: 15px;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color: #FFF;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list-style: none;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text-indent: 15px;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#left ul li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background: #3f3f3f;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line-height: 28px;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border-bottom: 1px solid #333;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#left ul li a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text-decoration: none;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color: #FFF;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display: block;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파일</a:t>
            </a:r>
            <a:endParaRPr/>
          </a:p>
        </p:txBody>
      </p:sp>
      <p:sp>
        <p:nvSpPr>
          <p:cNvPr id="217" name="Google Shape;217;p2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666750" y="1000125"/>
            <a:ext cx="8212138" cy="49149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#left ul li a:hover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    background: #d40203;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#left ul li#active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background: #d40203;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#main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font-family: Arial, Helvetica, sans-serif;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font-size: 12px;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color: #464646;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overflow: hidden;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float: left;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width: 430px;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#shopcart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margin-bottom: 20px;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#login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margin-top: 40px;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CSS 파일</a:t>
            </a:r>
            <a:endParaRPr/>
          </a:p>
        </p:txBody>
      </p:sp>
      <p:sp>
        <p:nvSpPr>
          <p:cNvPr id="224" name="Google Shape;224;p2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666750" y="1000125"/>
            <a:ext cx="8212138" cy="49149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aside#right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padding: 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margin-left: 10px;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width: 200px;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float: left;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footer {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width: 100%;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height: 50px;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clear: both;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background-image: url(images/footer_bg.gif);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background-position: top left;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background-repeat: repeat-x;</a:t>
            </a:r>
            <a:endParaRPr/>
          </a:p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type="title"/>
          </p:nvPr>
        </p:nvSpPr>
        <p:spPr>
          <a:xfrm>
            <a:off x="1260475" y="371475"/>
            <a:ext cx="7623175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Q &amp; A</a:t>
            </a:r>
            <a:endParaRPr/>
          </a:p>
        </p:txBody>
      </p:sp>
      <p:pic>
        <p:nvPicPr>
          <p:cNvPr descr="MCj02406990000[1]" id="231" name="Google Shape;2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688" y="1978025"/>
            <a:ext cx="2797175" cy="2024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4165020000[1]" id="232" name="Google Shape;23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9913" y="2103438"/>
            <a:ext cx="1706562" cy="16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