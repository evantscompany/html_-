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144000"/>
  <p:notesSz cx="6934200" cy="9220200"/>
  <p:embeddedFontLst>
    <p:embeddedFont>
      <p:font typeface="Century Schoolbook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51" roundtripDataSignature="AMtx7mh9/Gkgtlmtb2RropCpE17RbHCD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Schoolbook-bold.fntdata"/><Relationship Id="rId47" Type="http://schemas.openxmlformats.org/officeDocument/2006/relationships/font" Target="fonts/CenturySchoolbook-regular.fntdata"/><Relationship Id="rId49" Type="http://schemas.openxmlformats.org/officeDocument/2006/relationships/font" Target="fonts/CenturySchoolboo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CenturySchoolbook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0fb95bc71_0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70fb95bc71_0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0fb95bc71_0_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70fb95bc71_0_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0fb95bc71_0_1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70fb95bc71_0_1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0fb95bc71_0_2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70fb95bc71_0_2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0fb95bc71_0_3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70fb95bc71_0_3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0fb95bc71_0_4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70fb95bc71_0_4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0fb95bc71_0_5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70fb95bc71_0_5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0fb95bc71_0_6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70fb95bc71_0_6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0fb95bc71_0_7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70fb95bc71_0_7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0fb95bc71_0_7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70fb95bc71_0_7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0fb95bc71_0_8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70fb95bc71_0_8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0fb95bc71_0_9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70fb95bc71_0_9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0fb95bc71_0_11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70fb95bc71_0_11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0fb95bc71_0_11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70fb95bc71_0_11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0fb95bc71_0_12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70fb95bc71_0_12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0fb95bc71_0_12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70fb95bc71_0_12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0fb95bc71_0_13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70fb95bc71_0_13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0fb95bc71_0_14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70fb95bc71_0_14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0fb95bc71_0_17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70fb95bc71_0_17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0fb95bc71_0_18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70fb95bc71_0_18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0fb95bc71_0_18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70fb95bc71_0_18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0fb95bc71_0_19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70fb95bc71_0_19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0fb95bc71_0_19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70fb95bc71_0_19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0fb95bc71_0_20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70fb95bc71_0_20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0fb95bc71_0_21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70fb95bc71_0_21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0fb95bc71_0_21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370fb95bc71_0_21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0fb95bc71_0_22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70fb95bc71_0_22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0fb95bc71_0_23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70fb95bc71_0_23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0fb95bc71_0_23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370fb95bc71_0_23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0fb95bc71_0_24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70fb95bc71_0_24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0fb95bc71_0_24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370fb95bc71_0_24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0fb95bc71_0_25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70fb95bc71_0_25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0fb95bc71_0_26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370fb95bc71_0_26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0fb95bc71_0_26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370fb95bc71_0_26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0fb95bc71_0_27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70fb95bc71_0_27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0fb95bc71_0_27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70fb95bc71_0_27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0fb95bc71_0_28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370fb95bc71_0_28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2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1c97809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1c97809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1c97809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1c97809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1c97809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1c97809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1c97809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1c97809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1c97809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1c97809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1c97809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1c97809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1c97809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1c97809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1c97809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1c97809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1c97809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1c97809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1c97809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1c97809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1c97809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1c97809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1c97809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1c97809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1c97809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1c97809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1c97809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1c97809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1c97809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1c97809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1c97809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3f1c97809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3f1c97809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1c97809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1c97809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1c97809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700" cy="1939500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14.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HTML5의 SVG, 드래그앤 드롭,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위치정보, 웹 워커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SVG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SVG(Scalable Vector Graphics)</a:t>
            </a:r>
            <a:r>
              <a:rPr lang="en-US"/>
              <a:t>는 XML-기반의 벡터 이미지 포맷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웹에서 벡터-기반의 그래픽을 정의하는데 사용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1999년부터 W3C에 의하여 표준</a:t>
            </a:r>
            <a:endParaRPr/>
          </a:p>
        </p:txBody>
      </p:sp>
      <p:pic>
        <p:nvPicPr>
          <p:cNvPr descr="EMB000016204472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3282950"/>
            <a:ext cx="5169231" cy="171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SVG의 장점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SVG 그래픽은 확대되거나 크기가 변경되어도 품질이 손상되지 않는다.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SVG 파일에서 모든 요소와 속성은 애니메이션이 가능하다.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SVG 이미지는 어떤 텍스트 에디터로도 생성하고 편집할 수 있다.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EMB000016204478"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012" y="3105149"/>
            <a:ext cx="4105275" cy="2596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0fb95bc71_0_0"/>
          <p:cNvSpPr txBox="1"/>
          <p:nvPr/>
        </p:nvSpPr>
        <p:spPr>
          <a:xfrm>
            <a:off x="465925" y="1832950"/>
            <a:ext cx="8212200" cy="2394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&lt;circle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"80"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"80"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"black"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stroke-width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"blue"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83" name="Google Shape;83;g370fb95bc71_0_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원 예제</a:t>
            </a:r>
            <a:endParaRPr/>
          </a:p>
        </p:txBody>
      </p:sp>
      <p:sp>
        <p:nvSpPr>
          <p:cNvPr id="84" name="Google Shape;84;g370fb95bc71_0_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370fb95bc7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677" y="4227214"/>
            <a:ext cx="3439392" cy="1729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0fb95bc71_0_7"/>
          <p:cNvSpPr txBox="1"/>
          <p:nvPr/>
        </p:nvSpPr>
        <p:spPr>
          <a:xfrm>
            <a:off x="465931" y="1832949"/>
            <a:ext cx="8212200" cy="2152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"600"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&lt;rect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"fill: rgb(72, 180, 117);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stroke-width: 3; stroke: rgb(12, 0, 0)"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1" name="Google Shape;91;g370fb95bc71_0_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사각형 예제</a:t>
            </a:r>
            <a:endParaRPr/>
          </a:p>
        </p:txBody>
      </p:sp>
      <p:sp>
        <p:nvSpPr>
          <p:cNvPr id="92" name="Google Shape;92;g370fb95bc71_0_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70fb95bc71_0_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g370fb95bc71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89" y="4272324"/>
            <a:ext cx="3522282" cy="16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0fb95bc71_0_15"/>
          <p:cNvSpPr txBox="1"/>
          <p:nvPr/>
        </p:nvSpPr>
        <p:spPr>
          <a:xfrm>
            <a:off x="465931" y="1832949"/>
            <a:ext cx="8212200" cy="2152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&lt;ellipse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"80"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"fill:blue; stroke:black; stroke-width:2;"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0" name="Google Shape;100;g370fb95bc71_0_1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타원 예제</a:t>
            </a:r>
            <a:endParaRPr/>
          </a:p>
        </p:txBody>
      </p:sp>
      <p:sp>
        <p:nvSpPr>
          <p:cNvPr id="101" name="Google Shape;101;g370fb95bc71_0_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70fb95bc71_0_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0fb95bc71_0_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g370fb95bc71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2325" y="4370906"/>
            <a:ext cx="3272961" cy="135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0fb95bc71_0_24"/>
          <p:cNvSpPr txBox="1"/>
          <p:nvPr/>
        </p:nvSpPr>
        <p:spPr>
          <a:xfrm>
            <a:off x="465931" y="1832949"/>
            <a:ext cx="8212200" cy="2152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&lt;line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x2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"100"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"stroke: green; stroke-width: 5"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0" name="Google Shape;110;g370fb95bc71_0_2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직선 예제</a:t>
            </a:r>
            <a:endParaRPr/>
          </a:p>
        </p:txBody>
      </p:sp>
      <p:sp>
        <p:nvSpPr>
          <p:cNvPr id="111" name="Google Shape;111;g370fb95bc71_0_2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0fb95bc71_0_2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70fb95bc71_0_2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70fb95bc71_0_2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70fb95bc71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8417" y="4373924"/>
            <a:ext cx="3243714" cy="133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0fb95bc71_0_34"/>
          <p:cNvSpPr txBox="1"/>
          <p:nvPr/>
        </p:nvSpPr>
        <p:spPr>
          <a:xfrm>
            <a:off x="465931" y="1832949"/>
            <a:ext cx="8212200" cy="2152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&lt;polygon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points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"100,20 250,160 60,210"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"fill: red; stroke: black; stroke-width: 3"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g370fb95bc71_0_3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다각형 예제</a:t>
            </a:r>
            <a:endParaRPr/>
          </a:p>
        </p:txBody>
      </p:sp>
      <p:sp>
        <p:nvSpPr>
          <p:cNvPr id="122" name="Google Shape;122;g370fb95bc71_0_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70fb95bc71_0_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70fb95bc71_0_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70fb95bc71_0_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70fb95bc71_0_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70fb95bc71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7661" y="4200478"/>
            <a:ext cx="2838387" cy="1830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0fb95bc71_0_45"/>
          <p:cNvSpPr txBox="1"/>
          <p:nvPr/>
        </p:nvSpPr>
        <p:spPr>
          <a:xfrm>
            <a:off x="465931" y="1832950"/>
            <a:ext cx="8212200" cy="1743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&lt;text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font-family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"Arial"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font-size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"green"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Hello, out there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&lt;/text&gt;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3" name="Google Shape;133;g370fb95bc71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텍스트 예제</a:t>
            </a:r>
            <a:endParaRPr/>
          </a:p>
        </p:txBody>
      </p:sp>
      <p:sp>
        <p:nvSpPr>
          <p:cNvPr id="134" name="Google Shape;134;g370fb95bc71_0_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70fb95bc71_0_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70fb95bc71_0_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70fb95bc71_0_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70fb95bc71_0_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0fb95bc71_0_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70fb95bc71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7137" y="4412024"/>
            <a:ext cx="2935655" cy="1164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0fb95bc71_0_5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SVG 애니메이션</a:t>
            </a:r>
            <a:endParaRPr/>
          </a:p>
        </p:txBody>
      </p:sp>
      <p:sp>
        <p:nvSpPr>
          <p:cNvPr id="146" name="Google Shape;146;g370fb95bc71_0_5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&lt;rect&gt; 요소 안에 &lt;animate&gt;를 추가하였다. &lt;animate&gt; 요소는 다음과 같은 속성을 포함한다.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attributeName - 이 속성은 애니메이션에서 변화되는 속성을 지정한다.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from – 속성이 시작되는 값을 지정한다.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to – 속성이 끝나는 값을 지정한다. 이 예제에서는 사각형의 높이는 증가된다.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dur - 이 속성은 애니메이션의 지속 시간을 지정한다. 예를 들어, 01:30은 동안 1 분 30 초를 나타낸다. 2s는 2초, 2h는 2시간을 의미한다.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0fb95bc71_0_6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애니메이션 #1</a:t>
            </a:r>
            <a:endParaRPr/>
          </a:p>
        </p:txBody>
      </p:sp>
      <p:sp>
        <p:nvSpPr>
          <p:cNvPr id="152" name="Google Shape;152;g370fb95bc71_0_62"/>
          <p:cNvSpPr txBox="1"/>
          <p:nvPr/>
        </p:nvSpPr>
        <p:spPr>
          <a:xfrm>
            <a:off x="612648" y="1906026"/>
            <a:ext cx="8212200" cy="1371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&lt;rect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&lt;animate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attributeName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"height"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dur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"10s"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&lt;/rect&gt;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53" name="Google Shape;153;g370fb95bc71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862" y="3964454"/>
            <a:ext cx="3171825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70fb95bc71_0_6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70fb95bc71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4905" y="4030855"/>
            <a:ext cx="3703214" cy="171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0fb95bc71_0_7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애니메이션 #2</a:t>
            </a:r>
            <a:endParaRPr/>
          </a:p>
        </p:txBody>
      </p:sp>
      <p:sp>
        <p:nvSpPr>
          <p:cNvPr id="161" name="Google Shape;161;g370fb95bc71_0_70"/>
          <p:cNvSpPr txBox="1"/>
          <p:nvPr/>
        </p:nvSpPr>
        <p:spPr>
          <a:xfrm>
            <a:off x="612648" y="1794471"/>
            <a:ext cx="8212200" cy="1676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&lt;circle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"60"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"slategrey"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"#000"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stroke-width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"7"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&lt;animate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attributeName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dur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"3s"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&lt;animate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attributeName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"cx"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to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dur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"3s"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&lt;/circle&gt;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62" name="Google Shape;162;g370fb95bc71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44" y="3960891"/>
            <a:ext cx="3694226" cy="1534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70fb95bc71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230" y="3960891"/>
            <a:ext cx="3694226" cy="153456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70fb95bc71_0_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0fb95bc71_0_7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viewBox 속성</a:t>
            </a:r>
            <a:endParaRPr/>
          </a:p>
        </p:txBody>
      </p:sp>
      <p:sp>
        <p:nvSpPr>
          <p:cNvPr id="170" name="Google Shape;170;g370fb95bc71_0_78"/>
          <p:cNvSpPr txBox="1"/>
          <p:nvPr>
            <p:ph idx="1" type="body"/>
          </p:nvPr>
        </p:nvSpPr>
        <p:spPr>
          <a:xfrm>
            <a:off x="685800" y="952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viewBox는 SVG가 그림을 그리는 영역을 정의하는 속성이다. </a:t>
            </a:r>
            <a:endParaRPr/>
          </a:p>
        </p:txBody>
      </p:sp>
      <p:sp>
        <p:nvSpPr>
          <p:cNvPr id="171" name="Google Shape;171;g370fb95bc71_0_78"/>
          <p:cNvSpPr txBox="1"/>
          <p:nvPr/>
        </p:nvSpPr>
        <p:spPr>
          <a:xfrm>
            <a:off x="612650" y="1333500"/>
            <a:ext cx="8212200" cy="5350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svg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           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1px</a:t>
            </a:r>
            <a:r>
              <a:rPr b="0" i="0" lang="en-US" sz="1600" u="none" cap="none" strike="noStrike">
                <a:solidFill>
                  <a:srgbClr val="0451A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solid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rgb(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230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viewBox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"0 0 200 200"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&lt;circle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"45"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"#000"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stroke-width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"none"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&lt;svg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"200"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viewBox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 50 100 100"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&lt;circle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"50"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"45"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"#000"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stroke-width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"none"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&lt;/svg&gt;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0fb95bc71_0_8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실행 결과</a:t>
            </a:r>
            <a:endParaRPr/>
          </a:p>
        </p:txBody>
      </p:sp>
      <p:sp>
        <p:nvSpPr>
          <p:cNvPr id="177" name="Google Shape;177;g370fb95bc71_0_8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70fb95bc71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8555" y="2054366"/>
            <a:ext cx="4888870" cy="3038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0fb95bc71_0_9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SVG와 캔버스 그래픽의 차이점</a:t>
            </a:r>
            <a:endParaRPr/>
          </a:p>
        </p:txBody>
      </p:sp>
      <p:pic>
        <p:nvPicPr>
          <p:cNvPr id="184" name="Google Shape;184;g370fb95bc71_0_9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883517"/>
            <a:ext cx="8153400" cy="20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0fb95bc71_0_11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드래그와 드롭</a:t>
            </a:r>
            <a:endParaRPr/>
          </a:p>
        </p:txBody>
      </p:sp>
      <p:sp>
        <p:nvSpPr>
          <p:cNvPr id="190" name="Google Shape;190;g370fb95bc71_0_11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b="1" lang="en-US"/>
              <a:t>드래그(drag)와 드롭(drop) -</a:t>
            </a:r>
            <a:r>
              <a:rPr lang="en-US"/>
              <a:t> 윈도우에서 아주 많이 사용하는 사용자 인터페이스 중의 하나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객체를 마우스로 끌어서 다른 애플리케이션에 놓는 것</a:t>
            </a:r>
            <a:endParaRPr/>
          </a:p>
        </p:txBody>
      </p:sp>
      <p:pic>
        <p:nvPicPr>
          <p:cNvPr id="191" name="Google Shape;191;g370fb95bc71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2871789"/>
            <a:ext cx="2628900" cy="2998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0fb95bc71_0_11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발생하는 이벤트</a:t>
            </a:r>
            <a:endParaRPr/>
          </a:p>
        </p:txBody>
      </p:sp>
      <p:pic>
        <p:nvPicPr>
          <p:cNvPr id="197" name="Google Shape;197;g370fb95bc71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090" y="1779431"/>
            <a:ext cx="6126474" cy="433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0fb95bc71_0_12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 </a:t>
            </a:r>
            <a:endParaRPr/>
          </a:p>
        </p:txBody>
      </p:sp>
      <p:sp>
        <p:nvSpPr>
          <p:cNvPr id="203" name="Google Shape;203;g370fb95bc71_0_12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dragstart 이벤트: dragstart 이벤트는 사용자가 드래그를 시작할 때, 발생한다. 이때 해야 하는 가장 중요한 작업은 dataTransfer 객체에 setData() 호출을 통하여 데이터를 설정하는 작업이다.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drag 이벤트: 드래그하는 도중에 계속해서 발생하는 이벤트이다.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dragenter 이벤트: 마우스로 드래그하다가 새로운 요소 안으로 들어가면 dragenter 이벤트가 발생한다.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dragover 이벤트: dragover 이벤트는 드래그 동작 도중에 마우스가 다른 요소 위에 있다는 것을 의미한다.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drop 이벤트: 반드시 처리해야 하는 이벤트가 등장하였다. drop 이벤트는 사용자가 마우스 버튼을 놓았을 때, 발생한다. dataTransfer 객체에서 getData() 메소드를 이용하여서 필요한 데이터를 꺼내면 된다.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0fb95bc71_0_12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예제: </a:t>
            </a:r>
            <a:endParaRPr/>
          </a:p>
        </p:txBody>
      </p:sp>
      <p:sp>
        <p:nvSpPr>
          <p:cNvPr id="209" name="Google Shape;209;g370fb95bc71_0_12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 페이지 위에 상품을 드래그하여 쇼핑 카트에 넣을 수 있도록 웹페이지를 작성하여 보자. </a:t>
            </a:r>
            <a:endParaRPr/>
          </a:p>
        </p:txBody>
      </p:sp>
      <p:pic>
        <p:nvPicPr>
          <p:cNvPr id="210" name="Google Shape;210;g370fb95bc71_0_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950" y="2562131"/>
            <a:ext cx="3452711" cy="1733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70fb95bc71_0_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642" y="2562131"/>
            <a:ext cx="3452711" cy="173373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70fb95bc71_0_12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0fb95bc71_0_13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18" name="Google Shape;218;g370fb95bc71_0_136"/>
          <p:cNvSpPr txBox="1"/>
          <p:nvPr/>
        </p:nvSpPr>
        <p:spPr>
          <a:xfrm>
            <a:off x="612650" y="1110923"/>
            <a:ext cx="8212200" cy="5303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#shopping_cart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450px;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padding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10px;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1px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dotted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allowDrop(e)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e.preventDefault();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handleDragStart(e)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e.dataTransfer.effectAllowed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'move';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e.dataTransfer.setData(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e.target.id);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0fb95bc71_0_14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24" name="Google Shape;224;g370fb95bc71_0_141"/>
          <p:cNvSpPr txBox="1"/>
          <p:nvPr/>
        </p:nvSpPr>
        <p:spPr>
          <a:xfrm>
            <a:off x="465900" y="1203449"/>
            <a:ext cx="8212200" cy="5133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handleDrop(e)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e.preventDefault();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src = e.dataTransfer.getData(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e.target.appendChild(document.getElementById(src));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원하는 물건을 끌어서 옮기세요.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="shopping_cart"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ondrop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="handleDrop(event)"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ondragover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="allowDrop(event)"&gt;&lt;/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="img1"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="tv.png"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draggable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="true"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ondragstart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="handleDragStart(event)"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="150"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="100"&gt;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="img2"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="audio.png"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draggable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="true"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ondragstart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="handleDragStart(event)"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="150"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="100"&gt;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img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="Img3"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="camera.png"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draggable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="true"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ondragstart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="handleDragStart(event)"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="150"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="100"&gt;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0fb95bc71_0_17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b="1" lang="en-US"/>
              <a:t>위치정보(Geolocation)</a:t>
            </a:r>
            <a:r>
              <a:rPr lang="en-US"/>
              <a:t>은 자신의 위치를 웹 사이트와 공유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현재 지역의 날씨, 유명한 맛집 등의 정보를 제공받을 수 있다.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EMB000016204497" id="230" name="Google Shape;230;g370fb95bc71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6219" y="2339974"/>
            <a:ext cx="3611562" cy="386864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70fb95bc71_0_17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HTML5 위치정보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0fb95bc71_0_18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geolocation 객체</a:t>
            </a:r>
            <a:endParaRPr/>
          </a:p>
        </p:txBody>
      </p:sp>
      <p:sp>
        <p:nvSpPr>
          <p:cNvPr id="237" name="Google Shape;237;g370fb95bc71_0_18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var geolocation = navigator.geolocation;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238" name="Google Shape;238;g370fb95bc71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758" y="2379370"/>
            <a:ext cx="7242774" cy="1699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0fb95bc71_0_18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getCurrentPosition() 메소드</a:t>
            </a:r>
            <a:endParaRPr/>
          </a:p>
        </p:txBody>
      </p:sp>
      <p:sp>
        <p:nvSpPr>
          <p:cNvPr id="244" name="Google Shape;244;g370fb95bc71_0_18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getCurrentPosition() 메소드는 위치 정보를 가져올 때 사용하는 메소드이다. 위치 정보를 처리하는 함수를 인수로 전달한다. 예를 들어서 다음과 같이 사용할 수 있다. </a:t>
            </a:r>
            <a:endParaRPr/>
          </a:p>
        </p:txBody>
      </p:sp>
      <p:sp>
        <p:nvSpPr>
          <p:cNvPr id="245" name="Google Shape;245;g370fb95bc71_0_186"/>
          <p:cNvSpPr txBox="1"/>
          <p:nvPr/>
        </p:nvSpPr>
        <p:spPr>
          <a:xfrm>
            <a:off x="612648" y="2571184"/>
            <a:ext cx="8212200" cy="1104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getLocation()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geolocation = navigator.geolocation;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geolocation.getCurrentPosition(showLocation, errorHandler);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46" name="Google Shape;246;g370fb95bc71_0_186"/>
          <p:cNvSpPr txBox="1"/>
          <p:nvPr/>
        </p:nvSpPr>
        <p:spPr>
          <a:xfrm>
            <a:off x="612650" y="4056698"/>
            <a:ext cx="8212200" cy="1383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showLocation( position 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latitude = position.coords.latitude;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longitude = position.coords.longitude;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0fb95bc71_0_19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postion 인수</a:t>
            </a:r>
            <a:endParaRPr/>
          </a:p>
        </p:txBody>
      </p:sp>
      <p:pic>
        <p:nvPicPr>
          <p:cNvPr id="252" name="Google Shape;252;g370fb95bc71_0_19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727350"/>
            <a:ext cx="8153400" cy="23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0fb95bc71_0_19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58" name="Google Shape;258;g370fb95bc71_0_198"/>
          <p:cNvSpPr txBox="1"/>
          <p:nvPr/>
        </p:nvSpPr>
        <p:spPr>
          <a:xfrm>
            <a:off x="612650" y="1261825"/>
            <a:ext cx="8212200" cy="4853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="getGeolocation()"&gt;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위치 정보 얻기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="target"&gt;&lt;/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myDiv =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getGeolocation()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(navigator.geolocation)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navigator.geolocation.getCurrentPosition(showLocation);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showLocation(location)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myDiv.innerHTML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"(위도: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location.coords.latitude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", 경도: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location.coords.longitude +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")"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59" name="Google Shape;259;g370fb95bc71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657" y="5350598"/>
            <a:ext cx="2715241" cy="108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70fb95bc71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0807" y="5350598"/>
            <a:ext cx="2715241" cy="108465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70fb95bc71_0_19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0fb95bc71_0_20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이동하면서 위치 정보를 얻는 방법</a:t>
            </a:r>
            <a:endParaRPr/>
          </a:p>
        </p:txBody>
      </p:sp>
      <p:sp>
        <p:nvSpPr>
          <p:cNvPr id="267" name="Google Shape;267;g370fb95bc71_0_20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이동하면서 주기적으로 위치정보를 얻으려면 geolocation 객체의 watchPosition()을 호출하여 콜백 메소드를 등록한다. 콜백 메소드가 주기적으로 호출되면서 업데이트된 위치정보를 얻을 수 있다.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watchPosition() - 사용자의 현재 위치를 연속하여 출력한다. 자동차처럼 사용자가 이동하고 있으면 계속 업데이트된 위치를 반환한다.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clearWatch() - watchPosition() 메서드를 중지한다.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0fb95bc71_0_21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73" name="Google Shape;273;g370fb95bc71_0_211"/>
          <p:cNvSpPr txBox="1"/>
          <p:nvPr/>
        </p:nvSpPr>
        <p:spPr>
          <a:xfrm>
            <a:off x="612648" y="1023042"/>
            <a:ext cx="8212200" cy="5606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="startGeolocation()"&gt;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위치 정보 시작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="stopGeolocation()"&gt;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위치 정보 중지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="target"&gt;&lt;/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myDiv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startGeolocation()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(navigator.geolocation)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id = navigator.geolocation.watchPosition(showGeolocation);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showGeolocation(location)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myDiv.innerHTML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"(위도: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location.coords.latitude +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", 경도: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location.coords.longitude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")";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stopGeolocation()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(navigator.geolocation)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navigator.geolocation.clearWatch(id);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4" name="Google Shape;274;g370fb95bc71_0_2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70fb95bc71_0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0432" y="5355124"/>
            <a:ext cx="3168712" cy="1352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0fb95bc71_0_21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Open Street Map 지도 이용하기</a:t>
            </a:r>
            <a:endParaRPr/>
          </a:p>
        </p:txBody>
      </p:sp>
      <p:sp>
        <p:nvSpPr>
          <p:cNvPr id="281" name="Google Shape;281;g370fb95bc71_0_21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지도에 결과를 표시하기 위해서는, 구글 맵(Google Map)처럼 위도 및 경도를 사용할 수 있는 지도 서비스에 대한 액세스가 필요하다.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오픈 지도 서비스인 Open Street Map을 사용해보자. 지도 타일 ​​이미지는 OpenStreetMap 서버에서 가져온다. </a:t>
            </a:r>
            <a:endParaRPr/>
          </a:p>
        </p:txBody>
      </p:sp>
      <p:sp>
        <p:nvSpPr>
          <p:cNvPr id="282" name="Google Shape;282;g370fb95bc71_0_21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g370fb95bc71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394" y="3082706"/>
            <a:ext cx="6713593" cy="3091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0fb95bc71_0_22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89" name="Google Shape;289;g370fb95bc71_0_22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우리는 Leaflet 라이브러리를 통하여 Open Street Map을 사용해보자. 서울을 중심으로 지도를 표시하고 서울에 마커를 표시한다. </a:t>
            </a:r>
            <a:endParaRPr/>
          </a:p>
        </p:txBody>
      </p:sp>
      <p:sp>
        <p:nvSpPr>
          <p:cNvPr id="290" name="Google Shape;290;g370fb95bc71_0_22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g370fb95bc71_0_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276" y="2458016"/>
            <a:ext cx="6450142" cy="352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0fb95bc71_0_23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Open Street Map 지도 이용하기</a:t>
            </a:r>
            <a:endParaRPr/>
          </a:p>
        </p:txBody>
      </p:sp>
      <p:sp>
        <p:nvSpPr>
          <p:cNvPr id="297" name="Google Shape;297;g370fb95bc71_0_23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Leaflet CSS 소스를 포함하여야 한다.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Leaflet 라이브러리 소스를 포함하여야 한다.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지도 컨테이너로 사용할 &lt;div&gt;  요소가 필요하다.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간단한 지도를 만드는 자바스크립트 코드가 필요하다.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0fb95bc71_0_23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03" name="Google Shape;303;g370fb95bc71_0_237"/>
          <p:cNvSpPr txBox="1"/>
          <p:nvPr/>
        </p:nvSpPr>
        <p:spPr>
          <a:xfrm>
            <a:off x="612648" y="1023042"/>
            <a:ext cx="8212200" cy="5606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&lt;link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"stylesheet"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href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"https://unpkg.com/leaflet@1.8.0/dist/leaflet.css"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src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"https://unpkg.com/leaflet@1.8.0/dist/leaflet.js"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&gt;&lt;/script&gt;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#map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100%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100vh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"map"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&gt;&lt;/div&gt;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mapOptions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center: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37.562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126.9793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],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zoom: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map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70C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'map'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mapOptions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layer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70C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TileLayer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'http://{s}.tile.openstreetmap.org/{z}/{x}/{y}.png'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addLayer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layer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marker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70C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Marker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37.562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126.9793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marker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04" name="Google Shape;304;g370fb95bc71_0_2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0fb95bc71_0_24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b="1" lang="en-US"/>
              <a:t>가끔은 자바스크립트에서 시간이 많이 걸리는 작업들을 할 때가 있다. 이런 작업들을 자바스크립트에서 한다면 웹 페이지는 자바 스크립트가 완료 될 때까지 응답 하지 않게 된다.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b="1" lang="en-US"/>
              <a:t>웹 워커(web worker): </a:t>
            </a:r>
            <a:r>
              <a:rPr lang="en-US"/>
              <a:t> 자바스크립트에 백그라운드에서 실행되는 스레드(thread)를 도입한 것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EMB0000162044ae" id="310" name="Google Shape;310;g370fb95bc71_0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9743" y="3848100"/>
            <a:ext cx="1715993" cy="212724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70fb95bc71_0_24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HTML5 웹 워커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0fb95bc71_0_249"/>
          <p:cNvSpPr txBox="1"/>
          <p:nvPr/>
        </p:nvSpPr>
        <p:spPr>
          <a:xfrm>
            <a:off x="465925" y="1966750"/>
            <a:ext cx="8212200" cy="2566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소수를 찾는 자바스크립트 소스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search: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n +=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 = 2; i &lt;= Math.sqrt(n) ; i +=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(n % i ==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continue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search;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소수를 발견할 때마다 바로 웹페이지로 전달한다.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postMessage(n);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7" name="Google Shape;317;g370fb95bc71_0_249"/>
          <p:cNvSpPr txBox="1"/>
          <p:nvPr/>
        </p:nvSpPr>
        <p:spPr>
          <a:xfrm>
            <a:off x="465931" y="1513129"/>
            <a:ext cx="109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worker.js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70fb95bc71_0_24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소수 구하기 예제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0fb95bc71_0_255"/>
          <p:cNvSpPr txBox="1"/>
          <p:nvPr/>
        </p:nvSpPr>
        <p:spPr>
          <a:xfrm>
            <a:off x="465925" y="1966751"/>
            <a:ext cx="8212200" cy="2962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웹워커 예제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="startWorker()"&gt;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웹워커 시작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="stopWorker()"&gt;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웹워커 종료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현재까지 발견된 가장 큰 소수는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output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="result"&gt;&lt;/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output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24" name="Google Shape;324;g370fb95bc71_0_255"/>
          <p:cNvSpPr txBox="1"/>
          <p:nvPr/>
        </p:nvSpPr>
        <p:spPr>
          <a:xfrm>
            <a:off x="465931" y="1513129"/>
            <a:ext cx="17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webworker.html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70fb95bc71_0_25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소수 구하기 예제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0fb95bc71_0_261"/>
          <p:cNvSpPr txBox="1"/>
          <p:nvPr/>
        </p:nvSpPr>
        <p:spPr>
          <a:xfrm>
            <a:off x="465925" y="1272825"/>
            <a:ext cx="8212200" cy="5529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startWorker()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typeof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(Worker) !==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"undefined"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typeof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(w) ==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"undefined"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w =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Worker(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"worker.js"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w.onmessage =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(event)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event.data;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"웹브라우저가 웹워커를 지원하지 않음";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stopWorker()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w.terminate();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1" name="Google Shape;331;g370fb95bc71_0_261"/>
          <p:cNvSpPr txBox="1"/>
          <p:nvPr/>
        </p:nvSpPr>
        <p:spPr>
          <a:xfrm>
            <a:off x="465931" y="903529"/>
            <a:ext cx="17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webworker.html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70fb95bc71_0_26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소수 구하기 예제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0fb95bc71_0_26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소수 구하기 예제</a:t>
            </a:r>
            <a:endParaRPr/>
          </a:p>
        </p:txBody>
      </p:sp>
      <p:sp>
        <p:nvSpPr>
          <p:cNvPr id="338" name="Google Shape;338;g370fb95bc71_0_26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이번 예제는 반드시 웹서버를 통하여 실행하여야 한다. 즉 라이브 서버를 통하여 실행하여야 한다. 단순히 더블 클릭만 하면 웹워커가 실행되지 않는다. </a:t>
            </a:r>
            <a:endParaRPr/>
          </a:p>
        </p:txBody>
      </p:sp>
      <p:sp>
        <p:nvSpPr>
          <p:cNvPr id="339" name="Google Shape;339;g370fb95bc71_0_26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g370fb95bc71_0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058" y="2811101"/>
            <a:ext cx="4626965" cy="215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0fb95bc71_0_27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웹워커의 용도</a:t>
            </a:r>
            <a:endParaRPr/>
          </a:p>
        </p:txBody>
      </p:sp>
      <p:sp>
        <p:nvSpPr>
          <p:cNvPr id="346" name="Google Shape;346;g370fb95bc71_0_27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영상 처리(image processing) - 캔버스나 비디오 요소에서 추출된 데이터를 사용하여서 어떤 영상 처리를 수행할 수 있다. 이때는 이미지를 여러 개의 작은 조각으로 나누어서 각 조각들을 웹워커에게 줄 수도 있다. 멀티-코어 CPU라면 물리적으로도 웹워커들이 동시에 수행될 수 있다.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대용량 데이터 처리 – XMLHTTPRequest 호출 후에 파싱해야할 대용량 데이터가 존재하는 경우에 사용할 수 있다.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텍스트 분석 – 사용자가 입력하는 즉시 텍스트를 사전에서 검색한다. 자동적인 오류 수정 등이 가능하다.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데이터베이스 요청 동시 수행 – 로컬 데이터베이스에 대한 요청들을 동시에 수행한다.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0fb95bc71_0_27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Mini Project: 맞추기 게임</a:t>
            </a:r>
            <a:endParaRPr/>
          </a:p>
        </p:txBody>
      </p:sp>
      <p:sp>
        <p:nvSpPr>
          <p:cNvPr id="352" name="Google Shape;352;g370fb95bc71_0_27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드래그와 드롭을 이용하여서 상단의 텍스트 박스와 하단의 이미지를 일치시키는 게임을 작성해보자. </a:t>
            </a:r>
            <a:endParaRPr/>
          </a:p>
        </p:txBody>
      </p:sp>
      <p:sp>
        <p:nvSpPr>
          <p:cNvPr id="353" name="Google Shape;353;g370fb95bc71_0_2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g370fb95bc71_0_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886" y="2566657"/>
            <a:ext cx="4418089" cy="3325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0fb95bc71_0_28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Mini Project: 맞추기 게임</a:t>
            </a:r>
            <a:endParaRPr/>
          </a:p>
        </p:txBody>
      </p:sp>
      <p:sp>
        <p:nvSpPr>
          <p:cNvPr id="360" name="Google Shape;360;g370fb95bc71_0_28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드래그와 드롭을 이용하여서 상단의 텍스트 박스와 하단의 이미지를 일치시키는 게임을 작성해보자. </a:t>
            </a:r>
            <a:endParaRPr/>
          </a:p>
        </p:txBody>
      </p:sp>
      <p:sp>
        <p:nvSpPr>
          <p:cNvPr id="361" name="Google Shape;361;g370fb95bc71_0_28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70fb95bc71_0_28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70fb95bc71_0_2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1349" y="2457136"/>
            <a:ext cx="4834551" cy="3638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"/>
          <p:cNvSpPr txBox="1"/>
          <p:nvPr>
            <p:ph type="title"/>
          </p:nvPr>
        </p:nvSpPr>
        <p:spPr>
          <a:xfrm>
            <a:off x="1260475" y="371475"/>
            <a:ext cx="76233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369" name="Google Shape;3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6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370" name="Google Shape;3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1" cy="163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