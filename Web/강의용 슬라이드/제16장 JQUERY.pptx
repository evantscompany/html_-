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934200" cy="9220200"/>
  <p:embeddedFontLst>
    <p:embeddedFont>
      <p:font typeface="Century Schoolbook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43" roundtripDataSignature="AMtx7mi89nAdfaGLlXgLOspquxzee4zQ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Schoolbook-bold.fntdata"/><Relationship Id="rId20" Type="http://schemas.openxmlformats.org/officeDocument/2006/relationships/slide" Target="slides/slide15.xml"/><Relationship Id="rId42" Type="http://schemas.openxmlformats.org/officeDocument/2006/relationships/font" Target="fonts/CenturySchoolbook-boldItalic.fntdata"/><Relationship Id="rId41" Type="http://schemas.openxmlformats.org/officeDocument/2006/relationships/font" Target="fonts/CenturySchoolbook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CenturySchoolbook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2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2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2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3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3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3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4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3f1867040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3f1867040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3f1867040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3f1867040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3f1867040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3f1867040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3f1867040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3f1867040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3f1867040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3f1867040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3f1867040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3f1867040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3f1867040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3f1867040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3f1867040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3f1867040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3f1867040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3f1867040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3f1867040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3f1867040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3f1867040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3f1867040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3f1867040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3f1867040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3f1867040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3f1867040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3f1867040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3f1867040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3f1867040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f1867040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3f1867040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3f1867040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3f1867040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3f1867040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3f1867040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3f1867040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Relationship Id="rId4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chap11/canvas_game.html" TargetMode="External"/><Relationship Id="rId4" Type="http://schemas.openxmlformats.org/officeDocument/2006/relationships/hyperlink" Target="http://chap12/jq1.html" TargetMode="External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hyperlink" Target="http://chap12/mouse_event.html" TargetMode="External"/><Relationship Id="rId6" Type="http://schemas.openxmlformats.org/officeDocument/2006/relationships/hyperlink" Target="http://chap12/mouse_event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://chap12/mouse_event.html" TargetMode="External"/><Relationship Id="rId6" Type="http://schemas.openxmlformats.org/officeDocument/2006/relationships/hyperlink" Target="http://chap12/focus_event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hyperlink" Target="http://chap12/mouse_event.html" TargetMode="External"/><Relationship Id="rId5" Type="http://schemas.openxmlformats.org/officeDocument/2006/relationships/hyperlink" Target="http://chap12/jq_chaining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chap12/mouse_event.html" TargetMode="External"/><Relationship Id="rId4" Type="http://schemas.openxmlformats.org/officeDocument/2006/relationships/hyperlink" Target="http://chap12/jq_dom1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1495425" y="1622425"/>
            <a:ext cx="7124700" cy="1323600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16.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JQUERY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jQuery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jQuery- </a:t>
            </a:r>
            <a:r>
              <a:rPr lang="en-US"/>
              <a:t>일종의 자바 스크립트 라이브러리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jQuery를 사용하면 자바 스크립트 프로그래밍의 양을 상당히 줄일 수 있다.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jQuery는 배우기 쉽다.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무료이다.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EMB0000204828e5"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8275" y="3076575"/>
            <a:ext cx="3106054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63" y="4086225"/>
            <a:ext cx="829627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jQuery의 역사</a:t>
            </a:r>
            <a:endParaRPr/>
          </a:p>
        </p:txBody>
      </p:sp>
      <p:sp>
        <p:nvSpPr>
          <p:cNvPr id="77" name="Google Shape;77;p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jQuery는 존 레식(John Resig)이 2006년에 BarCamp NYC에서 발표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MIT 라이센스하에 배포되는 자유 오픈 소프트웨어</a:t>
            </a:r>
            <a:endParaRPr/>
          </a:p>
        </p:txBody>
      </p:sp>
      <p:pic>
        <p:nvPicPr>
          <p:cNvPr descr="EMB0000204828ef" id="78" name="Google Shape;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3963" y="3224212"/>
            <a:ext cx="2028602" cy="1824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jQuery 사용방법</a:t>
            </a:r>
            <a:endParaRPr/>
          </a:p>
        </p:txBody>
      </p:sp>
      <p:sp>
        <p:nvSpPr>
          <p:cNvPr id="84" name="Google Shape;84;p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jQuery.com에서 jQuery 파일을 다운로드하는 방법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- jQuery는 http://www.jquery.com에서 다운로드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실행시마다 구글이나 마이크로소프트에서 jQuery 파일을 포함하는 방법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공개 서버로부터 네트워크를 통하여 웹페이지를 실행할 때마다 다운로드받을 수도 있다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>
                <a:solidFill>
                  <a:srgbClr val="FF0000"/>
                </a:solidFill>
              </a:rPr>
              <a:t>최근에 1.9.1버전은 사용불가-&gt;1.10.1버전으로 변경(책의  소스 수정되어야 함!)</a:t>
            </a:r>
            <a:endParaRPr>
              <a:solidFill>
                <a:srgbClr val="FF0000"/>
              </a:solidFill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&lt;head&gt;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&lt;script src="http://code.jquery.com/jquery-1.10.1.min.js"&gt;&lt;/script&gt;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&lt;/head&gt;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첫 번째 jQuery 프로그램 </a:t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685800" y="1143000"/>
            <a:ext cx="8212138" cy="436244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 src="http://code.jquery.com/jquery-1.10.1.min.js"&gt;&lt;/script&gt;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$("h2").click(function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$(this).hide();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&lt;h2&gt;클릭하면 사라집니다.&lt;/h2&gt;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>
            <a:hlinkClick r:id="rId3"/>
          </p:cNvPr>
          <p:cNvSpPr txBox="1"/>
          <p:nvPr/>
        </p:nvSpPr>
        <p:spPr>
          <a:xfrm>
            <a:off x="1066800" y="5705475"/>
            <a:ext cx="188384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웹브라우저로 보기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20482902" id="92" name="Google Shape;9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2679" y="4776786"/>
            <a:ext cx="4565259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jQuery 문장의 구조</a:t>
            </a:r>
            <a:endParaRPr/>
          </a:p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685800" y="1333499"/>
            <a:ext cx="8212138" cy="473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$(...) 안에 선택자를 넣어서 원하는 요소를 선택하고, 선택된 요소에 대하여 여러 가지 조작을 한다.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$(“p”).show() - 모든 &lt;p&gt; 요소들을 찾아서 화면에 표시한다.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$(“.group1”).slideup() - class=group1인 요소를 슬라이드업 방식으로 표시한다.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$(“#id9”).hide() - id=id9인 요소를 화면에서 감춘다. </a:t>
            </a:r>
            <a:endParaRPr/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300" y="2047875"/>
            <a:ext cx="662940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선택자</a:t>
            </a:r>
            <a:endParaRPr/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1" y="1423989"/>
            <a:ext cx="8210550" cy="2378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일반적인 구조</a:t>
            </a:r>
            <a:endParaRPr/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1514475"/>
            <a:ext cx="69342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jQuery를 이용한 이벤트 처리</a:t>
            </a:r>
            <a:endParaRPr/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950" y="1371600"/>
            <a:ext cx="73342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마우스 이벤트</a:t>
            </a:r>
            <a:endParaRPr/>
          </a:p>
        </p:txBody>
      </p:sp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 txBox="1"/>
          <p:nvPr/>
        </p:nvSpPr>
        <p:spPr>
          <a:xfrm>
            <a:off x="685800" y="1143000"/>
            <a:ext cx="8212138" cy="436244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div.out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60px;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class="out"&gt;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&lt;p&gt;마우스를 여기로 움직이세요.&lt;/p&gt;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&lt;p&gt;0&lt;/p&gt;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&lt;/div&gt;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마우스 이벤트</a:t>
            </a:r>
            <a:endParaRPr/>
          </a:p>
        </p:txBody>
      </p:sp>
      <p:sp>
        <p:nvSpPr>
          <p:cNvPr id="130" name="Google Shape;130;p11"/>
          <p:cNvSpPr txBox="1"/>
          <p:nvPr/>
        </p:nvSpPr>
        <p:spPr>
          <a:xfrm>
            <a:off x="685800" y="1143000"/>
            <a:ext cx="8212138" cy="231457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var i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$("div.out").mouseover(function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$("p:first", this).text("mouse over");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$("p:last", this).text(++i);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0ca834ae" id="131" name="Google Shape;1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844" y="4133850"/>
            <a:ext cx="385337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ca834af" id="132" name="Google Shape;1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4569" y="4133850"/>
            <a:ext cx="3853369" cy="160019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>
            <a:hlinkClick r:id="rId5"/>
          </p:cNvPr>
          <p:cNvSpPr txBox="1"/>
          <p:nvPr/>
        </p:nvSpPr>
        <p:spPr>
          <a:xfrm>
            <a:off x="810680" y="3619500"/>
            <a:ext cx="188384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웹브라우저로 보기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focus와 blur 이벤트</a:t>
            </a:r>
            <a:endParaRPr/>
          </a:p>
        </p:txBody>
      </p:sp>
      <p:sp>
        <p:nvSpPr>
          <p:cNvPr id="139" name="Google Shape;139;p12"/>
          <p:cNvSpPr txBox="1"/>
          <p:nvPr/>
        </p:nvSpPr>
        <p:spPr>
          <a:xfrm>
            <a:off x="685800" y="1143000"/>
            <a:ext cx="8212138" cy="53816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$("input").focus(function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    $(this).css("background-color", "yellow");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            $("input").blur(function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                $(this).css("background-color", "white");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아이디:&lt;input type="text" name="name"&gt;&lt;br&gt;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focus와 blur 이벤트</a:t>
            </a:r>
            <a:endParaRPr/>
          </a:p>
        </p:txBody>
      </p:sp>
      <p:pic>
        <p:nvPicPr>
          <p:cNvPr descr="EMB00000ca834b4"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337" y="1638300"/>
            <a:ext cx="3355393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ca834b5" id="146" name="Google Shape;1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1638300"/>
            <a:ext cx="3355393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>
            <a:hlinkClick r:id="rId5"/>
          </p:cNvPr>
          <p:cNvSpPr txBox="1"/>
          <p:nvPr/>
        </p:nvSpPr>
        <p:spPr>
          <a:xfrm>
            <a:off x="1303337" y="3000375"/>
            <a:ext cx="188384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웹브라우저로 보기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이벤트 정보</a:t>
            </a:r>
            <a:endParaRPr/>
          </a:p>
        </p:txBody>
      </p:sp>
      <p:sp>
        <p:nvSpPr>
          <p:cNvPr id="153" name="Google Shape;153;p1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685800" y="1143001"/>
            <a:ext cx="8212138" cy="44577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body {            background-color: #eef;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 {            padding: 20px;     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id="log"&gt;&lt;/div&gt;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$(document).mousemove( function (e)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$("#log").text("e.pageX: " + e.pageX + ", e.pageY: " + e.pageY);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0ca834b8" id="155" name="Google Shape;1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5200650"/>
            <a:ext cx="4325938" cy="1516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jQuery를 이용한 애니메이션</a:t>
            </a:r>
            <a:endParaRPr/>
          </a:p>
        </p:txBody>
      </p:sp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2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Char char="∙"/>
            </a:pPr>
            <a:r>
              <a:rPr lang="en-US"/>
              <a:t>show()와 hide()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2122833"/>
            <a:ext cx="7972425" cy="142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show()와 hide()</a:t>
            </a:r>
            <a:endParaRPr/>
          </a:p>
        </p:txBody>
      </p:sp>
      <p:sp>
        <p:nvSpPr>
          <p:cNvPr id="168" name="Google Shape;168;p1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85800" y="1143001"/>
            <a:ext cx="8212138" cy="44577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&lt;button&gt;Show it&lt;/button&gt;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id="dog" src="dog.png"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alt="" width="120" height="100" style="display: none"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$("button").click(function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$("#dog").show("slow");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0ca834c1" id="170" name="Google Shape;1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3722" y="5600701"/>
            <a:ext cx="3503763" cy="838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ca834c2" id="171" name="Google Shape;1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147" y="5080615"/>
            <a:ext cx="2649791" cy="1725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animate()</a:t>
            </a:r>
            <a:endParaRPr/>
          </a:p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85800" y="1143000"/>
            <a:ext cx="8212138" cy="50672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$("button").click(function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$("#dog").animate({ left: '100px'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id="dog" src="dog.png"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alt="" width="120" height="100" style="position: relative" /&gt;&lt;br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&lt;button&gt;animate()&lt;/button&gt;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0ca834c7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402012"/>
            <a:ext cx="2140617" cy="1531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ca834c8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5932" y="3402012"/>
            <a:ext cx="2140618" cy="1531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fadeIn()/ fadeOut()</a:t>
            </a:r>
            <a:endParaRPr/>
          </a:p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85800" y="1143000"/>
            <a:ext cx="8212138" cy="50672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$("button").click(function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$("#dog").animate({ left: '100px'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id="dog" src="dog.png"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alt="" width="120" height="100" style="position: relative" /&gt;&lt;br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&lt;button&gt;animate()&lt;/button&gt;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0ca834c7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402012"/>
            <a:ext cx="2140617" cy="1531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ca834c8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5932" y="3402012"/>
            <a:ext cx="2140618" cy="1531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메소드 체인닝</a:t>
            </a:r>
            <a:endParaRPr/>
          </a:p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85800" y="1143001"/>
            <a:ext cx="8212138" cy="421005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$("button").click(function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$("#dog").show().fadeOut("slow").slideDown("slow");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&lt;button&gt;메소드 체이닝 시작&lt;/button&gt;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id="dog" src="dog.png"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alt="" width="120" height="100" style="display: none"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0ca834e0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9038" y="5143499"/>
            <a:ext cx="2628900" cy="168241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>
            <a:hlinkClick r:id="rId4"/>
          </p:cNvPr>
          <p:cNvSpPr txBox="1"/>
          <p:nvPr/>
        </p:nvSpPr>
        <p:spPr>
          <a:xfrm>
            <a:off x="1303336" y="5679906"/>
            <a:ext cx="188384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웹브라우저로 보기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jQuery를 이용한 DOM 변경</a:t>
            </a:r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1562100"/>
            <a:ext cx="70675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jQuery를 이용한 DOM 변경</a:t>
            </a:r>
            <a:endParaRPr/>
          </a:p>
        </p:txBody>
      </p:sp>
      <p:pic>
        <p:nvPicPr>
          <p:cNvPr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1390649"/>
            <a:ext cx="8326899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요소의 컨텐츠 가져오기</a:t>
            </a:r>
            <a:endParaRPr/>
          </a:p>
        </p:txBody>
      </p:sp>
      <p:sp>
        <p:nvSpPr>
          <p:cNvPr id="216" name="Google Shape;216;p2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85800" y="1143001"/>
            <a:ext cx="8212138" cy="507682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$("#text").click(function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alert($("#target").text());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$("#html").click(function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alert($("#target").html());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id="target"&gt;이것은 &lt;strong&gt;하나의&lt;/strong&gt; 단락입니다.&lt;/p&gt;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id="text"&gt;text()&lt;/button&gt;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id="html"&gt;html()&lt;/button&gt;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>
            <a:hlinkClick r:id="rId3"/>
          </p:cNvPr>
          <p:cNvSpPr txBox="1"/>
          <p:nvPr/>
        </p:nvSpPr>
        <p:spPr>
          <a:xfrm>
            <a:off x="6275386" y="6218485"/>
            <a:ext cx="188384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웹브라우저로 보기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입력 필드의 값 읽어오기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85800" y="1143001"/>
            <a:ext cx="8212138" cy="401954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$("button").click(function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alert($("#target").val());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이름: &lt;input type="text" id="target" value =""&gt;&lt;br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id="text"&gt;val()&lt;/button&gt;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7306" y="4913560"/>
            <a:ext cx="4429125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5675" y="4589710"/>
            <a:ext cx="146685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요소의 속성 가져오기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685800" y="1143001"/>
            <a:ext cx="8212138" cy="41528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$("button").click(function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alert($("#dog").attr("src"));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id="dog" src="dog.png"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alt="" width="120" height="100" /&gt;&lt;br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&lt;button&gt;attr()&lt;/button&gt;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0ca83524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8675" y="4954587"/>
            <a:ext cx="2784475" cy="1696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ca83525" id="234" name="Google Shape;2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0975" y="4954588"/>
            <a:ext cx="1018157" cy="1059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DOM에 요소 추가하기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685800" y="1143001"/>
            <a:ext cx="8212138" cy="487096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$("#button1").click(function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$("p").append("&lt;b style='color:red'&gt;Hello! &lt;/b&gt;.");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$("#button2").click(function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$("p").prepend("&lt;b style='color:red'&gt;Hello! &lt;/b&gt;.");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&lt;p&gt;I would like to say: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id="button1"&gt;append()&lt;/button&gt;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id="button2"&gt;prepend()&lt;/button&gt;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9924" y="5575443"/>
            <a:ext cx="5819775" cy="1282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DOM의 요소 삭제하기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685800" y="1143001"/>
            <a:ext cx="8212138" cy="487096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p{  background-color:yellow;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.container {      height: 80px; width: 200px;  border: 1px dotted red;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$("#button1").click(function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$(".container").remove();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$("#button2").click(function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$(".container").empty();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DOM의 요소 삭제하기</a:t>
            </a: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685800" y="1143001"/>
            <a:ext cx="8212138" cy="26288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id="button1"&gt;remove()&lt;/button&gt;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id="button2"&gt;empty()&lt;/button&gt;&lt;br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class="container"&gt;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&lt;p class="hello"&gt;Hello&lt;/p&gt;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&lt;p class="goodbye"&gt;Goodbye&lt;/p&gt;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4950" y="3349525"/>
            <a:ext cx="4852988" cy="327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jQuery를 이용한 CSS 조작</a:t>
            </a:r>
            <a:endParaRPr/>
          </a:p>
        </p:txBody>
      </p:sp>
      <p:sp>
        <p:nvSpPr>
          <p:cNvPr id="260" name="Google Shape;260;p2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css() - 선택된 요소의 스타일 속성을 설정하거나 반환한다.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addClass() - 선택된 요소에 하나 이상의 클래스를 추가한다.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removeClass() - 선택된 요소에 하나 이상의 클래스를 삭제한다.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jQuery를 이용한 CSS 조작</a:t>
            </a:r>
            <a:endParaRPr/>
          </a:p>
        </p:txBody>
      </p:sp>
      <p:sp>
        <p:nvSpPr>
          <p:cNvPr id="266" name="Google Shape;266;p29"/>
          <p:cNvSpPr txBox="1"/>
          <p:nvPr/>
        </p:nvSpPr>
        <p:spPr>
          <a:xfrm>
            <a:off x="685800" y="1143001"/>
            <a:ext cx="8212138" cy="57149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{       width: 60px;            height: 60px;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id="div1" style="background-color: blue;"&gt;&lt;/div&gt;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$("#button1").click(function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var color = $("#div1").css("background-color");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$("#result").text("background-color: " + color);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$("#button2").click(function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$("#div1").css("background-color", "red");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id="button1"&gt;css(element)&lt;/button&gt;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id="button2"&gt;css(element,style)&lt;/button&gt;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id="result"&gt;여기에 결과가 표시됩니다.&lt;/p&gt;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실행 결과</a:t>
            </a:r>
            <a:endParaRPr/>
          </a:p>
        </p:txBody>
      </p:sp>
      <p:pic>
        <p:nvPicPr>
          <p:cNvPr id="272" name="Google Shape;2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1271586"/>
            <a:ext cx="765810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요소의 크기 조작</a:t>
            </a:r>
            <a:endParaRPr/>
          </a:p>
        </p:txBody>
      </p:sp>
      <p:sp>
        <p:nvSpPr>
          <p:cNvPr id="278" name="Google Shape;278;p31"/>
          <p:cNvSpPr txBox="1"/>
          <p:nvPr/>
        </p:nvSpPr>
        <p:spPr>
          <a:xfrm>
            <a:off x="685800" y="1143001"/>
            <a:ext cx="8212138" cy="38861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div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70px;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float: left;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margin: 5px;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background: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.next {            background: blue;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 src="http://code.jquery.com/jquery-1.10.1.js"&gt;&lt;/script&gt;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요소의 크기 조작</a:t>
            </a:r>
            <a:endParaRPr/>
          </a:p>
        </p:txBody>
      </p:sp>
      <p:sp>
        <p:nvSpPr>
          <p:cNvPr id="284" name="Google Shape;284;p32"/>
          <p:cNvSpPr txBox="1"/>
          <p:nvPr/>
        </p:nvSpPr>
        <p:spPr>
          <a:xfrm>
            <a:off x="685800" y="1143000"/>
            <a:ext cx="8212200" cy="44514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&lt;div&gt;1&lt;/div&gt;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&lt;div&gt;2&lt;/div&gt;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&lt;div&gt;3&lt;/div&gt;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&lt;div&gt;4&lt;/div&gt;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&lt;div&gt;5&lt;/div&gt;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$(document).ready(function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var modWidth = 50;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$("div").click(function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$(this).width(modWidth).addClass("next");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modWidth -= 8;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5824" y="4380940"/>
            <a:ext cx="4310063" cy="2281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1260475" y="371475"/>
            <a:ext cx="7623175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Q &amp; A</a:t>
            </a:r>
            <a:endParaRPr/>
          </a:p>
        </p:txBody>
      </p:sp>
      <p:pic>
        <p:nvPicPr>
          <p:cNvPr descr="MCj02406990000[1]" id="291" name="Google Shape;29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165020000[1]" id="292" name="Google Shape;29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