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6858000" cx="9144000"/>
  <p:notesSz cx="6934200" cy="9220200"/>
  <p:embeddedFontLst>
    <p:embeddedFont>
      <p:font typeface="Century Schoolbook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904">
          <p15:clr>
            <a:srgbClr val="000000"/>
          </p15:clr>
        </p15:guide>
        <p15:guide id="2" pos="2184">
          <p15:clr>
            <a:srgbClr val="000000"/>
          </p15:clr>
        </p15:guide>
      </p15:notesGuideLst>
    </p:ext>
    <p:ext uri="GoogleSlidesCustomDataVersion2">
      <go:slidesCustomData xmlns:go="http://customooxmlschemas.google.com/" r:id="rId47" roundtripDataSignature="AMtx7mijyL9g2Zxh8gaj1mubrGh5pl/S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04" orient="horz"/>
        <p:guide pos="218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CenturySchoolbook-bold.fntdata"/><Relationship Id="rId21" Type="http://schemas.openxmlformats.org/officeDocument/2006/relationships/slide" Target="slides/slide16.xml"/><Relationship Id="rId43" Type="http://schemas.openxmlformats.org/officeDocument/2006/relationships/font" Target="fonts/CenturySchoolbook-regular.fntdata"/><Relationship Id="rId24" Type="http://schemas.openxmlformats.org/officeDocument/2006/relationships/slide" Target="slides/slide19.xml"/><Relationship Id="rId46" Type="http://schemas.openxmlformats.org/officeDocument/2006/relationships/font" Target="fonts/CenturySchoolbook-boldItalic.fntdata"/><Relationship Id="rId23" Type="http://schemas.openxmlformats.org/officeDocument/2006/relationships/slide" Target="slides/slide18.xml"/><Relationship Id="rId45" Type="http://schemas.openxmlformats.org/officeDocument/2006/relationships/font" Target="fonts/CenturySchoolbook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0d446a45a_0_3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g370d446a45a_0_3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0d446a45a_0_11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g370d446a45a_0_11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0d446a45a_0_101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370d446a45a_0_101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0d446a45a_0_10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370d446a45a_0_10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0d446a45a_0_41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70d446a45a_0_41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0d446a45a_0_50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g370d446a45a_0_50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0d446a45a_0_84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370d446a45a_0_84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0d446a45a_0_85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70d446a45a_0_85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0d446a45a_0_85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70d446a45a_0_85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0d446a45a_0_873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70d446a45a_0_873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0d446a45a_0_89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70d446a45a_0_89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0d446a45a_0_90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70d446a45a_0_90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0d446a45a_0_289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70d446a45a_0_289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0d446a45a_0_29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70d446a45a_0_29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0d446a45a_0_30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70d446a45a_0_30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0d446a45a_0_32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70d446a45a_0_32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0d446a45a_0_67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370d446a45a_0_67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0d446a45a_0_68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70d446a45a_0_68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70d446a45a_0_68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g370d446a45a_0_68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70d446a45a_0_697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70d446a45a_0_697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70d446a45a_0_703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g370d446a45a_0_703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70d446a45a_0_71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370d446a45a_0_71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0d446a45a_0_72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g370d446a45a_0_72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0d446a45a_0_73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g370d446a45a_0_73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70d446a45a_0_74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g370d446a45a_0_74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70d446a45a_0_75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g370d446a45a_0_75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70d446a45a_0_59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g370d446a45a_0_59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0d446a45a_0_60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g370d446a45a_0_60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0d446a45a_0_611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g370d446a45a_0_611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0d446a45a_0_618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g370d446a45a_0_618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70d446a45a_0_626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70d446a45a_0_626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70d446a45a_0_634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g370d446a45a_0_634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70d446a45a_0_652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g370d446a45a_0_652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4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3f1ec4fd3_0_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a3f1ec4fd3_0_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a3f1ec4fd3_0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3f1ec4fd3_0_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a3f1ec4fd3_0_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3f1ec4fd3_0_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a3f1ec4fd3_0_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a3f1ec4fd3_0_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3f1ec4fd3_0_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a3f1ec4fd3_0_1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a3f1ec4fd3_0_1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a3f1ec4fd3_0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3f1ec4fd3_0_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a3f1ec4fd3_0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3f1ec4fd3_0_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a3f1ec4fd3_0_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a3f1ec4fd3_0_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3f1ec4fd3_0_2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a3f1ec4fd3_0_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3f1ec4fd3_0_3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a3f1ec4fd3_0_3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a3f1ec4fd3_0_3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a3f1ec4fd3_0_30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a3f1ec4fd3_0_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3f1ec4fd3_0_3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a3f1ec4fd3_0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3f1ec4fd3_0_3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a3f1ec4fd3_0_3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a3f1ec4fd3_0_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3f1ec4fd3_0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3f1ec4fd3_0_4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a3f1ec4fd3_0_4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9pPr>
          </a:lstStyle>
          <a:p/>
        </p:txBody>
      </p:sp>
      <p:sp>
        <p:nvSpPr>
          <p:cNvPr id="57" name="Google Shape;57;g3a3f1ec4fd3_0_45"/>
          <p:cNvSpPr txBox="1"/>
          <p:nvPr>
            <p:ph idx="12" type="sldNum"/>
          </p:nvPr>
        </p:nvSpPr>
        <p:spPr>
          <a:xfrm>
            <a:off x="5884863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3f1ec4fd3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a3f1ec4fd3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a3f1ec4fd3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0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44.png"/><Relationship Id="rId5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9.png"/><Relationship Id="rId4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Relationship Id="rId4" Type="http://schemas.openxmlformats.org/officeDocument/2006/relationships/image" Target="../media/image5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Relationship Id="rId4" Type="http://schemas.openxmlformats.org/officeDocument/2006/relationships/image" Target="../media/image5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Relationship Id="rId4" Type="http://schemas.openxmlformats.org/officeDocument/2006/relationships/image" Target="../media/image5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/>
        </p:nvSpPr>
        <p:spPr>
          <a:xfrm>
            <a:off x="1495425" y="1622425"/>
            <a:ext cx="7124700" cy="1939500"/>
          </a:xfrm>
          <a:prstGeom prst="rect">
            <a:avLst/>
          </a:prstGeom>
          <a:solidFill>
            <a:srgbClr val="66CCFF"/>
          </a:solidFill>
          <a:ln>
            <a:noFill/>
          </a:ln>
          <a:effectLst>
            <a:outerShdw rotWithShape="0" algn="ctr" dir="2700000" dist="107763">
              <a:schemeClr val="lt2">
                <a:alpha val="49411"/>
              </a:scheme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CHAPTER 11. </a:t>
            </a:r>
            <a:endParaRPr b="0" i="0" sz="4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DOM과 HTML 요소 제어하기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925" y="3605213"/>
            <a:ext cx="42481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300">
                <a:latin typeface="Century Schoolbook"/>
                <a:ea typeface="Century Schoolbook"/>
                <a:cs typeface="Century Schoolbook"/>
                <a:sym typeface="Century Schoolbook"/>
              </a:rPr>
              <a:t>JS에서 사용할수있는 내장 객체종류</a:t>
            </a:r>
            <a:r>
              <a:rPr lang="en-US"/>
              <a:t> </a:t>
            </a:r>
            <a:endParaRPr/>
          </a:p>
        </p:txBody>
      </p:sp>
      <p:sp>
        <p:nvSpPr>
          <p:cNvPr id="69" name="Google Shape;69;p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HTML 문서를 객체로 표현한 것을 DOM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웹브라우저를 객체로 표현한 것을 BOM(Browser Object Model)</a:t>
            </a:r>
            <a:endParaRPr/>
          </a:p>
        </p:txBody>
      </p:sp>
      <p:pic>
        <p:nvPicPr>
          <p:cNvPr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6864" y="2300289"/>
            <a:ext cx="6157912" cy="3815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0d446a45a_0_3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DOM(Document Object Model)은 HTML 문서의 계층적인 구조를 트리(tree)로 표현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자바스크립트가 간편하게 HTML 문서에 접근하여 수정할 수 있도록, HTML 요소를 객체로 만들어 놓는 것이다.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76" name="Google Shape;76;g370d446a45a_0_3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문서 객체 모델(DOM)</a:t>
            </a:r>
            <a:endParaRPr/>
          </a:p>
        </p:txBody>
      </p:sp>
      <p:pic>
        <p:nvPicPr>
          <p:cNvPr id="77" name="Google Shape;77;g370d446a45a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005" y="3196758"/>
            <a:ext cx="6679367" cy="314972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70d446a45a_0_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g370d446a45a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8800" y="3524817"/>
            <a:ext cx="1930372" cy="233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0d446a45a_0_1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HTML-&gt;DOM</a:t>
            </a:r>
            <a:endParaRPr/>
          </a:p>
        </p:txBody>
      </p:sp>
      <p:sp>
        <p:nvSpPr>
          <p:cNvPr id="85" name="Google Shape;85;g370d446a45a_0_11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웹 페이지가 로드되면, 브라우저는 DOM을 생성한 후에 이 DOM을 순회하면서 웹페이지를 화면에 표시한다.</a:t>
            </a:r>
            <a:endParaRPr/>
          </a:p>
        </p:txBody>
      </p:sp>
      <p:pic>
        <p:nvPicPr>
          <p:cNvPr id="86" name="Google Shape;86;g370d446a45a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971" y="2769516"/>
            <a:ext cx="7465407" cy="2753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0d446a45a_0_10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웹페이지의 DOM 트리 확인하는 방법</a:t>
            </a:r>
            <a:endParaRPr/>
          </a:p>
        </p:txBody>
      </p:sp>
      <p:sp>
        <p:nvSpPr>
          <p:cNvPr id="92" name="Google Shape;92;g370d446a45a_0_101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웹페이지의 DOM 트리는 어디서 볼 수 있을까? 크롬 브라우저에서 마우스 오른쪽 버튼을 누르고 [검사]를 선택하면 다음과 같은 화면이 등장한다</a:t>
            </a:r>
            <a:endParaRPr/>
          </a:p>
        </p:txBody>
      </p:sp>
      <p:sp>
        <p:nvSpPr>
          <p:cNvPr id="93" name="Google Shape;93;g370d446a45a_0_10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g370d446a45a_0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042" y="2467768"/>
            <a:ext cx="7402179" cy="388776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70d446a45a_0_101"/>
          <p:cNvSpPr/>
          <p:nvPr/>
        </p:nvSpPr>
        <p:spPr>
          <a:xfrm>
            <a:off x="3440317" y="2897109"/>
            <a:ext cx="2643600" cy="3458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0d446a45a_0_10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DOM을 이용하여 무엇을 할 수 있을까?</a:t>
            </a:r>
            <a:endParaRPr/>
          </a:p>
        </p:txBody>
      </p:sp>
      <p:sp>
        <p:nvSpPr>
          <p:cNvPr id="101" name="Google Shape;101;g370d446a45a_0_109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우리는 자바스크립트를 사용하여 DOM 트리를 순회하면서 페이지 안의 HTML 요소들의 내용(콘텐츠)이나 속성, CSS 스타일을 우리 마음대로 변경할 수 있다.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각각의 요소에서 발생하는 이벤트에 반응하는 코드를 작성할 수 있다. </a:t>
            </a:r>
            <a:endParaRPr/>
          </a:p>
        </p:txBody>
      </p:sp>
      <p:pic>
        <p:nvPicPr>
          <p:cNvPr id="102" name="Google Shape;102;g370d446a45a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683" y="3302253"/>
            <a:ext cx="7624669" cy="2582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0d446a45a_0_41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객체들 간의 관계를 이용한 DOM 트리 순회</a:t>
            </a:r>
            <a:endParaRPr/>
          </a:p>
        </p:txBody>
      </p:sp>
      <p:sp>
        <p:nvSpPr>
          <p:cNvPr id="108" name="Google Shape;108;g370d446a45a_0_41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DOM 트리를 순회하는 한 가지 방법은 자식 노드와 부모 노드 관계를 이용하여 한 노드씩 방문하는 방법이다. 이 방법에서는 childNodes[], nextSibling[],  parentNode[]을 이용한다.</a:t>
            </a:r>
            <a:endParaRPr/>
          </a:p>
        </p:txBody>
      </p:sp>
      <p:pic>
        <p:nvPicPr>
          <p:cNvPr id="109" name="Google Shape;109;g370d446a45a_0_4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5339" y="2910075"/>
            <a:ext cx="4580468" cy="2992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0d446a45a_0_50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57142"/>
              <a:buFont typeface="Twentieth Century"/>
              <a:buNone/>
            </a:pPr>
            <a:r>
              <a:rPr lang="en-US"/>
              <a:t>childNodes[ ],</a:t>
            </a:r>
            <a:br>
              <a:rPr lang="en-US"/>
            </a:br>
            <a:r>
              <a:rPr lang="en-US"/>
              <a:t>nextSibling[ ], parentNode[ ]</a:t>
            </a:r>
            <a:endParaRPr/>
          </a:p>
        </p:txBody>
      </p:sp>
      <p:sp>
        <p:nvSpPr>
          <p:cNvPr id="115" name="Google Shape;115;g370d446a45a_0_50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Font typeface="Noto Sans Symbols"/>
              <a:buChar char="●"/>
            </a:pPr>
            <a:r>
              <a:rPr lang="en-US" sz="1400"/>
              <a:t>childNodes: 한 요소의 모든 자식 요소에 접근할 수 있다. 배열이 반환된다.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20"/>
              <a:buFont typeface="Noto Sans Symbols"/>
              <a:buChar char="●"/>
            </a:pPr>
            <a:r>
              <a:rPr lang="en-US" sz="1400"/>
              <a:t>firstChild: ‘childNodes’ 배열의 첫 번째 자식 노드가 반환된다. ‘childNodes[0]‘과 같다.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20"/>
              <a:buFont typeface="Noto Sans Symbols"/>
              <a:buChar char="●"/>
            </a:pPr>
            <a:r>
              <a:rPr lang="en-US" sz="1400"/>
              <a:t>lastChild: ‘childNodes’ 배열의 마지막 자식 노드가 반환된다. ‘childNodes[childNodes.length-1]‘과 같다.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20"/>
              <a:buFont typeface="Noto Sans Symbols"/>
              <a:buChar char="●"/>
            </a:pPr>
            <a:r>
              <a:rPr lang="en-US" sz="1400"/>
              <a:t>parentNode: 현재 노드의 부모 노드를 반환한다.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20"/>
              <a:buFont typeface="Noto Sans Symbols"/>
              <a:buChar char="●"/>
            </a:pPr>
            <a:r>
              <a:rPr lang="en-US" sz="1400"/>
              <a:t>nextSibling: 현재 노드의 다음 형제 노드를 반환한다.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20"/>
              <a:buFont typeface="Noto Sans Symbols"/>
              <a:buChar char="●"/>
            </a:pPr>
            <a:r>
              <a:rPr lang="en-US" sz="1400"/>
              <a:t>previousSibling: 현재 노드의 이전 형제 노드를 반환한다</a:t>
            </a:r>
            <a:endParaRPr/>
          </a:p>
        </p:txBody>
      </p:sp>
      <p:pic>
        <p:nvPicPr>
          <p:cNvPr id="116" name="Google Shape;116;g370d446a45a_0_5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4851" y="3811509"/>
            <a:ext cx="7037066" cy="2410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0d446a45a_0_84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DOM 노드 삭제와 추가</a:t>
            </a:r>
            <a:endParaRPr/>
          </a:p>
        </p:txBody>
      </p:sp>
      <p:sp>
        <p:nvSpPr>
          <p:cNvPr id="122" name="Google Shape;122;g370d446a45a_0_848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document 객체는 DOM 트리의 루트 노드이다. document 객체는 HTML 요소를 찾거나 추가하거나 삭제하는 메소드도 제공한다. </a:t>
            </a:r>
            <a:endParaRPr/>
          </a:p>
        </p:txBody>
      </p:sp>
      <p:pic>
        <p:nvPicPr>
          <p:cNvPr id="123" name="Google Shape;123;g370d446a45a_0_8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055" y="2741526"/>
            <a:ext cx="6774585" cy="251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0d446a45a_0_85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새로운 HTML 요소 생성</a:t>
            </a:r>
            <a:endParaRPr/>
          </a:p>
        </p:txBody>
      </p:sp>
      <p:sp>
        <p:nvSpPr>
          <p:cNvPr id="129" name="Google Shape;129;g370d446a45a_0_854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Twentieth Century"/>
              <a:buAutoNum type="arabicPeriod"/>
            </a:pPr>
            <a:r>
              <a:rPr lang="en-US"/>
              <a:t>첫 번째 단계는 새로운 요소를 생성하는 것이다. 요소를 생성하는 것은 어렵지 않다. document 객체의 createElement() 메소드를 호출하면 된다. </a:t>
            </a:r>
            <a:endParaRPr/>
          </a:p>
          <a:p>
            <a:pPr indent="0" lvl="1" marL="36576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rPr lang="en-US"/>
              <a:t>var node = document.createElement("p");</a:t>
            </a:r>
            <a:endParaRPr/>
          </a:p>
          <a:p>
            <a:pPr indent="-19431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Twentieth Century"/>
              <a:buAutoNum type="arabicPeriod"/>
            </a:pPr>
            <a:r>
              <a:rPr lang="en-US"/>
              <a:t>두 번째 단계는 문서(DOM 트리) 내에서 추가할 위치를 찾는 것이다.</a:t>
            </a:r>
            <a:endParaRPr/>
          </a:p>
          <a:p>
            <a:pPr indent="0" lvl="1" marL="32004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rPr lang="en-US"/>
              <a:t>var parent = document.getElementById("target") ;</a:t>
            </a:r>
            <a:endParaRPr/>
          </a:p>
          <a:p>
            <a:pPr indent="0" lvl="1" marL="32004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Twentieth Century"/>
              <a:buAutoNum type="arabicPeriod"/>
            </a:pPr>
            <a:r>
              <a:rPr lang="en-US"/>
              <a:t>세 번째 단계에서는 새로운 요소를 기존의 요소에 연결한다.</a:t>
            </a:r>
            <a:endParaRPr/>
          </a:p>
          <a:p>
            <a:pPr indent="0" lvl="1" marL="32004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rPr lang="en-US"/>
              <a:t>parent.appendChild(node);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0d446a45a_0_85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 </a:t>
            </a:r>
            <a:endParaRPr/>
          </a:p>
        </p:txBody>
      </p:sp>
      <p:sp>
        <p:nvSpPr>
          <p:cNvPr id="135" name="Google Shape;135;g370d446a45a_0_859"/>
          <p:cNvSpPr txBox="1"/>
          <p:nvPr/>
        </p:nvSpPr>
        <p:spPr>
          <a:xfrm>
            <a:off x="612648" y="1680854"/>
            <a:ext cx="7968300" cy="3755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lang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"ko"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addNode(t)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node = document.createElement(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"p"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 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node.innerHTML=t;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"target"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).appendChild(node);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&lt;div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"target"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"addNode(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'동적으로 텍스트가 추가됩니다.'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"font: 20px italic;"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여기를 클릭하세요.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6" name="Google Shape;136;g370d446a45a_0_85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70d446a45a_0_85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70d446a45a_0_859"/>
          <p:cNvSpPr/>
          <p:nvPr/>
        </p:nvSpPr>
        <p:spPr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70d446a45a_0_859"/>
          <p:cNvSpPr/>
          <p:nvPr/>
        </p:nvSpPr>
        <p:spPr>
          <a:xfrm>
            <a:off x="304800" y="3048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70d446a45a_0_859"/>
          <p:cNvSpPr/>
          <p:nvPr/>
        </p:nvSpPr>
        <p:spPr>
          <a:xfrm>
            <a:off x="457200" y="4572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g370d446a45a_0_8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0792" y="5506647"/>
            <a:ext cx="3029695" cy="1046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70d446a45a_0_8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6143" y="5506647"/>
            <a:ext cx="3029695" cy="104655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70d446a45a_0_859"/>
          <p:cNvSpPr/>
          <p:nvPr/>
        </p:nvSpPr>
        <p:spPr>
          <a:xfrm>
            <a:off x="609600" y="6096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70d446a45a_0_859"/>
          <p:cNvSpPr/>
          <p:nvPr/>
        </p:nvSpPr>
        <p:spPr>
          <a:xfrm>
            <a:off x="4146487" y="5739897"/>
            <a:ext cx="208200" cy="50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0d446a45a_0_873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기존의 HTML 요소를 삭제</a:t>
            </a:r>
            <a:endParaRPr/>
          </a:p>
        </p:txBody>
      </p:sp>
      <p:sp>
        <p:nvSpPr>
          <p:cNvPr id="150" name="Google Shape;150;g370d446a45a_0_873"/>
          <p:cNvSpPr txBox="1"/>
          <p:nvPr/>
        </p:nvSpPr>
        <p:spPr>
          <a:xfrm>
            <a:off x="612648" y="1680854"/>
            <a:ext cx="7968300" cy="4186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removeNode()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parent 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"target"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child 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"p1"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parent.removeChild(child);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="target"&gt;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="p1"&gt;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첫번째 단락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="p2"&gt;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두번째 단락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="removeNode()"&gt;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누르세요!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51" name="Google Shape;151;g370d446a45a_0_8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4565" y="3696216"/>
            <a:ext cx="3299435" cy="130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70d446a45a_0_8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4564" y="5177146"/>
            <a:ext cx="3299437" cy="130284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70d446a45a_0_87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0d446a45a_0_89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document.write() 메소드</a:t>
            </a:r>
            <a:endParaRPr/>
          </a:p>
        </p:txBody>
      </p:sp>
      <p:sp>
        <p:nvSpPr>
          <p:cNvPr id="159" name="Google Shape;159;g370d446a45a_0_896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DOM 트리 생성 종료 이전에 write() 메소드를 만나면 큰 문제 없이, 현재 작업 중인 DOM 트리에 주어진 콘텐츠를 추가한다. 하지만 DOM 트리가 완전히 생성된 후에 write()를 호출하면 기존의 DOM가 모두 삭제된다. 따라서 주의하여야 한다.</a:t>
            </a:r>
            <a:endParaRPr/>
          </a:p>
        </p:txBody>
      </p:sp>
      <p:pic>
        <p:nvPicPr>
          <p:cNvPr id="160" name="Google Shape;160;g370d446a45a_0_8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356" y="3429000"/>
            <a:ext cx="6373640" cy="234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0d446a45a_0_90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166" name="Google Shape;166;g370d446a45a_0_902"/>
          <p:cNvSpPr txBox="1"/>
          <p:nvPr/>
        </p:nvSpPr>
        <p:spPr>
          <a:xfrm>
            <a:off x="705218" y="1447800"/>
            <a:ext cx="7968300" cy="33246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&lt;h2&gt;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write() 메소드 실험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document.write(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"&lt;h3&gt; DOM 완성전까지는 기존 문서에 추가됩니다.&lt;/h3&gt;"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&lt;button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onclick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"sub()"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write() 호출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sub()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document.write(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"&lt;h1&gt;write() 호출&lt;/h1&gt;"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67" name="Google Shape;167;g370d446a45a_0_90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g370d446a45a_0_9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773" y="5000386"/>
            <a:ext cx="3196613" cy="1556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70d446a45a_0_9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7101" y="5000387"/>
            <a:ext cx="3196613" cy="155694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70d446a45a_0_902"/>
          <p:cNvSpPr/>
          <p:nvPr/>
        </p:nvSpPr>
        <p:spPr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70d446a45a_0_902"/>
          <p:cNvSpPr/>
          <p:nvPr/>
        </p:nvSpPr>
        <p:spPr>
          <a:xfrm>
            <a:off x="4481465" y="5504507"/>
            <a:ext cx="289800" cy="55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400">
                <a:latin typeface="Century Schoolbook"/>
                <a:ea typeface="Century Schoolbook"/>
                <a:cs typeface="Century Schoolbook"/>
                <a:sym typeface="Century Schoolbook"/>
              </a:rPr>
              <a:t>DOM제어를 위한 HTML 요소 찾기</a:t>
            </a:r>
            <a:endParaRPr sz="34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77" name="Google Shape;177;p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DOM노드 객체들의 관계가 아니어도 HTML 요소를 제어할 수 있다.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동적인 웹페이지를 작성하려면 원하는 요소를 찾아야 한다.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id로 HTML 요소 찾기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태그 이름으로 HTML 요소 찾기 </a:t>
            </a:r>
            <a:endParaRPr/>
          </a:p>
          <a:p>
            <a:pPr indent="-273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∙"/>
            </a:pPr>
            <a:r>
              <a:rPr lang="en-US"/>
              <a:t>클래스 이름으로 HTML 요소 찾기</a:t>
            </a:r>
            <a:endParaRPr/>
          </a:p>
          <a:p>
            <a:pPr indent="-273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∙"/>
            </a:pPr>
            <a:r>
              <a:rPr lang="en-US"/>
              <a:t>CSS 선택자를 이용하여 HTML 요소 찾기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0d446a45a_0_289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id로 HTML 요소 찾기</a:t>
            </a:r>
            <a:endParaRPr/>
          </a:p>
        </p:txBody>
      </p:sp>
      <p:sp>
        <p:nvSpPr>
          <p:cNvPr id="183" name="Google Shape;183;g370d446a45a_0_289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DOM에서 HTML 요소를 찾는 가장 쉬운 방법은 요소의 id를 이용하는 것이다. </a:t>
            </a:r>
            <a:endParaRPr/>
          </a:p>
        </p:txBody>
      </p:sp>
      <p:pic>
        <p:nvPicPr>
          <p:cNvPr id="184" name="Google Shape;184;g370d446a45a_0_2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2755" y="2241123"/>
            <a:ext cx="6733183" cy="105773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70d446a45a_0_289"/>
          <p:cNvSpPr txBox="1"/>
          <p:nvPr/>
        </p:nvSpPr>
        <p:spPr>
          <a:xfrm>
            <a:off x="967511" y="3679856"/>
            <a:ext cx="7443600" cy="26352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&lt;p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"special"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&gt;&lt;/p&gt;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"special"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"Hello World!"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86" name="Google Shape;186;g370d446a45a_0_28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g370d446a45a_0_2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4317" y="3429000"/>
            <a:ext cx="3754770" cy="1285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g370d446a45a_0_2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5897" y="2904277"/>
            <a:ext cx="4827478" cy="147833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70d446a45a_0_29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태그 이름으로 HTML 요소 찾기</a:t>
            </a:r>
            <a:endParaRPr/>
          </a:p>
        </p:txBody>
      </p:sp>
      <p:sp>
        <p:nvSpPr>
          <p:cNvPr id="194" name="Google Shape;194;g370d446a45a_0_298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비슷한 메소드로 getElementsByTagName() 메소드가 있다. 이 메소드는 태그의 이름을 인수로 받아서 이 태그를 사용하는 모든 요소들을 배열에 넣어서 반환한다. </a:t>
            </a:r>
            <a:endParaRPr/>
          </a:p>
        </p:txBody>
      </p:sp>
      <p:sp>
        <p:nvSpPr>
          <p:cNvPr id="195" name="Google Shape;195;g370d446a45a_0_29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0d446a45a_0_30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태그 이름으로 HTML 요소 찾기</a:t>
            </a:r>
            <a:endParaRPr/>
          </a:p>
        </p:txBody>
      </p:sp>
      <p:sp>
        <p:nvSpPr>
          <p:cNvPr id="201" name="Google Shape;201;g370d446a45a_0_305"/>
          <p:cNvSpPr txBox="1"/>
          <p:nvPr/>
        </p:nvSpPr>
        <p:spPr>
          <a:xfrm>
            <a:off x="686854" y="1733360"/>
            <a:ext cx="7968300" cy="32385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&lt;p&gt;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첫번째 p 요소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&lt;/p&gt;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&lt;p&gt;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두번째 p 요소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&lt;/p&gt;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&lt;p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"special"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&gt;&lt;/p&gt;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eleArray = document.getElementsByTagName(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"p"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"special"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'eleArray[0]: 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eleArray[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].innerHTML;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02" name="Google Shape;202;g370d446a45a_0_30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70d446a45a_0_30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g370d446a45a_0_3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9348" y="4642399"/>
            <a:ext cx="4352632" cy="1857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0d446a45a_0_32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CSS 선택자로 HTML 요소 찾기</a:t>
            </a:r>
            <a:endParaRPr/>
          </a:p>
        </p:txBody>
      </p:sp>
      <p:sp>
        <p:nvSpPr>
          <p:cNvPr id="210" name="Google Shape;210;g370d446a45a_0_322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지정된 CSS 선택자와 일치하는 모든 HTML 요소를 찾으려면 querySelectorAll() 메소드를 사용한다.</a:t>
            </a:r>
            <a:endParaRPr/>
          </a:p>
        </p:txBody>
      </p:sp>
      <p:sp>
        <p:nvSpPr>
          <p:cNvPr id="211" name="Google Shape;211;g370d446a45a_0_32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70d446a45a_0_322"/>
          <p:cNvSpPr txBox="1"/>
          <p:nvPr/>
        </p:nvSpPr>
        <p:spPr>
          <a:xfrm>
            <a:off x="705218" y="2502904"/>
            <a:ext cx="7968300" cy="34110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&lt;p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class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"special"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 is a first paragraph.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&lt;/p&gt;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&lt;p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class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"special"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 is a second paragraph.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&lt;/p&gt;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&lt;p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"result"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&gt;&lt;/p&gt;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arr = document.querySelectorAll(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"p.special"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"result"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 =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'첫번째 요소는: 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arr[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].innerHTML;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13" name="Google Shape;213;g370d446a45a_0_32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g370d446a45a_0_3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9470" y="5083872"/>
            <a:ext cx="4146261" cy="171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0d446a45a_0_67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HTML 요소 변경하기</a:t>
            </a:r>
            <a:endParaRPr/>
          </a:p>
        </p:txBody>
      </p:sp>
      <p:sp>
        <p:nvSpPr>
          <p:cNvPr id="220" name="Google Shape;220;g370d446a45a_0_674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자바스크립트를 이용하여 HTML 문서의 DOM을 변경하는 것은 3가지 경우로 나눌 수 있다. HTML 문서가 변경되는 것은 아니고 DOM만 변경된다는 것을 잊지 말자. 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요소의 내용 변경하기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요소의 속성 변경하기 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∙"/>
            </a:pPr>
            <a:r>
              <a:rPr lang="en-US"/>
              <a:t>요소의 스타일 변경하기</a:t>
            </a:r>
            <a:endParaRPr/>
          </a:p>
        </p:txBody>
      </p:sp>
      <p:pic>
        <p:nvPicPr>
          <p:cNvPr descr="Document Object Model - Wikipedia" id="221" name="Google Shape;221;g370d446a45a_0_6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5834" y="2879001"/>
            <a:ext cx="3233643" cy="334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0d446a45a_0_68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요소의 내용 변경하기</a:t>
            </a:r>
            <a:endParaRPr/>
          </a:p>
        </p:txBody>
      </p:sp>
      <p:sp>
        <p:nvSpPr>
          <p:cNvPr id="227" name="Google Shape;227;g370d446a45a_0_680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HTML 요소의 내용을 변경하는 가장 쉬운 방법은 innerHTML 속성을 사용하는 것이다. innerHTML은 요소의 시작 태그와 종료 태그 사이에 놓여진 모든 HTML 코드와 텍스트를 의미한다. </a:t>
            </a:r>
            <a:endParaRPr/>
          </a:p>
        </p:txBody>
      </p:sp>
      <p:pic>
        <p:nvPicPr>
          <p:cNvPr id="228" name="Google Shape;228;g370d446a45a_0_6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2852" y="2523362"/>
            <a:ext cx="5222906" cy="1572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70d446a45a_0_6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3565" y="4334638"/>
            <a:ext cx="7532483" cy="2294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0d446a45a_0_687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35" name="Google Shape;235;g370d446a45a_0_687"/>
          <p:cNvSpPr txBox="1"/>
          <p:nvPr/>
        </p:nvSpPr>
        <p:spPr>
          <a:xfrm>
            <a:off x="587870" y="1701410"/>
            <a:ext cx="7968300" cy="48333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get()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val 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"ex"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alert(val);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set(v)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"ex"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 = v;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="ex"&gt;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여기가 div로 선언되었습니다.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href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="#"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="get()"&gt;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 요소 내용 출력하기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href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="#"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="set('변경되었습니다.')"&gt;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 요소 내용 변경하기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70d446a45a_0_68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70d446a45a_0_68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g370d446a45a_0_6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2687" y="573508"/>
            <a:ext cx="2650473" cy="114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70d446a45a_0_6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2688" y="1799173"/>
            <a:ext cx="2650473" cy="114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70d446a45a_0_6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3528" y="1799173"/>
            <a:ext cx="2650472" cy="1143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70d446a45a_0_697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요소의 속성 변경하기</a:t>
            </a:r>
            <a:endParaRPr/>
          </a:p>
        </p:txBody>
      </p:sp>
      <p:sp>
        <p:nvSpPr>
          <p:cNvPr id="246" name="Google Shape;246;g370d446a45a_0_697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HTML 요소의 속성을 변경하려면 다음과 같은 문법을 사용한다. </a:t>
            </a:r>
            <a:endParaRPr/>
          </a:p>
        </p:txBody>
      </p:sp>
      <p:pic>
        <p:nvPicPr>
          <p:cNvPr id="247" name="Google Shape;247;g370d446a45a_0_6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6004" y="2589760"/>
            <a:ext cx="6127970" cy="90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70d446a45a_0_703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53" name="Google Shape;253;g370d446a45a_0_703"/>
          <p:cNvSpPr txBox="1"/>
          <p:nvPr/>
        </p:nvSpPr>
        <p:spPr>
          <a:xfrm>
            <a:off x="612648" y="1592994"/>
            <a:ext cx="7968300" cy="31092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="image"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src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="pome.png"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="120"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="100"&gt;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changeImage()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"image"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).src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"poodle.png"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="button"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changeImage()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="눌러보세요"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70d446a45a_0_70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70d446a45a_0_70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g370d446a45a_0_7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414" y="5045584"/>
            <a:ext cx="3485586" cy="150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70d446a45a_0_7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5084" y="5045584"/>
            <a:ext cx="3485586" cy="150340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70d446a45a_0_703"/>
          <p:cNvSpPr/>
          <p:nvPr/>
        </p:nvSpPr>
        <p:spPr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70d446a45a_0_703"/>
          <p:cNvSpPr/>
          <p:nvPr/>
        </p:nvSpPr>
        <p:spPr>
          <a:xfrm>
            <a:off x="4596777" y="5477347"/>
            <a:ext cx="273900" cy="49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70d446a45a_0_71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요소의 스타일 변경하기</a:t>
            </a:r>
            <a:endParaRPr/>
          </a:p>
        </p:txBody>
      </p:sp>
      <p:sp>
        <p:nvSpPr>
          <p:cNvPr id="265" name="Google Shape;265;g370d446a45a_0_714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DOM과 자바스크립트를 사용하면 HTML 요소의 스타일도 얼마든지 동적으로 변경할 수 있다. </a:t>
            </a:r>
            <a:endParaRPr/>
          </a:p>
        </p:txBody>
      </p:sp>
      <p:pic>
        <p:nvPicPr>
          <p:cNvPr id="266" name="Google Shape;266;g370d446a45a_0_7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2547" y="2472682"/>
            <a:ext cx="6753602" cy="1508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0d446a45a_0_720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예제1.</a:t>
            </a:r>
            <a:endParaRPr/>
          </a:p>
        </p:txBody>
      </p:sp>
      <p:sp>
        <p:nvSpPr>
          <p:cNvPr id="272" name="Google Shape;272;g370d446a45a_0_720"/>
          <p:cNvSpPr txBox="1"/>
          <p:nvPr/>
        </p:nvSpPr>
        <p:spPr>
          <a:xfrm>
            <a:off x="612648" y="1592994"/>
            <a:ext cx="7968300" cy="31092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="p1"&gt;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 is a paragraph.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changeStyle()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"p1"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).style.color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"red"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"p1"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).style.fontFamily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"Century Schoolbook";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"p1"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).style.fontStyle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"italic";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="button"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changeStyle()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="눌러보세요"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70d446a45a_0_72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70d446a45a_0_72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70d446a45a_0_720"/>
          <p:cNvSpPr/>
          <p:nvPr/>
        </p:nvSpPr>
        <p:spPr>
          <a:xfrm>
            <a:off x="4596777" y="5477347"/>
            <a:ext cx="273900" cy="49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g370d446a45a_0_7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08" y="5075331"/>
            <a:ext cx="3206752" cy="1195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70d446a45a_0_7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4155" y="5075331"/>
            <a:ext cx="3206752" cy="1195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70d446a45a_0_732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예제2.</a:t>
            </a:r>
            <a:endParaRPr/>
          </a:p>
        </p:txBody>
      </p:sp>
      <p:sp>
        <p:nvSpPr>
          <p:cNvPr id="283" name="Google Shape;283;g370d446a45a_0_732"/>
          <p:cNvSpPr txBox="1"/>
          <p:nvPr/>
        </p:nvSpPr>
        <p:spPr>
          <a:xfrm>
            <a:off x="612648" y="1592994"/>
            <a:ext cx="7968300" cy="31092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h3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="heading"&gt;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이것은 헤딩입니다.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h3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="button"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="요소숨김"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'heading'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).style.visibility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'hidden'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="button"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="요소표시"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'heading'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).style.visibility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'visible'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70d446a45a_0_73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70d446a45a_0_73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70d446a45a_0_732"/>
          <p:cNvSpPr/>
          <p:nvPr/>
        </p:nvSpPr>
        <p:spPr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70d446a45a_0_732"/>
          <p:cNvSpPr/>
          <p:nvPr/>
        </p:nvSpPr>
        <p:spPr>
          <a:xfrm>
            <a:off x="4596777" y="5477347"/>
            <a:ext cx="273900" cy="49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g370d446a45a_0_7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658" y="5089831"/>
            <a:ext cx="3413466" cy="1272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370d446a45a_0_7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7441" y="5094632"/>
            <a:ext cx="3413466" cy="1272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70d446a45a_0_74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예제3.</a:t>
            </a:r>
            <a:endParaRPr/>
          </a:p>
        </p:txBody>
      </p:sp>
      <p:sp>
        <p:nvSpPr>
          <p:cNvPr id="295" name="Google Shape;295;g370d446a45a_0_74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자바스크립트를 이용하여서 다크 모드와 라이트 모드를 토글 할 수 있는 버튼을 만들어보자. </a:t>
            </a:r>
            <a:endParaRPr/>
          </a:p>
        </p:txBody>
      </p:sp>
      <p:pic>
        <p:nvPicPr>
          <p:cNvPr id="296" name="Google Shape;296;g370d446a45a_0_7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382" y="2587314"/>
            <a:ext cx="3548032" cy="1683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g370d446a45a_0_7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319" y="2587314"/>
            <a:ext cx="3548033" cy="168337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70d446a45a_0_74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70d446a45a_0_745"/>
          <p:cNvSpPr/>
          <p:nvPr/>
        </p:nvSpPr>
        <p:spPr>
          <a:xfrm>
            <a:off x="4647414" y="3213980"/>
            <a:ext cx="268500" cy="53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70d446a45a_0_75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예제3.</a:t>
            </a:r>
            <a:endParaRPr/>
          </a:p>
        </p:txBody>
      </p:sp>
      <p:sp>
        <p:nvSpPr>
          <p:cNvPr id="305" name="Google Shape;305;g370d446a45a_0_754"/>
          <p:cNvSpPr txBox="1"/>
          <p:nvPr/>
        </p:nvSpPr>
        <p:spPr>
          <a:xfrm>
            <a:off x="612650" y="1295400"/>
            <a:ext cx="7968300" cy="52641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mode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"white"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sub()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(mode ==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"white"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document.getElementsByTagName(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"body"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)[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].style.backgroundColor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"black"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document.getElementsByTagName(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"body"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)[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].style.color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"white"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mode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"black"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}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else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document.getElementsByTagName(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"body"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)[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].style.backgroundColor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"white"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document.getElementsByTagName(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"body"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)[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].style.color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"black"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mode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"white"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&lt;h2&gt;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다크 모드와 라이트 모드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&lt;p&gt;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버튼을 누르면 다크 모드와 라이트 모드가 토글됩니다.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&lt;button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onclick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"sub()"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다크모드 토글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&lt;/button&gt;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70d446a45a_0_75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70d446a45a_0_75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70d446a45a_0_754"/>
          <p:cNvSpPr/>
          <p:nvPr/>
        </p:nvSpPr>
        <p:spPr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0d446a45a_0_59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입력 양식에서 사용자 입력값 읽기 #1</a:t>
            </a:r>
            <a:endParaRPr/>
          </a:p>
        </p:txBody>
      </p:sp>
      <p:sp>
        <p:nvSpPr>
          <p:cNvPr id="314" name="Google Shape;314;g370d446a45a_0_59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일반 HTML 요소에서는 innerHTML 속성을 이용하여 요소 안의 내용을 읽으면 된다. 하지만 &lt;input&gt;과 같은 입력 양식에서는 어떻게 읽어야 할까?</a:t>
            </a:r>
            <a:endParaRPr/>
          </a:p>
        </p:txBody>
      </p:sp>
      <p:sp>
        <p:nvSpPr>
          <p:cNvPr id="315" name="Google Shape;315;g370d446a45a_0_595"/>
          <p:cNvSpPr txBox="1"/>
          <p:nvPr/>
        </p:nvSpPr>
        <p:spPr>
          <a:xfrm>
            <a:off x="705218" y="2502904"/>
            <a:ext cx="7968300" cy="3755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process()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let obj 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"target"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alert(obj.value);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="myform"&gt;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="text"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="target"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="text1"&gt;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="submit"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="제출"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process()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16" name="Google Shape;316;g370d446a45a_0_59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g370d446a45a_0_5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3263" y="4250310"/>
            <a:ext cx="3190875" cy="1392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70d446a45a_0_5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3262" y="3017909"/>
            <a:ext cx="3190875" cy="9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70d446a45a_0_60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입력 양식에서 사용자 입력값 읽기 #2</a:t>
            </a:r>
            <a:endParaRPr/>
          </a:p>
        </p:txBody>
      </p:sp>
      <p:sp>
        <p:nvSpPr>
          <p:cNvPr id="324" name="Google Shape;324;g370d446a45a_0_604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입력 요소를 찾을 때, 많이 사용되는 방법이 하나 더 있다. document 객체 안에 forms라는 배열 객체가 있다. forms 객체는 document 객체 안에 존재하는 모든 입력 양식을 저장한다.</a:t>
            </a:r>
            <a:endParaRPr/>
          </a:p>
        </p:txBody>
      </p:sp>
      <p:pic>
        <p:nvPicPr>
          <p:cNvPr id="325" name="Google Shape;325;g370d446a45a_0_6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9913" y="2733508"/>
            <a:ext cx="7342360" cy="1390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370d446a45a_0_6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9913" y="4272445"/>
            <a:ext cx="7342359" cy="1345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70d446a45a_0_611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332" name="Google Shape;332;g370d446a45a_0_611"/>
          <p:cNvSpPr txBox="1"/>
          <p:nvPr/>
        </p:nvSpPr>
        <p:spPr>
          <a:xfrm>
            <a:off x="587870" y="1908017"/>
            <a:ext cx="7968300" cy="39711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process()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obj = document.myform.text1;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alert(obj.value);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="myform"&gt;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="text"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="target"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="text1"&gt;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="submit"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="제출"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process()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33" name="Google Shape;333;g370d446a45a_0_61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g370d446a45a_0_6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3307" y="2291014"/>
            <a:ext cx="3650828" cy="1592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0d446a45a_0_618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텍스트 영역에서 읽기</a:t>
            </a:r>
            <a:endParaRPr/>
          </a:p>
        </p:txBody>
      </p:sp>
      <p:sp>
        <p:nvSpPr>
          <p:cNvPr id="340" name="Google Shape;340;g370d446a45a_0_618"/>
          <p:cNvSpPr txBox="1"/>
          <p:nvPr/>
        </p:nvSpPr>
        <p:spPr>
          <a:xfrm>
            <a:off x="587870" y="1880856"/>
            <a:ext cx="7968300" cy="4445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lang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"ko"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getTextAreaValue() {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s 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"textArea"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).value;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"result"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).value = s;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&lt;TEXTAREA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"textArea"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rows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cols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 is a TextArea.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&lt;/TEXTAREA&gt;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"button"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"getTextAreaValue();"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"클릭"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&lt;TEXTAREA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"result"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rows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cols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&gt;&lt;/TEXTAREA&gt;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41" name="Google Shape;341;g370d446a45a_0_6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9610" y="2019378"/>
            <a:ext cx="3612937" cy="1376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g370d446a45a_0_6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79610" y="3429000"/>
            <a:ext cx="3612937" cy="1376128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g370d446a45a_0_61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70d446a45a_0_626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체크 박스에서 읽기</a:t>
            </a:r>
            <a:endParaRPr/>
          </a:p>
        </p:txBody>
      </p:sp>
      <p:sp>
        <p:nvSpPr>
          <p:cNvPr id="349" name="Google Shape;349;g370d446a45a_0_626"/>
          <p:cNvSpPr txBox="1"/>
          <p:nvPr/>
        </p:nvSpPr>
        <p:spPr>
          <a:xfrm>
            <a:off x="612648" y="1621829"/>
            <a:ext cx="7968300" cy="49626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lang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"ko"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get() {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"myCheckBox"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).checked) {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"result"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).value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"동의하셨습니다."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}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else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"result"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).value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"동의하지 않으셨습니다."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}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"checkbox"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"myCheckBox"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동의합니다.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&lt;br&gt;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"button"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"get();"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"클릭"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"text"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"result"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50" name="Google Shape;350;g370d446a45a_0_6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8644" y="4217671"/>
            <a:ext cx="2991646" cy="99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g370d446a45a_0_6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8644" y="5236171"/>
            <a:ext cx="2991648" cy="99059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70d446a45a_0_62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70d446a45a_0_634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라디오 버튼에서 읽기</a:t>
            </a:r>
            <a:endParaRPr/>
          </a:p>
        </p:txBody>
      </p:sp>
      <p:sp>
        <p:nvSpPr>
          <p:cNvPr id="358" name="Google Shape;358;g370d446a45a_0_634"/>
          <p:cNvSpPr txBox="1"/>
          <p:nvPr/>
        </p:nvSpPr>
        <p:spPr>
          <a:xfrm>
            <a:off x="377952" y="836672"/>
            <a:ext cx="7968300" cy="5996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lang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"en"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getValue() {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list = document.getElementsByName(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'color'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 =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 i &lt; list.length; i++) {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(list[i].checked) {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   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"result"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).value = list[i].value;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break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}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}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"radio"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"color"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CHECKED 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"red"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RED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&lt;BR&gt;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"radio"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"color"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"blue"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BLUE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&lt;BR&gt;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"radio"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"color"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"green"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GREEN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&lt;BR&gt;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"button"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"getValue();"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"클릭"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"text"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"result"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59" name="Google Shape;359;g370d446a45a_0_63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Google Shape;360;g370d446a45a_0_6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6114" y="1300264"/>
            <a:ext cx="3488743" cy="142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g370d446a45a_0_6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6114" y="3327887"/>
            <a:ext cx="3488743" cy="1421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70d446a45a_0_634"/>
          <p:cNvSpPr/>
          <p:nvPr/>
        </p:nvSpPr>
        <p:spPr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0d446a45a_0_652"/>
          <p:cNvSpPr txBox="1"/>
          <p:nvPr>
            <p:ph type="title"/>
          </p:nvPr>
        </p:nvSpPr>
        <p:spPr>
          <a:xfrm>
            <a:off x="1125538" y="228600"/>
            <a:ext cx="7789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SelectList에서 값읽기</a:t>
            </a:r>
            <a:endParaRPr/>
          </a:p>
        </p:txBody>
      </p:sp>
      <p:sp>
        <p:nvSpPr>
          <p:cNvPr id="368" name="Google Shape;368;g370d446a45a_0_652"/>
          <p:cNvSpPr txBox="1"/>
          <p:nvPr/>
        </p:nvSpPr>
        <p:spPr>
          <a:xfrm>
            <a:off x="377952" y="836672"/>
            <a:ext cx="7968300" cy="59967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lang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"en"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getValue() {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selected, s;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selected 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"myList"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).selectedIndex;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s 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"myList"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).options[selected].value;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"result"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).value = s;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&lt;select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"myList"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&lt;option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"학생"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학생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&lt;/option&gt;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&lt;option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"직장인"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SELECTED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직장인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&lt;/option&gt;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&lt;option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"전문직"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전문직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&lt;/option&gt;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&lt;option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"무직"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무직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&lt;/option&gt;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&lt;/select&gt;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"button"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"getValue()"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"클릭"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"text"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"result"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69" name="Google Shape;369;g370d446a45a_0_6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2193" y="3038516"/>
            <a:ext cx="3721807" cy="1617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2"/>
          <p:cNvSpPr txBox="1"/>
          <p:nvPr>
            <p:ph type="title"/>
          </p:nvPr>
        </p:nvSpPr>
        <p:spPr>
          <a:xfrm>
            <a:off x="1260475" y="371475"/>
            <a:ext cx="7623175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Q &amp; A</a:t>
            </a:r>
            <a:endParaRPr/>
          </a:p>
        </p:txBody>
      </p:sp>
      <p:pic>
        <p:nvPicPr>
          <p:cNvPr descr="MCj02406990000[1]" id="375" name="Google Shape;37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4688" y="1978025"/>
            <a:ext cx="2797175" cy="2024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j04165020000[1]" id="376" name="Google Shape;376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9913" y="2103438"/>
            <a:ext cx="1706562" cy="163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2007-06-29T06:43:39Z</dcterms:created>
  <dc:creator>천인국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