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6858000" cx="9144000"/>
  <p:notesSz cx="6934200" cy="9220200"/>
  <p:embeddedFontLst>
    <p:embeddedFont>
      <p:font typeface="Century Schoolbook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83" roundtripDataSignature="AMtx7mi9XNJ3ZX0NsOsftYNgPJc0d60y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3" Type="http://customschemas.google.com/relationships/presentationmetadata" Target="meta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CenturySchoolbook-bold.fntdata"/><Relationship Id="rId82" Type="http://schemas.openxmlformats.org/officeDocument/2006/relationships/font" Target="fonts/CenturySchoolbook-boldItalic.fntdata"/><Relationship Id="rId81" Type="http://schemas.openxmlformats.org/officeDocument/2006/relationships/font" Target="fonts/CenturySchoolbook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CenturySchoolbook-regular.fntdata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0862c8b7c_0_13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70862c8b7c_0_13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0862c8b7c_0_14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70862c8b7c_0_14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0862c8b7c_0_23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70862c8b7c_0_23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0862c8b7c_0_23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70862c8b7c_0_23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0862c8b7c_0_3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70862c8b7c_0_3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0862c8b7c_0_33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70862c8b7c_0_33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0862c8b7c_0_34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70862c8b7c_0_34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0862c8b7c_0_35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70862c8b7c_0_35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0862c8b7c_0_36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70862c8b7c_0_36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0862c8b7c_0_45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70862c8b7c_0_45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0862c8b7c_0_54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70862c8b7c_0_54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0862c8b7c_0_63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70862c8b7c_0_63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0862c8b7c_0_64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70862c8b7c_0_64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0862c8b7c_0_104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70862c8b7c_0_104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0862c8b7c_0_104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70862c8b7c_0_104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0862c8b7c_0_105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70862c8b7c_0_105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0862c8b7c_0_106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70862c8b7c_0_106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0862c8b7c_0_107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70862c8b7c_0_107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0862c8b7c_0_107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70862c8b7c_0_107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0862c8b7c_0_109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70862c8b7c_0_109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0862c8b7c_0_109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70862c8b7c_0_109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0862c8b7c_0_110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70862c8b7c_0_110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0862c8b7c_0_111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70862c8b7c_0_111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0862c8b7c_0_112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70862c8b7c_0_112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0862c8b7c_0_11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370862c8b7c_0_11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0862c8b7c_0_113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70862c8b7c_0_113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0862c8b7c_0_123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70862c8b7c_0_123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0862c8b7c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370862c8b7c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70862c8b7c_0_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370862c8b7c_0_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0862c8b7c_0_1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g370862c8b7c_0_1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70862c8b7c_0_13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70862c8b7c_0_13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0862c8b7c_0_1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g370862c8b7c_0_1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70862c8b7c_0_142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70862c8b7c_0_142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0862c8b7c_0_143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70862c8b7c_0_143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0862c8b7c_0_143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70862c8b7c_0_143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70862c8b7c_0_144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g370862c8b7c_0_144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44e7848d7b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g344e7848d7b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0862c8b7c_0_145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g370862c8b7c_0_145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70862c8b7c_0_147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370862c8b7c_0_147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0862c8b7c_0_148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g370862c8b7c_0_148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0862c8b7c_0_149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70862c8b7c_0_149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0862c8b7c_0_151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370862c8b7c_0_151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3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4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4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70862c8b7c_0_75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g370862c8b7c_0_75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6f5707401a_0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g36f5707401a_0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6f5707401a_0_1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36f5707401a_0_1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6f5707401a_0_2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g36f5707401a_0_2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0f602fa9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d0f602fa9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d0f602fa9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d0f602fa9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d0f602fa9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0f602fa9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0f602fa9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d0f602fa9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d0f602fa9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d0f602fa9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d0f602fa9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d0f602fa9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d0f602fa9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d0f602fa9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f602fa9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d0f602fa9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d0f602fa9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d0f602fa9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d0f602fa9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0f602fa9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d0f602fa9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d0f602fa9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d0f602fa9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d0f602fa9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d0f602fa9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d0f602fa9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0f602fa9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d0f602fa9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d0f602fa9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0f602fa9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0f602fa9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d0f602fa9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d0f602fa9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0f602fa9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d0f602fa9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d0f602fa9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Relationship Id="rId4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Relationship Id="rId4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1.png"/><Relationship Id="rId4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4.png"/><Relationship Id="rId4" Type="http://schemas.openxmlformats.org/officeDocument/2006/relationships/image" Target="../media/image5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3236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10.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자바 스크립트 객체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0862c8b7c_0_13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객체</a:t>
            </a:r>
            <a:endParaRPr/>
          </a:p>
        </p:txBody>
      </p:sp>
      <p:sp>
        <p:nvSpPr>
          <p:cNvPr id="69" name="Google Shape;69;g370862c8b7c_0_13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b="1" lang="en-US"/>
              <a:t>객체(object)</a:t>
            </a:r>
            <a:r>
              <a:rPr lang="en-US"/>
              <a:t>는 사물의 속성과 동작을 묶어서 표현하는 기법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2004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(예) 자동차는 메이커, 모델, 색상, 마력과 같은 </a:t>
            </a:r>
            <a:r>
              <a:rPr b="1" lang="en-US"/>
              <a:t>데이터</a:t>
            </a:r>
            <a:r>
              <a:rPr lang="en-US"/>
              <a:t>도 있고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출발하기, 정지하기 등의 </a:t>
            </a:r>
            <a:r>
              <a:rPr b="1" lang="en-US"/>
              <a:t>동작(기능)</a:t>
            </a:r>
            <a:r>
              <a:rPr lang="en-US"/>
              <a:t>도 가지고 있다. </a:t>
            </a:r>
            <a:endParaRPr/>
          </a:p>
        </p:txBody>
      </p:sp>
      <p:pic>
        <p:nvPicPr>
          <p:cNvPr id="70" name="Google Shape;70;g370862c8b7c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892" y="2936091"/>
            <a:ext cx="5561027" cy="2702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0862c8b7c_0_14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속성과 메소드</a:t>
            </a:r>
            <a:endParaRPr/>
          </a:p>
        </p:txBody>
      </p:sp>
      <p:sp>
        <p:nvSpPr>
          <p:cNvPr id="76" name="Google Shape;76;g370862c8b7c_0_14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 안의 데이터를 저장하는 변수를 </a:t>
            </a:r>
            <a:r>
              <a:rPr b="1" lang="en-US"/>
              <a:t>속성(property)</a:t>
            </a:r>
            <a:r>
              <a:rPr lang="en-US"/>
              <a:t>라고 하고,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객체 안의 함수를 </a:t>
            </a:r>
            <a:r>
              <a:rPr b="1" lang="en-US"/>
              <a:t>메소드(method)</a:t>
            </a:r>
            <a:r>
              <a:rPr lang="en-US"/>
              <a:t>라고 부른다. </a:t>
            </a:r>
            <a:endParaRPr/>
          </a:p>
        </p:txBody>
      </p:sp>
      <p:pic>
        <p:nvPicPr>
          <p:cNvPr id="77" name="Google Shape;77;g370862c8b7c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889" y="2267167"/>
            <a:ext cx="6980220" cy="3393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객체의 종류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객체의 2가지 종류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i="1" lang="en-US"/>
              <a:t>내장 객체(bulit-in object):</a:t>
            </a:r>
            <a:r>
              <a:rPr lang="en-US"/>
              <a:t> 생성자가 미리 작성되어 있다.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i="1" lang="en-US"/>
              <a:t>사용자 정의 객체(custom object): </a:t>
            </a:r>
            <a:r>
              <a:rPr lang="en-US"/>
              <a:t>사용자가 생성자를 정의한다.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내장 객체들은 생성자를 정의하지 않고도 사용이 가능하다. Date, String, Array와 같은 객체들이 내장 객체이다.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1125550" y="317700"/>
            <a:ext cx="7789800" cy="6348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사용자 정의 객체 생성 방법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∙"/>
            </a:pPr>
            <a:r>
              <a:rPr lang="en-US" sz="2400"/>
              <a:t>객체를 생성하는 3가지 방법</a:t>
            </a:r>
            <a:endParaRPr sz="24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객체 상수(리터럴 객체)</a:t>
            </a:r>
            <a:r>
              <a:rPr lang="en-US"/>
              <a:t>로 직접 생성한다.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생성자 함수</a:t>
            </a:r>
            <a:r>
              <a:rPr lang="en-US"/>
              <a:t>를 이용하여 객체를 정의하고 new를 통하여 객체의 인스턴스를 생성한다. </a:t>
            </a:r>
            <a:endParaRPr/>
          </a:p>
          <a:p>
            <a:pPr indent="-273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∙"/>
            </a:pPr>
            <a:r>
              <a:rPr b="1" lang="en-US">
                <a:solidFill>
                  <a:srgbClr val="0000FF"/>
                </a:solidFill>
              </a:rPr>
              <a:t>(ES6) </a:t>
            </a:r>
            <a:r>
              <a:rPr b="1" lang="en-US"/>
              <a:t>class 키워드</a:t>
            </a:r>
            <a:r>
              <a:rPr lang="en-US"/>
              <a:t>로 객체의 구조를 설계하고 new를 통하여 생성.</a:t>
            </a:r>
            <a:endParaRPr b="1">
              <a:solidFill>
                <a:srgbClr val="0000FF"/>
              </a:solidFill>
            </a:endParaRPr>
          </a:p>
          <a:p>
            <a:pPr indent="0" lvl="0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1125550" y="306750"/>
            <a:ext cx="7789800" cy="645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#1. 리터럴 객체로 객체 생성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37" y="1214438"/>
            <a:ext cx="656272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9699" y="3857625"/>
            <a:ext cx="30861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689350" y="5368100"/>
            <a:ext cx="81534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8047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객체 멤버들을 사용하기 위해서는 점(dot) 연산자를 사용한다.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먼저 어떤 객체에 속해 있는 지를 말하고 나중에 멤버 이름을 말하는 것이다.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3567" y="3565161"/>
            <a:ext cx="2634005" cy="1766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1125550" y="273875"/>
            <a:ext cx="7789800" cy="678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#2. 생성자를 이용한 객체 생성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275" y="1338263"/>
            <a:ext cx="7029450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생성자를 이용한 객체 생성</a:t>
            </a:r>
            <a:endParaRPr/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5" y="1304925"/>
            <a:ext cx="672465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객체 생성 예제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704850" y="986466"/>
            <a:ext cx="8212200" cy="5828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Car(model, speed, color)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this.model=model;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this.speed=speed;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this.color = color;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this.brake = function ()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this.speed -= 10;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this.accel = function ()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this.speed += 10;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myCar = new Car("520d", 60, "red");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document.write("모델:" + myCar.model + " 속도:" + myCar.speed + "&lt;br /&gt;");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myCar.accel();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document.write("모델:" + myCar.model + " 속도:" + myCar.speed + "&lt;br /&gt;");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myCar.brake();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document.write("모델:" + myCar.model + " 속도:" + myCar.speed + "&lt;br /&gt;");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3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1c0a7d1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675" y="2362200"/>
            <a:ext cx="3711329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기존 객체에 속성과 메소드 추가</a:t>
            </a:r>
            <a:endParaRPr/>
          </a:p>
        </p:txBody>
      </p:sp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기존에 존재하고 있던 객체에도 속성을 추가할 수 있다.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생성자 함수는 변경할 필요가 없다.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695325" y="2409825"/>
            <a:ext cx="8212138" cy="11334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myCar.turbo = true;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myCar.showModel = function() {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 alert( "모델은 " + this.model + "입니다." )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862c8b7c_0_23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for/In 루프</a:t>
            </a:r>
            <a:endParaRPr/>
          </a:p>
        </p:txBody>
      </p:sp>
      <p:sp>
        <p:nvSpPr>
          <p:cNvPr id="130" name="Google Shape;130;g370862c8b7c_0_23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for/in 루프는 객체 안의 모든 속성들에 대하여 어떤 처리를 반복할 수 있는 구조이다. </a:t>
            </a:r>
            <a:endParaRPr/>
          </a:p>
        </p:txBody>
      </p:sp>
      <p:pic>
        <p:nvPicPr>
          <p:cNvPr id="131" name="Google Shape;131;g370862c8b7c_0_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3120" y="2521767"/>
            <a:ext cx="4709075" cy="14738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0862c8b7c_0_23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소스</a:t>
            </a:r>
            <a:endParaRPr/>
          </a:p>
        </p:txBody>
      </p:sp>
      <p:sp>
        <p:nvSpPr>
          <p:cNvPr id="137" name="Google Shape;137;g370862c8b7c_0_239"/>
          <p:cNvSpPr txBox="1"/>
          <p:nvPr/>
        </p:nvSpPr>
        <p:spPr>
          <a:xfrm>
            <a:off x="612650" y="1645775"/>
            <a:ext cx="8212200" cy="2309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myCar = </a:t>
            </a:r>
            <a:r>
              <a:rPr b="0" i="0" lang="en-US" sz="1400" u="sng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{ make: </a:t>
            </a:r>
            <a:r>
              <a:rPr b="0" i="0" lang="en-US" sz="1400" u="sng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"BMW"</a:t>
            </a:r>
            <a:r>
              <a:rPr b="0" i="0" lang="en-US" sz="1400" u="sng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model: </a:t>
            </a:r>
            <a:r>
              <a:rPr b="0" i="0" lang="en-US" sz="1400" u="sng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"X5"</a:t>
            </a:r>
            <a:r>
              <a:rPr b="0" i="0" lang="en-US" sz="1400" u="sng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year: 2013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txt=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myCar)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txt += myCar[x]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document.write(txt);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8" name="Google Shape;138;g370862c8b7c_0_23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70862c8b7c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5542" y="4155068"/>
            <a:ext cx="3899244" cy="132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0862c8b7c_0_3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ECMAScript 2015부터 class라고 하는 키워드를 도입하였다. 이것은 파이썬이나 자바 언어의 클래스와 동일한 개념으로 이것을 사용하면 상당히 편리하게 클래스를 정의하고 객체를 찍어낼 수 있다. </a:t>
            </a:r>
            <a:endParaRPr/>
          </a:p>
        </p:txBody>
      </p:sp>
      <p:sp>
        <p:nvSpPr>
          <p:cNvPr id="145" name="Google Shape;145;g370862c8b7c_0_330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0862c8b7c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3178" y="3002449"/>
            <a:ext cx="3332843" cy="233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0862c8b7c_0_330"/>
          <p:cNvSpPr txBox="1"/>
          <p:nvPr>
            <p:ph type="title"/>
          </p:nvPr>
        </p:nvSpPr>
        <p:spPr>
          <a:xfrm>
            <a:off x="1125550" y="273875"/>
            <a:ext cx="7789800" cy="678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#3. class를 이용한 객체 생성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0862c8b7c_0_33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소스</a:t>
            </a:r>
            <a:endParaRPr/>
          </a:p>
        </p:txBody>
      </p:sp>
      <p:sp>
        <p:nvSpPr>
          <p:cNvPr id="153" name="Google Shape;153;g370862c8b7c_0_337"/>
          <p:cNvSpPr txBox="1"/>
          <p:nvPr/>
        </p:nvSpPr>
        <p:spPr>
          <a:xfrm>
            <a:off x="612650" y="959975"/>
            <a:ext cx="8212200" cy="5898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Dog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constructor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(name, adoptedYear)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.adoptedYear = adoptedYear;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age()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date.getFullYear() -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.adoptedYear;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myDog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Dog(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"Mary"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2013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"나의 강아지의 이름은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myDog.name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"이고, 나이는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myDog.age()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"살입니다."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4" name="Google Shape;154;g370862c8b7c_0_3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70862c8b7c_0_3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70862c8b7c_0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1711" y="2397125"/>
            <a:ext cx="4095749" cy="10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0862c8b7c_0_3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상속이 가능하다.</a:t>
            </a:r>
            <a:endParaRPr/>
          </a:p>
        </p:txBody>
      </p:sp>
      <p:sp>
        <p:nvSpPr>
          <p:cNvPr id="162" name="Google Shape;162;g370862c8b7c_0_3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자바스크립트의 새로운 버전에서는 자바 언어와 동일한 방법으로 상속을 사용할 수 있다. 예를 들어서 Animal을 상속하여서 Dog 클래스를 만들 수 있다. </a:t>
            </a:r>
            <a:endParaRPr/>
          </a:p>
        </p:txBody>
      </p:sp>
      <p:sp>
        <p:nvSpPr>
          <p:cNvPr id="163" name="Google Shape;163;g370862c8b7c_0_345"/>
          <p:cNvSpPr/>
          <p:nvPr/>
        </p:nvSpPr>
        <p:spPr>
          <a:xfrm>
            <a:off x="2009870" y="3429000"/>
            <a:ext cx="2290500" cy="38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Animal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70862c8b7c_0_345"/>
          <p:cNvSpPr/>
          <p:nvPr/>
        </p:nvSpPr>
        <p:spPr>
          <a:xfrm>
            <a:off x="2009870" y="4567473"/>
            <a:ext cx="2290500" cy="389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9050">
            <a:solidFill>
              <a:srgbClr val="A15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70862c8b7c_0_345"/>
          <p:cNvCxnSpPr>
            <a:endCxn id="163" idx="2"/>
          </p:cNvCxnSpPr>
          <p:nvPr/>
        </p:nvCxnSpPr>
        <p:spPr>
          <a:xfrm rot="10800000">
            <a:off x="3155120" y="3818400"/>
            <a:ext cx="0" cy="660900"/>
          </a:xfrm>
          <a:prstGeom prst="straightConnector1">
            <a:avLst/>
          </a:prstGeom>
          <a:noFill/>
          <a:ln cap="flat" cmpd="sng" w="10000">
            <a:solidFill>
              <a:schemeClr val="accent2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Vector clip art of dog with red tongue | Public domain vectors" id="166" name="Google Shape;166;g370862c8b7c_0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0168" y="4255129"/>
            <a:ext cx="1110531" cy="1197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0862c8b7c_0_35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소스</a:t>
            </a:r>
            <a:endParaRPr/>
          </a:p>
        </p:txBody>
      </p:sp>
      <p:sp>
        <p:nvSpPr>
          <p:cNvPr id="172" name="Google Shape;172;g370862c8b7c_0_354"/>
          <p:cNvSpPr txBox="1"/>
          <p:nvPr/>
        </p:nvSpPr>
        <p:spPr>
          <a:xfrm>
            <a:off x="612650" y="1036174"/>
            <a:ext cx="8212200" cy="5723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"test1"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&gt;&lt;/h2&gt;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class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Animal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constructor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(weight)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.weight = weight;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class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Dog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extends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Animal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constructor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(name, adoptedYear, weight)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(weight);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.adoptedYear = adoptedYear;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age()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date.getFullYear() -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.adoptedYear;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3" name="Google Shape;173;g370862c8b7c_0_35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70862c8b7c_0_35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0862c8b7c_0_36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소스</a:t>
            </a:r>
            <a:endParaRPr/>
          </a:p>
        </p:txBody>
      </p:sp>
      <p:sp>
        <p:nvSpPr>
          <p:cNvPr id="180" name="Google Shape;180;g370862c8b7c_0_361"/>
          <p:cNvSpPr txBox="1"/>
          <p:nvPr/>
        </p:nvSpPr>
        <p:spPr>
          <a:xfrm>
            <a:off x="612650" y="1544700"/>
            <a:ext cx="8212200" cy="2438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myDog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Dog(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"Mary"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2013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"나의 강아지의 이름은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myDog.name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"이고, 나이는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+ myDog.age()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"살입니다."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"나의 강아지의 체중은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myDog.weight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"킬로 입니다."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1" name="Google Shape;181;g370862c8b7c_0_36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70862c8b7c_0_36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70862c8b7c_0_36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70862c8b7c_0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625" y="4169121"/>
            <a:ext cx="4096161" cy="1272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프로토타입</a:t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자바 스크립트에서 메소드를 여러 객체가 공유하려면 어떻게 해야 하는가?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현재는 메소드를 공유할 수 없다. 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695325" y="2600324"/>
            <a:ext cx="8212138" cy="23526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 Point(xpos, ypos)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this.x = xpos;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this.y = ypos;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this.getDistance = 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	return Math.sqrt(this.x * this.x + this.y * this.y);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 p1 = new Point(10, 20);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 p2 = new Point(10, 30);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3138" y="5095875"/>
            <a:ext cx="3694325" cy="1595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프로토타입</a:t>
            </a:r>
            <a:endParaRPr/>
          </a:p>
        </p:txBody>
      </p:sp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자바스크립트의 모든 객체들은 prototype이라는 숨겨진 객체를 가지고 있으며 이 객체를 이용하여서 공유되는 메소드를 작성할 수 있다.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695325" y="2085974"/>
            <a:ext cx="8212138" cy="214312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 Point(xpos, ypos)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this.x = xpos;		 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this.y = ypos;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Point.prototype.getDistance = function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return Math.sqrt(this.x * this.x + this.y * this.y);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9976" y="3881436"/>
            <a:ext cx="3442097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자바 스크립트 내장 객체</a:t>
            </a:r>
            <a:endParaRPr/>
          </a:p>
        </p:txBody>
      </p:sp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Date 객체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Number 객체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String 객체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Math 객체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Array 객체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...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Date 객체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∙"/>
            </a:pPr>
            <a:r>
              <a:rPr lang="en-US" sz="1900"/>
              <a:t>Date 객체는 날짜와 시간 작업을 하는데 사용되는 가장 기본적인 객체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∙"/>
            </a:pPr>
            <a:r>
              <a:rPr lang="en-US" sz="1900"/>
              <a:t>new Date() // 현재 날짜와 시간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∙"/>
            </a:pPr>
            <a:r>
              <a:rPr lang="en-US" sz="1900"/>
              <a:t>new Date(milliseconds) //1970/01/01 이후의 밀리초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∙"/>
            </a:pPr>
            <a:r>
              <a:rPr lang="en-US" sz="1900"/>
              <a:t>new Date(dateString)// 다양한 문자열</a:t>
            </a:r>
            <a:endParaRPr sz="1900"/>
          </a:p>
          <a:p>
            <a:pPr indent="-2794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∙"/>
            </a:pPr>
            <a:r>
              <a:rPr lang="en-US" sz="1900"/>
              <a:t>new Date(year, month, date[, hours[, minutes[, seconds[,ms]]]])</a:t>
            </a:r>
            <a:endParaRPr sz="19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704850" y="1104904"/>
            <a:ext cx="8212138" cy="1647822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d1 = new Date(2013, 7, 21, 0, 0,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d2 = new Date("January 20, 2013  11:13:00");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alert(d1);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alert(d2);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29" id="219" name="Google Shape;2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25" y="3009900"/>
            <a:ext cx="2838450" cy="1460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1c0a82c" id="220" name="Google Shape;2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7625" y="4591050"/>
            <a:ext cx="2838450" cy="148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Date 객체의 메소드</a:t>
            </a:r>
            <a:endParaRPr/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38" y="1462088"/>
            <a:ext cx="783907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704850" y="1104904"/>
            <a:ext cx="8212138" cy="336580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today = new Date();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document.write(today.toDateString()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document.write(today.toISOString()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document.write(today.toJSON()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document.write(today.toLocaleDateString()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document.write(today.toLocaleTimeString()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document.write(today.toLocaleString()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document.write(today.toTimeString()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document.write(today.toUTCString()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30" id="233" name="Google Shape;2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63" y="4206875"/>
            <a:ext cx="2943225" cy="2588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0862c8b7c_0_45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2개의 날짜 비교하기</a:t>
            </a:r>
            <a:endParaRPr/>
          </a:p>
        </p:txBody>
      </p:sp>
      <p:sp>
        <p:nvSpPr>
          <p:cNvPr id="239" name="Google Shape;239;g370862c8b7c_0_45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Date 객체는 2개의 날짜를 비교하는 데도 사용된다. 두 개의 날짜를 비교하는 것은 생각보다 무척 어렵다. 연도, 월, 일, 윤년 등을 따져야 하기 때문이다.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자바스크립트에서는 유닉스 운영체제에서 사용하였던 방법을 이용한다. 두 개의 날짜를 비교할 때는 먼저 모든 날짜를 1970년 1월 1일 이후의 밀리초로 변환한다. getTime()이라는 메소드를 사용하면 된다.</a:t>
            </a:r>
            <a:endParaRPr/>
          </a:p>
        </p:txBody>
      </p:sp>
      <p:pic>
        <p:nvPicPr>
          <p:cNvPr id="240" name="Google Shape;240;g370862c8b7c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862" y="2396385"/>
            <a:ext cx="37242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0862c8b7c_0_5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날짜 비교 예제</a:t>
            </a:r>
            <a:endParaRPr/>
          </a:p>
        </p:txBody>
      </p:sp>
      <p:sp>
        <p:nvSpPr>
          <p:cNvPr id="246" name="Google Shape;246;g370862c8b7c_0_5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2022년 7월 30일과 2022년 8월 30일 사이의 총 일수를 계산해보자. 이것을 검사하려면 다음과 같이 한다. </a:t>
            </a:r>
            <a:endParaRPr/>
          </a:p>
        </p:txBody>
      </p:sp>
      <p:sp>
        <p:nvSpPr>
          <p:cNvPr id="247" name="Google Shape;247;g370862c8b7c_0_545"/>
          <p:cNvSpPr txBox="1"/>
          <p:nvPr/>
        </p:nvSpPr>
        <p:spPr>
          <a:xfrm>
            <a:off x="583275" y="2034025"/>
            <a:ext cx="8212200" cy="2457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date1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"07/30/2022"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date2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"08/30/2022"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diff = date2.getTime() - date1.getTime();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diff_days = diff /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3600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*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document.write(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date1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 와 &lt;br&gt;"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date2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&lt;br&gt; 날짜 간의 총 일수: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+ diff_days);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48" name="Google Shape;248;g370862c8b7c_0_5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70862c8b7c_0_5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70862c8b7c_0_5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70862c8b7c_0_5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3525" y="4161919"/>
            <a:ext cx="4745598" cy="1515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0862c8b7c_0_63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예제: 카운트다운 타이머 만들기</a:t>
            </a:r>
            <a:endParaRPr/>
          </a:p>
        </p:txBody>
      </p:sp>
      <p:sp>
        <p:nvSpPr>
          <p:cNvPr id="257" name="Google Shape;257;g370862c8b7c_0_63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지금부터 특정 날짜까지 남은 날짜를 표시하는 코드를 작성하여 보자. 예를 들어서 크리스마스까지, 남은 날짜를 웹 페이지에 표시하는 예제를 작성하여 보자.</a:t>
            </a:r>
            <a:endParaRPr/>
          </a:p>
        </p:txBody>
      </p:sp>
      <p:sp>
        <p:nvSpPr>
          <p:cNvPr id="258" name="Google Shape;258;g370862c8b7c_0_63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370862c8b7c_0_6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875" y="2693406"/>
            <a:ext cx="6381749" cy="144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0862c8b7c_0_64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65" name="Google Shape;265;g370862c8b7c_0_646"/>
          <p:cNvSpPr txBox="1"/>
          <p:nvPr/>
        </p:nvSpPr>
        <p:spPr>
          <a:xfrm>
            <a:off x="612648" y="968722"/>
            <a:ext cx="8212200" cy="5889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'remaining'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&gt;&lt;/h2&gt;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datesUntilXmas()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now =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newYear =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Date(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'December 25, 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(now.getFullYear()));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diff = newYear - now;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milliseconds = Math.floor(diff %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diff = diff /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seconds = Math.floor(diff %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diff = diff /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minutes = Math.floor(diff %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diff = diff /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hours = Math.floor(diff %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diff = diff /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days = Math.floor(diff);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outStr =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'금년 크리스마스까지 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days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'일, 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hours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'시간, 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           + minutes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'분, 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seconds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'초'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 남았습니다.'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'remaining'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outStr;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1초가 지나면 다시 함수를 호출한다.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setTimeout(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"datesUntilXmas()"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1000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2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타이머를 시작한다.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datesUntilXmas();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6" name="Google Shape;266;g370862c8b7c_0_6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70862c8b7c_0_6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70862c8b7c_0_6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70862c8b7c_0_6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2900" y="3245667"/>
            <a:ext cx="4021100" cy="909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Number 객체 </a:t>
            </a:r>
            <a:endParaRPr/>
          </a:p>
        </p:txBody>
      </p:sp>
      <p:sp>
        <p:nvSpPr>
          <p:cNvPr id="275" name="Google Shape;275;p2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Number 객체는 수치형 값을 감싸서 객체로 만들어 주는 랩퍼(wrapper) 객체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var num = new Number(7);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메소드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toFixed([digits])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var num = 123.456789;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document.writeln(num.toFixed(1) + '&lt;br&gt;'); // 123.5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toPrecision([precision))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var num = 123.456789;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document.writeln(num.toPrecision(1) + '&lt;br&gt;'); // 1e+2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toString([radix])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04850" y="1104899"/>
            <a:ext cx="8212200" cy="2061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count1, count2;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count1 = new Number(1.237);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count2 = 1.238;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if (count1.toFixed(2) === count2.toFixed(2))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alert("소수점 2째 자리까지 같습니다.");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51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4013" y="3095625"/>
            <a:ext cx="2212975" cy="1324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0862c8b7c_0_104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String 객체</a:t>
            </a:r>
            <a:endParaRPr/>
          </a:p>
        </p:txBody>
      </p:sp>
      <p:sp>
        <p:nvSpPr>
          <p:cNvPr id="288" name="Google Shape;288;g370862c8b7c_0_104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String 객체는 텍스트를 저장하고 조작하는 객체로 아주 많이 사용된다. String 클래스의 메소드를 잘 알아두어야 편리하다.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프로그래밍에서도 텍스트를 조작해야 하는 경우가 상당히 많기 때문이다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 문자열(String)에는 2가지 종류가 있다.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문자열 리터럴은 따옴표로 생성된다.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문자열 객체는 키워드 new를 이용하여 생성된다.</a:t>
            </a:r>
            <a:endParaRPr/>
          </a:p>
        </p:txBody>
      </p:sp>
      <p:sp>
        <p:nvSpPr>
          <p:cNvPr id="289" name="Google Shape;289;g370862c8b7c_0_1042"/>
          <p:cNvSpPr txBox="1"/>
          <p:nvPr/>
        </p:nvSpPr>
        <p:spPr>
          <a:xfrm>
            <a:off x="766550" y="4228727"/>
            <a:ext cx="8212200" cy="929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var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= </a:t>
            </a:r>
            <a:r>
              <a:rPr b="0" i="0" lang="en-US" sz="1400" u="none" cap="none" strike="noStrike">
                <a:solidFill>
                  <a:srgbClr val="933030"/>
                </a:solidFill>
                <a:latin typeface="Arial"/>
                <a:ea typeface="Arial"/>
                <a:cs typeface="Arial"/>
                <a:sym typeface="Arial"/>
              </a:rPr>
              <a:t>"ABCD"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var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= </a:t>
            </a:r>
            <a:r>
              <a:rPr b="0" i="0" lang="en-US" sz="1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new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String(</a:t>
            </a:r>
            <a:r>
              <a:rPr b="0" i="0" lang="en-US" sz="1400" u="none" cap="none" strike="noStrike">
                <a:solidFill>
                  <a:srgbClr val="933030"/>
                </a:solidFill>
                <a:latin typeface="Arial"/>
                <a:ea typeface="Arial"/>
                <a:cs typeface="Arial"/>
                <a:sym typeface="Arial"/>
              </a:rPr>
              <a:t>"ABCD"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0" name="Google Shape;290;g370862c8b7c_0_1042"/>
          <p:cNvSpPr txBox="1"/>
          <p:nvPr>
            <p:ph type="title"/>
          </p:nvPr>
        </p:nvSpPr>
        <p:spPr>
          <a:xfrm>
            <a:off x="1125550" y="317700"/>
            <a:ext cx="7789800" cy="6348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 객체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0862c8b7c_0_104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96" name="Google Shape;296;g370862c8b7c_0_1048"/>
          <p:cNvSpPr txBox="1"/>
          <p:nvPr>
            <p:ph idx="1" type="body"/>
          </p:nvPr>
        </p:nvSpPr>
        <p:spPr>
          <a:xfrm>
            <a:off x="612648" y="3977486"/>
            <a:ext cx="8153400" cy="21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그런데 문자열 리터럴도 String 객체의 모든 속성과 메소드를 사용할 수 있는데, 자바스크립트가 임시적으로 문자열 리터럴을 문자열 객체로 형변환을 하기 때문이다. </a:t>
            </a:r>
            <a:endParaRPr/>
          </a:p>
        </p:txBody>
      </p:sp>
      <p:sp>
        <p:nvSpPr>
          <p:cNvPr id="297" name="Google Shape;297;g370862c8b7c_0_1048"/>
          <p:cNvSpPr txBox="1"/>
          <p:nvPr/>
        </p:nvSpPr>
        <p:spPr>
          <a:xfrm>
            <a:off x="583275" y="1232025"/>
            <a:ext cx="8212200" cy="2352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sLiteral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"문자열 리터럴";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var sObject 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String(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"문자열 객체"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document.writeln(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typeof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(sLiteral)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document.writeln(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typeof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(sObject)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8" name="Google Shape;298;g370862c8b7c_0_104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370862c8b7c_0_10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575" y="2361232"/>
            <a:ext cx="3301426" cy="110850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70862c8b7c_0_1048"/>
          <p:cNvSpPr txBox="1"/>
          <p:nvPr/>
        </p:nvSpPr>
        <p:spPr>
          <a:xfrm>
            <a:off x="594541" y="5155520"/>
            <a:ext cx="8212200" cy="913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sLiteral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"문자열 리터럴";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sLiteral = sLiteral.concat(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'123'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document.writeln(sLiteral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문자열 리터럴123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862c8b7c_0_105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문자열의 길이와 개별 문자 접근</a:t>
            </a:r>
            <a:endParaRPr/>
          </a:p>
        </p:txBody>
      </p:sp>
      <p:sp>
        <p:nvSpPr>
          <p:cNvPr id="306" name="Google Shape;306;g370862c8b7c_0_105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String 객체의 속성 length는 문자열의 길이를 나타낸다.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98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var</a:t>
            </a:r>
            <a:r>
              <a:rPr lang="en-US" sz="1600">
                <a:latin typeface="Century Schoolbook"/>
                <a:ea typeface="Century Schoolbook"/>
                <a:cs typeface="Century Schoolbook"/>
                <a:sym typeface="Century Schoolbook"/>
              </a:rPr>
              <a:t> s = "abcdef";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var</a:t>
            </a:r>
            <a:r>
              <a:rPr lang="en-US" sz="1600">
                <a:latin typeface="Century Schoolbook"/>
                <a:ea typeface="Century Schoolbook"/>
                <a:cs typeface="Century Schoolbook"/>
                <a:sym typeface="Century Schoolbook"/>
              </a:rPr>
              <a:t> length = s.length;	// 6이 된다. </a:t>
            </a:r>
            <a:endParaRPr/>
          </a:p>
          <a:p>
            <a:pPr indent="-24892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문자열 안의 개별적인 문자에 접근하려면 배열처럼 [ ] 안에 인덱스를 넣으면 된다. 인덱스는 0부터 시작한다.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98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var</a:t>
            </a:r>
            <a:r>
              <a:rPr lang="en-US" sz="1600">
                <a:latin typeface="Century Schoolbook"/>
                <a:ea typeface="Century Schoolbook"/>
                <a:cs typeface="Century Schoolbook"/>
                <a:sym typeface="Century Schoolbook"/>
              </a:rPr>
              <a:t> s = "abcdef";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120"/>
              <a:buNone/>
            </a:pPr>
            <a:r>
              <a:rPr lang="en-US" sz="1600"/>
              <a:t>var</a:t>
            </a:r>
            <a:r>
              <a:rPr lang="en-US" sz="1600">
                <a:latin typeface="Century Schoolbook"/>
                <a:ea typeface="Century Schoolbook"/>
                <a:cs typeface="Century Schoolbook"/>
                <a:sym typeface="Century Schoolbook"/>
              </a:rPr>
              <a:t> ch  = s[1]; 		// ch는 ‘b'가 된다. </a:t>
            </a: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0862c8b7c_0_106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12" name="Google Shape;312;g370862c8b7c_0_1062"/>
          <p:cNvSpPr txBox="1"/>
          <p:nvPr/>
        </p:nvSpPr>
        <p:spPr>
          <a:xfrm>
            <a:off x="553900" y="1131301"/>
            <a:ext cx="8212200" cy="4061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checkID()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"id"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(s.length &lt; 6)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"아이디는 6글자 이상이어야 합니다."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아이디: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="id" size=10&gt;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="checkID()"&gt;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검사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3" name="Google Shape;313;g370862c8b7c_0_106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70862c8b7c_0_106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70862c8b7c_0_106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70862c8b7c_0_106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70862c8b7c_0_1062"/>
          <p:cNvSpPr/>
          <p:nvPr/>
        </p:nvSpPr>
        <p:spPr>
          <a:xfrm>
            <a:off x="908050" y="493600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g370862c8b7c_0_10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424" y="5393209"/>
            <a:ext cx="3190875" cy="10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70862c8b7c_0_10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979" y="5393209"/>
            <a:ext cx="3190875" cy="138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0862c8b7c_0_107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String 객체 메소드</a:t>
            </a:r>
            <a:endParaRPr/>
          </a:p>
        </p:txBody>
      </p:sp>
      <p:pic>
        <p:nvPicPr>
          <p:cNvPr id="325" name="Google Shape;325;g370862c8b7c_0_10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693" y="1600200"/>
            <a:ext cx="75015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0862c8b7c_0_107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대소문자 변환</a:t>
            </a:r>
            <a:endParaRPr/>
          </a:p>
        </p:txBody>
      </p:sp>
      <p:sp>
        <p:nvSpPr>
          <p:cNvPr id="331" name="Google Shape;331;g370862c8b7c_0_107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toUpperCase()와 toLowerCase()를 사용하면 문자열의 글자들을 대문자, 혹은 소문자로 변환할 수 있다.</a:t>
            </a:r>
            <a:endParaRPr/>
          </a:p>
        </p:txBody>
      </p:sp>
      <p:sp>
        <p:nvSpPr>
          <p:cNvPr id="332" name="Google Shape;332;g370862c8b7c_0_1079"/>
          <p:cNvSpPr txBox="1"/>
          <p:nvPr/>
        </p:nvSpPr>
        <p:spPr>
          <a:xfrm>
            <a:off x="612650" y="2150548"/>
            <a:ext cx="8212200" cy="1946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'aBcDeF'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result1 = s.toLowerCase();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result2 = s.toUpperCase();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document.write(result1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endParaRPr b="0" i="0" sz="1400" u="none" cap="none" strike="noStrike">
              <a:solidFill>
                <a:srgbClr val="008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document.write(result2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endParaRPr b="0" i="0" sz="1400" u="none" cap="none" strike="noStrike">
              <a:solidFill>
                <a:srgbClr val="008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3" name="Google Shape;333;g370862c8b7c_0_10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70862c8b7c_0_10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70862c8b7c_0_10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70862c8b7c_0_10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70862c8b7c_0_1079"/>
          <p:cNvSpPr/>
          <p:nvPr/>
        </p:nvSpPr>
        <p:spPr>
          <a:xfrm>
            <a:off x="908050" y="493600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70862c8b7c_0_10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g370862c8b7c_0_10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112" y="4240213"/>
            <a:ext cx="4395963" cy="1336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0862c8b7c_0_109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 비교</a:t>
            </a:r>
            <a:endParaRPr/>
          </a:p>
        </p:txBody>
      </p:sp>
      <p:sp>
        <p:nvSpPr>
          <p:cNvPr id="345" name="Google Shape;345;g370862c8b7c_0_109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문자열을 비교하는 가장 쉬운 방법은 == 연산자를 사용하는 것이다.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if( "apple" == "apple" ){			// true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	...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}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문자열의 사전적인 순서를 알려면 &lt;이나 &gt; 연산자를 사용한다. 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if( "cat" &lt; "dog" ){			// true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	...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0862c8b7c_0_109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 검색</a:t>
            </a:r>
            <a:endParaRPr/>
          </a:p>
        </p:txBody>
      </p:sp>
      <p:sp>
        <p:nvSpPr>
          <p:cNvPr id="351" name="Google Shape;351;g370862c8b7c_0_109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indexOf() 메소드는 문자열 안에서 주어진 텍스트가 처음 등장하는 위치를 반환한다. 아주 편리한 메소드이다. </a:t>
            </a:r>
            <a:endParaRPr/>
          </a:p>
        </p:txBody>
      </p:sp>
      <p:sp>
        <p:nvSpPr>
          <p:cNvPr id="352" name="Google Shape;352;g370862c8b7c_0_1097"/>
          <p:cNvSpPr txBox="1"/>
          <p:nvPr/>
        </p:nvSpPr>
        <p:spPr>
          <a:xfrm>
            <a:off x="612648" y="2478747"/>
            <a:ext cx="8212200" cy="161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 bad workman always blames his tools."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 = s.indexOf(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"workman"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document.write(n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3" name="Google Shape;353;g370862c8b7c_0_10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g370862c8b7c_0_10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380" y="4179981"/>
            <a:ext cx="3862578" cy="11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0862c8b7c_0_110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 매칭</a:t>
            </a:r>
            <a:endParaRPr/>
          </a:p>
        </p:txBody>
      </p:sp>
      <p:sp>
        <p:nvSpPr>
          <p:cNvPr id="360" name="Google Shape;360;g370862c8b7c_0_110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match() 메소드에서는 정규식(regular expression)을 사용할 수 있다.</a:t>
            </a:r>
            <a:endParaRPr/>
          </a:p>
        </p:txBody>
      </p:sp>
      <p:sp>
        <p:nvSpPr>
          <p:cNvPr id="361" name="Google Shape;361;g370862c8b7c_0_1105"/>
          <p:cNvSpPr txBox="1"/>
          <p:nvPr/>
        </p:nvSpPr>
        <p:spPr>
          <a:xfrm>
            <a:off x="612650" y="1945351"/>
            <a:ext cx="8212200" cy="1943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let str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'Like father, like son.';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// like를 찾는다. i와 g는 옵션으로 insensitive, globally를 의미한다.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result = str.match(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/like/ig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document.write(result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62" name="Google Shape;362;g370862c8b7c_0_110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70862c8b7c_0_1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1857" y="4246436"/>
            <a:ext cx="3512929" cy="145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0862c8b7c_0_111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 대체</a:t>
            </a:r>
            <a:endParaRPr/>
          </a:p>
        </p:txBody>
      </p:sp>
      <p:sp>
        <p:nvSpPr>
          <p:cNvPr id="369" name="Google Shape;369;g370862c8b7c_0_111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replace() 메소드는 문자열 안에서 주어진 값을 다른 값으로 대체한다. replace()도 정규식을 사용할 수 있어서 강력한 기능 중의 하나이다. </a:t>
            </a:r>
            <a:endParaRPr/>
          </a:p>
        </p:txBody>
      </p:sp>
      <p:sp>
        <p:nvSpPr>
          <p:cNvPr id="370" name="Google Shape;370;g370862c8b7c_0_1113"/>
          <p:cNvSpPr txBox="1"/>
          <p:nvPr/>
        </p:nvSpPr>
        <p:spPr>
          <a:xfrm>
            <a:off x="612648" y="2478747"/>
            <a:ext cx="8212200" cy="1616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'The quick brown fox jumps over the lazy dog.'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document.write(p.replace(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'dog'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'cat'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regex =</a:t>
            </a:r>
            <a:r>
              <a:rPr b="0" i="0" lang="en-US" sz="1400" u="none" cap="none" strike="noStrike">
                <a:solidFill>
                  <a:srgbClr val="811F3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/Dog/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document.write(p.replace(regex,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'cat'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))+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1" name="Google Shape;371;g370862c8b7c_0_11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g370862c8b7c_0_1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6874" y="4298666"/>
            <a:ext cx="3619925" cy="120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0862c8b7c_0_112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문자열 분할</a:t>
            </a:r>
            <a:endParaRPr/>
          </a:p>
        </p:txBody>
      </p:sp>
      <p:sp>
        <p:nvSpPr>
          <p:cNvPr id="378" name="Google Shape;378;g370862c8b7c_0_112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split()는 첫 번째 인수를 분리자로 하여서 주어진 문자열을 분리한 후에 각 항목들을 가지고 있는 배열을 반환한다</a:t>
            </a:r>
            <a:endParaRPr/>
          </a:p>
        </p:txBody>
      </p:sp>
      <p:sp>
        <p:nvSpPr>
          <p:cNvPr id="379" name="Google Shape;379;g370862c8b7c_0_1121"/>
          <p:cNvSpPr txBox="1"/>
          <p:nvPr/>
        </p:nvSpPr>
        <p:spPr>
          <a:xfrm>
            <a:off x="612650" y="2250151"/>
            <a:ext cx="8212200" cy="2000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var s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"One,Two,Three,Four,Five";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array = s.split(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','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(i = 0; i &lt; array.length;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document.write(i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'-'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array[i]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0" name="Google Shape;380;g370862c8b7c_0_11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70862c8b7c_0_11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70862c8b7c_0_1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3097" y="4352695"/>
            <a:ext cx="3413099" cy="1414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70862c8b7c_0_113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공백 제거</a:t>
            </a:r>
            <a:endParaRPr/>
          </a:p>
        </p:txBody>
      </p:sp>
      <p:sp>
        <p:nvSpPr>
          <p:cNvPr id="388" name="Google Shape;388;g370862c8b7c_0_11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문자열 앞뒤에 붙은 공백 문자들을 제거하는데는 trim() 메소드를 사용할 수 있다.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var s = "   Hello world!   ";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s = s.trim();		// s="Hello World!"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trim() 메소드가 왜 필요할까? 사용자가 문자열을 입력할 때 실수로 앞뒤에 공백을 추가하는 일도 매우 흔하게 발생하기 때문이다.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0862c8b7c_0_113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예제: replace 메소드 이용 </a:t>
            </a:r>
            <a:endParaRPr/>
          </a:p>
        </p:txBody>
      </p:sp>
      <p:sp>
        <p:nvSpPr>
          <p:cNvPr id="394" name="Google Shape;394;g370862c8b7c_0_113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버튼을 누르면 문단의 ”HTML"이 “JAVASCRIPT"로 변경되는 웹페이지를 만들어보자. </a:t>
            </a:r>
            <a:endParaRPr/>
          </a:p>
        </p:txBody>
      </p:sp>
      <p:sp>
        <p:nvSpPr>
          <p:cNvPr id="395" name="Google Shape;395;g370862c8b7c_0_113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70862c8b7c_0_113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70862c8b7c_0_1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585" y="1986480"/>
            <a:ext cx="3402998" cy="130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70862c8b7c_0_1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1520" y="1986480"/>
            <a:ext cx="3402998" cy="130068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70862c8b7c_0_1135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70862c8b7c_0_1135"/>
          <p:cNvSpPr/>
          <p:nvPr/>
        </p:nvSpPr>
        <p:spPr>
          <a:xfrm>
            <a:off x="4572000" y="2427083"/>
            <a:ext cx="138300" cy="60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70862c8b7c_0_1135"/>
          <p:cNvSpPr txBox="1"/>
          <p:nvPr/>
        </p:nvSpPr>
        <p:spPr>
          <a:xfrm>
            <a:off x="612650" y="3488975"/>
            <a:ext cx="8212200" cy="3236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다음에 학습할 내용은 HTML입니다.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3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onclick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"myFun()"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 학습을 끝냈으면 누르세요.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myFun() {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3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text = document.getElementById(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document.getElementById(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  text.replace(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"HTML"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3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"JAVASCRIPT"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Math 객체 </a:t>
            </a:r>
            <a:endParaRPr/>
          </a:p>
        </p:txBody>
      </p:sp>
      <p:pic>
        <p:nvPicPr>
          <p:cNvPr id="407" name="Google Shape;4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1190625"/>
            <a:ext cx="70485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214" y="3057525"/>
            <a:ext cx="6999571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계산기 예제</a:t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704850" y="1104900"/>
            <a:ext cx="8212200" cy="50301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calc(type)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x = Number(document.calculator.number1.value);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if (type ==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y = Math.sin((x * Math.PI) / 180.0);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else if (type ==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y = Math.log(x);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else if (type ==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y = Math.sqrt(x);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else if (type == 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y = Math.abs(x);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document.calculator.total.value =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20" name="Google Shape;420;p32"/>
          <p:cNvSpPr txBox="1"/>
          <p:nvPr/>
        </p:nvSpPr>
        <p:spPr>
          <a:xfrm>
            <a:off x="704850" y="1104900"/>
            <a:ext cx="8212200" cy="3529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&lt;form name="calculator"&gt;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입력:               &lt;input type="text" name="number1"&gt;&lt;br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계산 결과:          &lt;input type="text" name="total"&gt;&lt;br 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value="SIN" onclick="calc(1);"&gt;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value="LOG" onclick="calc(2);"&gt;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value="SQRT" onclick="calc(3);"&gt;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value="ABS" onclick="calc(4);"&gt;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&lt;/form&gt;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72" id="421" name="Google Shape;4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225" y="4743450"/>
            <a:ext cx="3687763" cy="1506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70862c8b7c_0_123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난수 발생</a:t>
            </a:r>
            <a:endParaRPr/>
          </a:p>
        </p:txBody>
      </p:sp>
      <p:sp>
        <p:nvSpPr>
          <p:cNvPr id="427" name="Google Shape;427;g370862c8b7c_0_123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Math.random()을 호출하면 0에서 1 미만의 난수가 발생된다. 따라서 여기에 적당한 수를 곱해서 사용하면 된다.</a:t>
            </a:r>
            <a:endParaRPr/>
          </a:p>
        </p:txBody>
      </p:sp>
      <p:sp>
        <p:nvSpPr>
          <p:cNvPr id="428" name="Google Shape;428;g370862c8b7c_0_1239"/>
          <p:cNvSpPr txBox="1"/>
          <p:nvPr/>
        </p:nvSpPr>
        <p:spPr>
          <a:xfrm>
            <a:off x="590748" y="2441070"/>
            <a:ext cx="8212200" cy="840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 f = Math.random() * 100;	// f는 0.0~100.0 미만의 실수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 n = Math.floor(f);		// n은 0~99	사이의 정수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Random Numbers Cloud - Openclipart" id="429" name="Google Shape;429;g370862c8b7c_0_1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3966456"/>
            <a:ext cx="2133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0862c8b7c_0_0"/>
          <p:cNvSpPr txBox="1"/>
          <p:nvPr>
            <p:ph type="title"/>
          </p:nvPr>
        </p:nvSpPr>
        <p:spPr>
          <a:xfrm>
            <a:off x="1125550" y="262925"/>
            <a:ext cx="7789800" cy="6897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Array 배열 객체</a:t>
            </a:r>
            <a:endParaRPr/>
          </a:p>
        </p:txBody>
      </p:sp>
      <p:sp>
        <p:nvSpPr>
          <p:cNvPr id="435" name="Google Shape;435;g370862c8b7c_0_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많은 값을 저장할 수 있는 공간이 필요할 때 배열을 사용한다.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서로 관련된 데이터를 차례로 접근하여서 처리할 수 있다.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36" name="Google Shape;436;g370862c8b7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150" y="2152309"/>
            <a:ext cx="5810251" cy="4179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0862c8b7c_0_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배열을 생성하는 2가지 방법</a:t>
            </a:r>
            <a:endParaRPr/>
          </a:p>
        </p:txBody>
      </p:sp>
      <p:sp>
        <p:nvSpPr>
          <p:cNvPr id="442" name="Google Shape;442;g370862c8b7c_0_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2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Char char="∙"/>
            </a:pPr>
            <a:r>
              <a:rPr lang="en-US"/>
              <a:t>리터럴로 배열 생성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var fruits = ["apple", "banana", "peach"];</a:t>
            </a:r>
            <a:endParaRPr/>
          </a:p>
          <a:p>
            <a:pPr indent="-228600" lvl="2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800"/>
              <a:buNone/>
            </a:pPr>
            <a:r>
              <a:t/>
            </a:r>
            <a:endParaRPr/>
          </a:p>
          <a:p>
            <a:pPr indent="-342900" lvl="2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800"/>
              <a:buChar char="∙"/>
            </a:pPr>
            <a:r>
              <a:rPr lang="en-US"/>
              <a:t>Array 객체로 배열 생성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var fruits=new Array(“apple",“banana",“orange“);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0862c8b7c_0_1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48" name="Google Shape;448;g370862c8b7c_0_11"/>
          <p:cNvSpPr txBox="1"/>
          <p:nvPr/>
        </p:nvSpPr>
        <p:spPr>
          <a:xfrm>
            <a:off x="628650" y="1362075"/>
            <a:ext cx="8212200" cy="45975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var fruits = new Array();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fruits[0] = "Apple";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fruits[1] = "Banana";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fruits[2] = "Orange";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for (i = 0; i &lt; fruits.length;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document.write(fruits[i]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afc6a23" id="449" name="Google Shape;449;g370862c8b7c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5462" y="4876800"/>
            <a:ext cx="2814637" cy="1561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0862c8b7c_0_133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 배열의 특징</a:t>
            </a:r>
            <a:endParaRPr/>
          </a:p>
        </p:txBody>
      </p:sp>
      <p:sp>
        <p:nvSpPr>
          <p:cNvPr id="455" name="Google Shape;455;g370862c8b7c_0_13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배열의 크기가 자동으로 조절된다. 현재 배열의 크기보다 큰 인덱스를 사용하면 자동으로 증가한다.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let myArray = new Array();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myArray[0] = "apple";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myArray[99] = "banana";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자바스크립트에서는 하나의 배열에 여러 가지 자료형을 혼합하여서 저장할 수 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lang="en-US"/>
              <a:t>             let myArray = new Array();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myArray[0] = "apple";	      // 문자열 저장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myArray[1] = new Date();   // 객체 저장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        myArray[2] = 3.14;		      // 실수 저장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70862c8b7c_0_1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연관 배열</a:t>
            </a:r>
            <a:endParaRPr/>
          </a:p>
        </p:txBody>
      </p:sp>
      <p:sp>
        <p:nvSpPr>
          <p:cNvPr id="461" name="Google Shape;461;g370862c8b7c_0_17"/>
          <p:cNvSpPr txBox="1"/>
          <p:nvPr/>
        </p:nvSpPr>
        <p:spPr>
          <a:xfrm>
            <a:off x="503950" y="1237950"/>
            <a:ext cx="82932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var arr= new Array();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arr['aa']=10;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arr['bb']=20;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arr['cc']=30;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document.write( arr['aa']+"&lt;br/&gt;" );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document.write( arr['bb']+"&lt;br/&gt;" );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document.write( arr['cc']+"&lt;br/&gt;" );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document.write('&lt;hr/&gt;');</a:t>
            </a:r>
            <a:endParaRPr b="0" i="0" sz="23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Array 객체의 메소드</a:t>
            </a:r>
            <a:endParaRPr/>
          </a:p>
        </p:txBody>
      </p:sp>
      <p:sp>
        <p:nvSpPr>
          <p:cNvPr id="467" name="Google Shape;467;p35"/>
          <p:cNvSpPr txBox="1"/>
          <p:nvPr>
            <p:ph idx="1" type="body"/>
          </p:nvPr>
        </p:nvSpPr>
        <p:spPr>
          <a:xfrm>
            <a:off x="685800" y="1333500"/>
            <a:ext cx="8212138" cy="481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속성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length, prototype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메소드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concat()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indexOf()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join()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lastIndexOf()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pop()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push()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shift()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slice()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sort()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splice()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70862c8b7c_0_142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concat()</a:t>
            </a:r>
            <a:endParaRPr/>
          </a:p>
        </p:txBody>
      </p:sp>
      <p:sp>
        <p:nvSpPr>
          <p:cNvPr id="473" name="Google Shape;473;g370862c8b7c_0_142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concat() 메소드는 전달된 인수를 배열의 끝에 추가한다. 인수는 배열일 수도 있다. </a:t>
            </a:r>
            <a:endParaRPr/>
          </a:p>
        </p:txBody>
      </p:sp>
      <p:sp>
        <p:nvSpPr>
          <p:cNvPr id="474" name="Google Shape;474;g370862c8b7c_0_1422"/>
          <p:cNvSpPr txBox="1"/>
          <p:nvPr/>
        </p:nvSpPr>
        <p:spPr>
          <a:xfrm>
            <a:off x="719081" y="2399170"/>
            <a:ext cx="8212200" cy="1892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= 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 = 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joined = x.concat(y);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document.writeln(x+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   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1,2,3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document.writeln(joined+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"&lt;br&gt;"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1,2,3,4,5,6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75" name="Google Shape;475;g370862c8b7c_0_14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70862c8b7c_0_14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295" y="4143219"/>
            <a:ext cx="4051357" cy="122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0862c8b7c_0_143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indexOf()</a:t>
            </a:r>
            <a:endParaRPr/>
          </a:p>
        </p:txBody>
      </p:sp>
      <p:sp>
        <p:nvSpPr>
          <p:cNvPr id="482" name="Google Shape;482;g370862c8b7c_0_143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indexOf() 메소드는 요소의 값을 가지고 요소의 인덱스를 찾을 때, 사용한다. </a:t>
            </a:r>
            <a:endParaRPr/>
          </a:p>
        </p:txBody>
      </p:sp>
      <p:sp>
        <p:nvSpPr>
          <p:cNvPr id="483" name="Google Shape;483;g370862c8b7c_0_1430"/>
          <p:cNvSpPr txBox="1"/>
          <p:nvPr/>
        </p:nvSpPr>
        <p:spPr>
          <a:xfrm>
            <a:off x="719081" y="2399170"/>
            <a:ext cx="8212200" cy="1225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fruits = [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"apple"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"banana"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"grape"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document.writeln(fruits.indexOf(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"banana"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));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84" name="Google Shape;484;g370862c8b7c_0_143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0862c8b7c_0_143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push(), pop()</a:t>
            </a:r>
            <a:endParaRPr/>
          </a:p>
        </p:txBody>
      </p:sp>
      <p:sp>
        <p:nvSpPr>
          <p:cNvPr id="490" name="Google Shape;490;g370862c8b7c_0_143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push()는 스택(stack)에 데이터를 삽입하는 메소드이다. pop()은 스택에서 데이터를 꺼내는 메소드이다. </a:t>
            </a:r>
            <a:endParaRPr/>
          </a:p>
        </p:txBody>
      </p:sp>
      <p:sp>
        <p:nvSpPr>
          <p:cNvPr id="491" name="Google Shape;491;g370862c8b7c_0_1437"/>
          <p:cNvSpPr txBox="1"/>
          <p:nvPr/>
        </p:nvSpPr>
        <p:spPr>
          <a:xfrm>
            <a:off x="612650" y="2062999"/>
            <a:ext cx="8212200" cy="2147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numbers = [1, 2, 3, 4, 5];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numbers.push(6);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document.writeln(numbers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1,2,3,4,5,6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item = numbers.pop();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document.writeln(numbers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1,2,3,4,5,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92" name="Google Shape;492;g370862c8b7c_0_14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70862c8b7c_0_14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g370862c8b7c_0_1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5225" y="4632607"/>
            <a:ext cx="4329047" cy="130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70862c8b7c_0_1437" title="images-xx0hn-post-57f68f57-45ac-4e55-9815-d8ee4e229943-스크린샷 2021-04-24 오전 9.13.29 복사본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0" y="4210700"/>
            <a:ext cx="3388071" cy="26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0862c8b7c_0_144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shift()</a:t>
            </a:r>
            <a:endParaRPr/>
          </a:p>
        </p:txBody>
      </p:sp>
      <p:sp>
        <p:nvSpPr>
          <p:cNvPr id="501" name="Google Shape;501;g370862c8b7c_0_144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shift()는 큐(queue)에서 데이터를 꺼내는 메소드이다. </a:t>
            </a:r>
            <a:endParaRPr/>
          </a:p>
        </p:txBody>
      </p:sp>
      <p:sp>
        <p:nvSpPr>
          <p:cNvPr id="502" name="Google Shape;502;g370862c8b7c_0_1446"/>
          <p:cNvSpPr txBox="1"/>
          <p:nvPr/>
        </p:nvSpPr>
        <p:spPr>
          <a:xfrm>
            <a:off x="612648" y="2359057"/>
            <a:ext cx="8212200" cy="1927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numbers = [1, 2, 3, 4, 5, 6, 7, 8, 9, 10];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item = numbers.shift();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document.writeln(item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document.writeln(numbers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2,3,4,5,6,7,8,9,10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03" name="Google Shape;503;g370862c8b7c_0_14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70862c8b7c_0_14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70862c8b7c_0_14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g370862c8b7c_0_14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5362" y="4928481"/>
            <a:ext cx="3989424" cy="120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70862c8b7c_0_1446" title="images-xx0hn-post-57f68f57-45ac-4e55-9815-d8ee4e229943-스크린샷 2021-04-24 오전 9.13.2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00" y="4595975"/>
            <a:ext cx="4354650" cy="22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4e7848d7b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1" lang="en-US"/>
              <a:t>자료구조    Stack vs Queue</a:t>
            </a:r>
            <a:endParaRPr b="1"/>
          </a:p>
        </p:txBody>
      </p:sp>
      <p:sp>
        <p:nvSpPr>
          <p:cNvPr id="513" name="Google Shape;513;g344e7848d7b_0_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44e7848d7b_0_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g344e7848d7b_0_0" title="490443489_17907812325108845_6305238543462863261_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949" y="1564475"/>
            <a:ext cx="7616099" cy="51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70862c8b7c_0_145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sort()</a:t>
            </a:r>
            <a:endParaRPr/>
          </a:p>
        </p:txBody>
      </p:sp>
      <p:sp>
        <p:nvSpPr>
          <p:cNvPr id="521" name="Google Shape;521;g370862c8b7c_0_145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sort() 메소드는 배열을 알파벳 순으로 정렬한다. 숫자를 정렬하면 우리의 예상과 다를 수 있다. </a:t>
            </a:r>
            <a:endParaRPr/>
          </a:p>
        </p:txBody>
      </p:sp>
      <p:sp>
        <p:nvSpPr>
          <p:cNvPr id="522" name="Google Shape;522;g370862c8b7c_0_1456"/>
          <p:cNvSpPr txBox="1"/>
          <p:nvPr/>
        </p:nvSpPr>
        <p:spPr>
          <a:xfrm>
            <a:off x="612648" y="2206658"/>
            <a:ext cx="8212200" cy="156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myArray = [10, 7, 23, 99, 169, 19, 11, 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myArray.sort()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document.writeln(myArray);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23" name="Google Shape;523;g370862c8b7c_0_14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70862c8b7c_0_14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70862c8b7c_0_14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70862c8b7c_0_14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g370862c8b7c_0_14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1731" y="2463808"/>
            <a:ext cx="3190875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70862c8b7c_0_1456"/>
          <p:cNvSpPr txBox="1"/>
          <p:nvPr/>
        </p:nvSpPr>
        <p:spPr>
          <a:xfrm>
            <a:off x="612648" y="4201753"/>
            <a:ext cx="8212200" cy="1320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myArray = [10, 7, 23, 99, 169, 19, 11, 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myArray.sort(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(a, b) {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 - b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document.writeln(myArray);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29" name="Google Shape;529;g370862c8b7c_0_145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g370862c8b7c_0_14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1731" y="4379153"/>
            <a:ext cx="3190875" cy="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0862c8b7c_0_147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slice()</a:t>
            </a:r>
            <a:endParaRPr/>
          </a:p>
        </p:txBody>
      </p:sp>
      <p:sp>
        <p:nvSpPr>
          <p:cNvPr id="536" name="Google Shape;536;g370862c8b7c_0_147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slice() 메소드는 배열의 일부를 복사하여 새로운 배열로 반환한다. </a:t>
            </a:r>
            <a:endParaRPr/>
          </a:p>
        </p:txBody>
      </p:sp>
      <p:sp>
        <p:nvSpPr>
          <p:cNvPr id="537" name="Google Shape;537;g370862c8b7c_0_1470"/>
          <p:cNvSpPr txBox="1"/>
          <p:nvPr/>
        </p:nvSpPr>
        <p:spPr>
          <a:xfrm>
            <a:off x="605598" y="2646158"/>
            <a:ext cx="8212200" cy="156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numbers = [1, 2, 3, 4, 5, 6, 7, 8, 9, 10];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newArray = numbers.slice(5);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document.writeln(newArray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  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6,7,8,9,10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38" name="Google Shape;538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70862c8b7c_0_147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370862c8b7c_0_1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615" y="4632735"/>
            <a:ext cx="3660187" cy="110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0862c8b7c_0_148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join()</a:t>
            </a:r>
            <a:endParaRPr/>
          </a:p>
        </p:txBody>
      </p:sp>
      <p:sp>
        <p:nvSpPr>
          <p:cNvPr id="550" name="Google Shape;550;g370862c8b7c_0_148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join()은 배열의 요소들을 하나의 문자열로 출력한다. </a:t>
            </a:r>
            <a:endParaRPr/>
          </a:p>
        </p:txBody>
      </p:sp>
      <p:sp>
        <p:nvSpPr>
          <p:cNvPr id="551" name="Google Shape;551;g370862c8b7c_0_1483"/>
          <p:cNvSpPr txBox="1"/>
          <p:nvPr/>
        </p:nvSpPr>
        <p:spPr>
          <a:xfrm>
            <a:off x="685798" y="2169908"/>
            <a:ext cx="8212200" cy="156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fruits = [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"apple"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"banana"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"peach"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fruits.join(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"+"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document.writeln(s+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'&lt;br&gt;'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  </a:t>
            </a:r>
            <a:r>
              <a:rPr b="0" i="0" lang="en-US" sz="1400" u="none" cap="none" strike="noStrike">
                <a:solidFill>
                  <a:srgbClr val="008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// 출력: apple+banana+peach</a:t>
            </a:r>
            <a:endParaRPr b="0" i="0" sz="1400" u="none" cap="none" strike="noStrike">
              <a:solidFill>
                <a:srgbClr val="008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52" name="Google Shape;552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70862c8b7c_0_148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g370862c8b7c_0_1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2690" y="3996028"/>
            <a:ext cx="3431146" cy="103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0862c8b7c_0_149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Array 메소드: filter()</a:t>
            </a:r>
            <a:endParaRPr/>
          </a:p>
        </p:txBody>
      </p:sp>
      <p:sp>
        <p:nvSpPr>
          <p:cNvPr id="565" name="Google Shape;565;g370862c8b7c_0_149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filter() 메소드는 어떤 조건에 부합하는 요소만을 선택하여 새로운 배열로 만들어서 반환한다. </a:t>
            </a:r>
            <a:endParaRPr/>
          </a:p>
        </p:txBody>
      </p:sp>
      <p:sp>
        <p:nvSpPr>
          <p:cNvPr id="566" name="Google Shape;566;g370862c8b7c_0_1497"/>
          <p:cNvSpPr txBox="1"/>
          <p:nvPr/>
        </p:nvSpPr>
        <p:spPr>
          <a:xfrm>
            <a:off x="612575" y="2333849"/>
            <a:ext cx="8212200" cy="24099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numbers = [10, 20, 30, 40, 50];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isBigEnough(element, index, array)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(element &gt;= 30);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filtered = numbers.filter(isBigEnough);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"필터링 된 배열: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filtered);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67" name="Google Shape;567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70862c8b7c_0_149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g370862c8b7c_0_14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907" y="5257800"/>
            <a:ext cx="3688879" cy="111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70862c8b7c_0_151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2차원 배열</a:t>
            </a:r>
            <a:endParaRPr/>
          </a:p>
        </p:txBody>
      </p:sp>
      <p:sp>
        <p:nvSpPr>
          <p:cNvPr id="581" name="Google Shape;581;g370862c8b7c_0_151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자바스크립트에서는 2차원 배열이 가능한가? 가능하다! </a:t>
            </a:r>
            <a:endParaRPr/>
          </a:p>
        </p:txBody>
      </p:sp>
      <p:sp>
        <p:nvSpPr>
          <p:cNvPr id="582" name="Google Shape;582;g370862c8b7c_0_1512"/>
          <p:cNvSpPr txBox="1"/>
          <p:nvPr/>
        </p:nvSpPr>
        <p:spPr>
          <a:xfrm>
            <a:off x="583279" y="2333846"/>
            <a:ext cx="8212200" cy="1613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  var z = [ [1, 2, 3], [4, 5, 6]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document.writeln(z[0] + "&lt;br&gt;"); 	// 출력: 1, 2,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document.writeln(z[1] + "&lt;br&gt;");	// 출력: 4, 5,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document.writeln(z[0][2] + "&lt;br&gt;");	// 출력: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70862c8b7c_0_15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g370862c8b7c_0_1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2780" y="4152319"/>
            <a:ext cx="3780369" cy="1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오류 처리</a:t>
            </a:r>
            <a:endParaRPr/>
          </a:p>
        </p:txBody>
      </p:sp>
      <p:sp>
        <p:nvSpPr>
          <p:cNvPr id="598" name="Google Shape;598;p3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자바스크립트에서의 예외 처리기는 try 블록과 catch 블록으로 이루어진다.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599" name="Google Shape;5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5568" y="2305050"/>
            <a:ext cx="4572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9"/>
          <p:cNvSpPr txBox="1"/>
          <p:nvPr/>
        </p:nvSpPr>
        <p:spPr>
          <a:xfrm>
            <a:off x="409575" y="2438399"/>
            <a:ext cx="4095993" cy="32480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// 예외가 발생할 수 있는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(변수)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// 예외를 처리하는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606" name="Google Shape;606;p40"/>
          <p:cNvSpPr txBox="1"/>
          <p:nvPr/>
        </p:nvSpPr>
        <p:spPr>
          <a:xfrm>
            <a:off x="609600" y="1104900"/>
            <a:ext cx="8212200" cy="44166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var msg = "";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test()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try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allert("Hello World!");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catch (error) {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msg = "다음과 같은 오류가 발생하였음: " + error.message;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alert(msg);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&lt;input type="button" value="try-catch 시험" onclick="test()" /&gt;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a4" id="607" name="Google Shape;60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5429407"/>
            <a:ext cx="3280414" cy="911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1c0a8a5" id="608" name="Google Shape;60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499" y="5377020"/>
            <a:ext cx="3749363" cy="134906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0"/>
          <p:cNvSpPr/>
          <p:nvPr/>
        </p:nvSpPr>
        <p:spPr>
          <a:xfrm>
            <a:off x="2295525" y="5805070"/>
            <a:ext cx="2819400" cy="214730"/>
          </a:xfrm>
          <a:custGeom>
            <a:rect b="b" l="l" r="r" t="t"/>
            <a:pathLst>
              <a:path extrusionOk="0" h="214730" w="2819400">
                <a:moveTo>
                  <a:pt x="0" y="214730"/>
                </a:moveTo>
                <a:cubicBezTo>
                  <a:pt x="15875" y="205205"/>
                  <a:pt x="31926" y="195967"/>
                  <a:pt x="47625" y="186155"/>
                </a:cubicBezTo>
                <a:cubicBezTo>
                  <a:pt x="57333" y="180088"/>
                  <a:pt x="65481" y="171125"/>
                  <a:pt x="76200" y="167105"/>
                </a:cubicBezTo>
                <a:cubicBezTo>
                  <a:pt x="91359" y="161421"/>
                  <a:pt x="108119" y="161507"/>
                  <a:pt x="123825" y="157580"/>
                </a:cubicBezTo>
                <a:cubicBezTo>
                  <a:pt x="146249" y="151974"/>
                  <a:pt x="168166" y="144486"/>
                  <a:pt x="190500" y="138530"/>
                </a:cubicBezTo>
                <a:cubicBezTo>
                  <a:pt x="232223" y="127404"/>
                  <a:pt x="311439" y="108363"/>
                  <a:pt x="352425" y="100430"/>
                </a:cubicBezTo>
                <a:cubicBezTo>
                  <a:pt x="422127" y="86939"/>
                  <a:pt x="491053" y="65554"/>
                  <a:pt x="561975" y="62330"/>
                </a:cubicBezTo>
                <a:lnTo>
                  <a:pt x="981075" y="43280"/>
                </a:lnTo>
                <a:cubicBezTo>
                  <a:pt x="1297128" y="-15980"/>
                  <a:pt x="1156071" y="1655"/>
                  <a:pt x="1695450" y="5180"/>
                </a:cubicBezTo>
                <a:cubicBezTo>
                  <a:pt x="1993961" y="7131"/>
                  <a:pt x="2292350" y="17880"/>
                  <a:pt x="2590800" y="24230"/>
                </a:cubicBezTo>
                <a:cubicBezTo>
                  <a:pt x="2635250" y="27405"/>
                  <a:pt x="2680080" y="27144"/>
                  <a:pt x="2724150" y="33755"/>
                </a:cubicBezTo>
                <a:cubicBezTo>
                  <a:pt x="2744008" y="36734"/>
                  <a:pt x="2762250" y="46455"/>
                  <a:pt x="2781300" y="52805"/>
                </a:cubicBezTo>
                <a:cubicBezTo>
                  <a:pt x="2812887" y="63334"/>
                  <a:pt x="2799835" y="62330"/>
                  <a:pt x="2819400" y="6233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throw 문장</a:t>
            </a:r>
            <a:endParaRPr/>
          </a:p>
        </p:txBody>
      </p:sp>
      <p:sp>
        <p:nvSpPr>
          <p:cNvPr id="615" name="Google Shape;615;p4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throw 문장은 개발자가 오류를 생성할 수 있도록 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throw 문장을 사용하여서 오류 처리를 이용할 수도 있다.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(예) 숫자 맞추기 게임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621" name="Google Shape;621;p42"/>
          <p:cNvSpPr txBox="1"/>
          <p:nvPr/>
        </p:nvSpPr>
        <p:spPr>
          <a:xfrm>
            <a:off x="609600" y="1104900"/>
            <a:ext cx="8212200" cy="5292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var solution = 53;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function test()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try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var x = document.getElementById("number").value;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if (x == "") throw "입력없음";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if (isNaN(x)) throw "숫자가 아님";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if (x &gt; solution) throw "너무 큼";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if (x &lt; solution) throw "너무 작음";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if (x == solution) throw "성공";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catch (error)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var y = document.getElementById("message");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y.innerHTML = "힌트: " + error;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&lt;/script&gt;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627" name="Google Shape;627;p43"/>
          <p:cNvSpPr txBox="1"/>
          <p:nvPr/>
        </p:nvSpPr>
        <p:spPr>
          <a:xfrm>
            <a:off x="609600" y="1104899"/>
            <a:ext cx="8212200" cy="20283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&lt;h1&gt;Number Guess&lt;/h1&gt;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&lt;p&gt;1부터 100 사이의 숫자를 입력하시오.&lt;/p&gt;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&lt;input id="number" type="text"&gt;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&lt;button type="button" onclick="test()"&gt;숫자 추측&lt;/button&gt;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id="message"&gt;&lt;/p&gt;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c0a8af" id="628" name="Google Shape;6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3621087"/>
            <a:ext cx="3338434" cy="2112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1c0a8b0" id="629" name="Google Shape;62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5667" y="3621087"/>
            <a:ext cx="3338435" cy="2112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70862c8b7c_0_75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 디버깅하기(크롬)</a:t>
            </a:r>
            <a:endParaRPr/>
          </a:p>
        </p:txBody>
      </p:sp>
      <p:sp>
        <p:nvSpPr>
          <p:cNvPr id="635" name="Google Shape;635;g370862c8b7c_0_75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이때에는 크롬의 개발자 도구를 이용하여 디버그하면 편리하다. 다음과 같은 디버그 도구들을 사용하도록 하자. 웹페이지에서 마우스 오른쪽 버튼을 누르고 “검사”를 선택하면 개발자 모드가 나타난다. </a:t>
            </a:r>
            <a:endParaRPr/>
          </a:p>
        </p:txBody>
      </p:sp>
      <p:pic>
        <p:nvPicPr>
          <p:cNvPr id="636" name="Google Shape;636;g370862c8b7c_0_7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47" y="2689805"/>
            <a:ext cx="7451001" cy="3279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f5707401a_0_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 디버깅 방법(VScode)</a:t>
            </a:r>
            <a:endParaRPr/>
          </a:p>
        </p:txBody>
      </p:sp>
      <p:sp>
        <p:nvSpPr>
          <p:cNvPr id="642" name="Google Shape;642;g36f5707401a_0_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 [실행]-&gt;[디버깅 시작]을 누르고 웹페이지가 나타나면 값을 입력한다. </a:t>
            </a:r>
            <a:endParaRPr/>
          </a:p>
        </p:txBody>
      </p:sp>
      <p:pic>
        <p:nvPicPr>
          <p:cNvPr id="643" name="Google Shape;643;g36f5707401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149" y="2328862"/>
            <a:ext cx="7012296" cy="394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36f5707401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932" y="3278815"/>
            <a:ext cx="3735068" cy="15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6f5707401a_0_1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F10을 눌러서 다음 문장으로 간다. </a:t>
            </a:r>
            <a:endParaRPr/>
          </a:p>
        </p:txBody>
      </p:sp>
      <p:pic>
        <p:nvPicPr>
          <p:cNvPr id="650" name="Google Shape;650;g36f5707401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094" y="2220220"/>
            <a:ext cx="7373023" cy="4148138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g36f5707401a_0_1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 디버깅 방법(VScode)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6f5707401a_0_2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변수 위에 마우스 커서를 놓으면 변수의 값을 알 수 있다. </a:t>
            </a:r>
            <a:endParaRPr/>
          </a:p>
        </p:txBody>
      </p:sp>
      <p:pic>
        <p:nvPicPr>
          <p:cNvPr id="657" name="Google Shape;657;g36f5707401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300" y="2263900"/>
            <a:ext cx="7179398" cy="40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g36f5707401a_0_2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자바스크립트 디버깅 방법(VScode)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4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664" name="Google Shape;6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665" name="Google Shape;66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